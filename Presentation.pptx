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81" r:id="rId24"/>
    <p:sldId id="282" r:id="rId25"/>
    <p:sldId id="283" r:id="rId26"/>
    <p:sldId id="279" r:id="rId27"/>
  </p:sldIdLst>
  <p:sldSz cx="9753600" cy="7315200"/>
  <p:notesSz cx="6858000" cy="9144000"/>
  <p:embeddedFontLst>
    <p:embeddedFont>
      <p:font typeface="Montserrat" panose="00000500000000000000" pitchFamily="2" charset="0"/>
      <p:regular r:id="rId28"/>
      <p:bold r:id="rId29"/>
    </p:embeddedFont>
    <p:embeddedFont>
      <p:font typeface="Open Sans" panose="020B0606030504020204" pitchFamily="34" charset="0"/>
      <p:regular r:id="rId30"/>
    </p:embeddedFont>
    <p:embeddedFont>
      <p:font typeface="Poppins" panose="00000500000000000000" pitchFamily="2" charset="0"/>
      <p:regular r:id="rId31"/>
      <p:bold r:id="rId32"/>
      <p:italic r:id="rId33"/>
      <p:boldItalic r:id="rId34"/>
    </p:embeddedFont>
    <p:embeddedFont>
      <p:font typeface="Poppins Bold" panose="00000800000000000000" charset="0"/>
      <p:regular r:id="rId35"/>
    </p:embeddedFont>
    <p:embeddedFont>
      <p:font typeface="Public Sans" panose="020B0604020202020204" charset="0"/>
      <p:regular r:id="rId36"/>
    </p:embeddedFont>
    <p:embeddedFont>
      <p:font typeface="Public Sans Bold" panose="020B0604020202020204" charset="0"/>
      <p:regular r:id="rId3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617402A-F4D4-4471-AA0B-938F7D685F16}" v="3" dt="2025-12-06T10:35:37.5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61" autoAdjust="0"/>
    <p:restoredTop sz="94622" autoAdjust="0"/>
  </p:normalViewPr>
  <p:slideViewPr>
    <p:cSldViewPr>
      <p:cViewPr varScale="1">
        <p:scale>
          <a:sx n="73" d="100"/>
          <a:sy n="73" d="100"/>
        </p:scale>
        <p:origin x="1613" y="91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font" Target="fonts/font7.fntdata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2.fntdata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5.fntdata"/><Relationship Id="rId37" Type="http://schemas.openxmlformats.org/officeDocument/2006/relationships/font" Target="fonts/font10.fnt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1.fntdata"/><Relationship Id="rId36" Type="http://schemas.openxmlformats.org/officeDocument/2006/relationships/font" Target="fonts/font9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3.fntdata"/><Relationship Id="rId35" Type="http://schemas.openxmlformats.org/officeDocument/2006/relationships/font" Target="fonts/font8.fntdata"/><Relationship Id="rId43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6.fntdata"/><Relationship Id="rId38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sama hamza" userId="040943fac40ea479" providerId="LiveId" clId="{FE881AD1-58C4-446A-8C46-ABC8DF37A1F7}"/>
    <pc:docChg chg="custSel addSld delSld modSld">
      <pc:chgData name="osama hamza" userId="040943fac40ea479" providerId="LiveId" clId="{FE881AD1-58C4-446A-8C46-ABC8DF37A1F7}" dt="2025-12-06T10:35:42.669" v="330" actId="404"/>
      <pc:docMkLst>
        <pc:docMk/>
      </pc:docMkLst>
      <pc:sldChg chg="delSp modSp mod">
        <pc:chgData name="osama hamza" userId="040943fac40ea479" providerId="LiveId" clId="{FE881AD1-58C4-446A-8C46-ABC8DF37A1F7}" dt="2025-12-06T10:09:15.558" v="294" actId="313"/>
        <pc:sldMkLst>
          <pc:docMk/>
          <pc:sldMk cId="0" sldId="257"/>
        </pc:sldMkLst>
        <pc:spChg chg="mod ord">
          <ac:chgData name="osama hamza" userId="040943fac40ea479" providerId="LiveId" clId="{FE881AD1-58C4-446A-8C46-ABC8DF37A1F7}" dt="2025-12-06T10:09:15.558" v="294" actId="313"/>
          <ac:spMkLst>
            <pc:docMk/>
            <pc:sldMk cId="0" sldId="257"/>
            <ac:spMk id="2" creationId="{00000000-0000-0000-0000-000000000000}"/>
          </ac:spMkLst>
        </pc:spChg>
        <pc:spChg chg="del">
          <ac:chgData name="osama hamza" userId="040943fac40ea479" providerId="LiveId" clId="{FE881AD1-58C4-446A-8C46-ABC8DF37A1F7}" dt="2025-12-06T09:57:50.581" v="15" actId="478"/>
          <ac:spMkLst>
            <pc:docMk/>
            <pc:sldMk cId="0" sldId="257"/>
            <ac:spMk id="3" creationId="{00000000-0000-0000-0000-000000000000}"/>
          </ac:spMkLst>
        </pc:spChg>
        <pc:spChg chg="mod">
          <ac:chgData name="osama hamza" userId="040943fac40ea479" providerId="LiveId" clId="{FE881AD1-58C4-446A-8C46-ABC8DF37A1F7}" dt="2025-12-06T10:00:08.526" v="47" actId="1076"/>
          <ac:spMkLst>
            <pc:docMk/>
            <pc:sldMk cId="0" sldId="257"/>
            <ac:spMk id="30" creationId="{00000000-0000-0000-0000-000000000000}"/>
          </ac:spMkLst>
        </pc:spChg>
        <pc:spChg chg="del mod">
          <ac:chgData name="osama hamza" userId="040943fac40ea479" providerId="LiveId" clId="{FE881AD1-58C4-446A-8C46-ABC8DF37A1F7}" dt="2025-12-06T09:58:03.337" v="19" actId="21"/>
          <ac:spMkLst>
            <pc:docMk/>
            <pc:sldMk cId="0" sldId="257"/>
            <ac:spMk id="31" creationId="{00000000-0000-0000-0000-000000000000}"/>
          </ac:spMkLst>
        </pc:spChg>
        <pc:spChg chg="del">
          <ac:chgData name="osama hamza" userId="040943fac40ea479" providerId="LiveId" clId="{FE881AD1-58C4-446A-8C46-ABC8DF37A1F7}" dt="2025-12-06T10:00:58.482" v="61" actId="478"/>
          <ac:spMkLst>
            <pc:docMk/>
            <pc:sldMk cId="0" sldId="257"/>
            <ac:spMk id="32" creationId="{00000000-0000-0000-0000-000000000000}"/>
          </ac:spMkLst>
        </pc:spChg>
        <pc:spChg chg="del">
          <ac:chgData name="osama hamza" userId="040943fac40ea479" providerId="LiveId" clId="{FE881AD1-58C4-446A-8C46-ABC8DF37A1F7}" dt="2025-12-06T10:00:59.912" v="62" actId="478"/>
          <ac:spMkLst>
            <pc:docMk/>
            <pc:sldMk cId="0" sldId="257"/>
            <ac:spMk id="33" creationId="{00000000-0000-0000-0000-000000000000}"/>
          </ac:spMkLst>
        </pc:spChg>
        <pc:spChg chg="del">
          <ac:chgData name="osama hamza" userId="040943fac40ea479" providerId="LiveId" clId="{FE881AD1-58C4-446A-8C46-ABC8DF37A1F7}" dt="2025-12-06T10:01:01.265" v="63" actId="478"/>
          <ac:spMkLst>
            <pc:docMk/>
            <pc:sldMk cId="0" sldId="257"/>
            <ac:spMk id="34" creationId="{00000000-0000-0000-0000-000000000000}"/>
          </ac:spMkLst>
        </pc:spChg>
        <pc:spChg chg="del">
          <ac:chgData name="osama hamza" userId="040943fac40ea479" providerId="LiveId" clId="{FE881AD1-58C4-446A-8C46-ABC8DF37A1F7}" dt="2025-12-06T10:00:43.714" v="55" actId="478"/>
          <ac:spMkLst>
            <pc:docMk/>
            <pc:sldMk cId="0" sldId="257"/>
            <ac:spMk id="35" creationId="{00000000-0000-0000-0000-000000000000}"/>
          </ac:spMkLst>
        </pc:spChg>
        <pc:spChg chg="del mod">
          <ac:chgData name="osama hamza" userId="040943fac40ea479" providerId="LiveId" clId="{FE881AD1-58C4-446A-8C46-ABC8DF37A1F7}" dt="2025-12-06T10:00:49.965" v="59" actId="478"/>
          <ac:spMkLst>
            <pc:docMk/>
            <pc:sldMk cId="0" sldId="257"/>
            <ac:spMk id="45" creationId="{00000000-0000-0000-0000-000000000000}"/>
          </ac:spMkLst>
        </pc:spChg>
        <pc:spChg chg="del mod">
          <ac:chgData name="osama hamza" userId="040943fac40ea479" providerId="LiveId" clId="{FE881AD1-58C4-446A-8C46-ABC8DF37A1F7}" dt="2025-12-06T10:00:46.839" v="57" actId="478"/>
          <ac:spMkLst>
            <pc:docMk/>
            <pc:sldMk cId="0" sldId="257"/>
            <ac:spMk id="46" creationId="{00000000-0000-0000-0000-000000000000}"/>
          </ac:spMkLst>
        </pc:spChg>
        <pc:spChg chg="del">
          <ac:chgData name="osama hamza" userId="040943fac40ea479" providerId="LiveId" clId="{FE881AD1-58C4-446A-8C46-ABC8DF37A1F7}" dt="2025-12-06T10:00:56.490" v="60" actId="478"/>
          <ac:spMkLst>
            <pc:docMk/>
            <pc:sldMk cId="0" sldId="257"/>
            <ac:spMk id="47" creationId="{00000000-0000-0000-0000-000000000000}"/>
          </ac:spMkLst>
        </pc:spChg>
        <pc:grpChg chg="del">
          <ac:chgData name="osama hamza" userId="040943fac40ea479" providerId="LiveId" clId="{FE881AD1-58C4-446A-8C46-ABC8DF37A1F7}" dt="2025-12-06T09:57:24.907" v="3" actId="478"/>
          <ac:grpSpMkLst>
            <pc:docMk/>
            <pc:sldMk cId="0" sldId="257"/>
            <ac:grpSpMk id="4" creationId="{00000000-0000-0000-0000-000000000000}"/>
          </ac:grpSpMkLst>
        </pc:grpChg>
        <pc:grpChg chg="del">
          <ac:chgData name="osama hamza" userId="040943fac40ea479" providerId="LiveId" clId="{FE881AD1-58C4-446A-8C46-ABC8DF37A1F7}" dt="2025-12-06T09:57:25.669" v="4" actId="478"/>
          <ac:grpSpMkLst>
            <pc:docMk/>
            <pc:sldMk cId="0" sldId="257"/>
            <ac:grpSpMk id="6" creationId="{00000000-0000-0000-0000-000000000000}"/>
          </ac:grpSpMkLst>
        </pc:grpChg>
        <pc:grpChg chg="del">
          <ac:chgData name="osama hamza" userId="040943fac40ea479" providerId="LiveId" clId="{FE881AD1-58C4-446A-8C46-ABC8DF37A1F7}" dt="2025-12-06T09:57:26.410" v="5" actId="478"/>
          <ac:grpSpMkLst>
            <pc:docMk/>
            <pc:sldMk cId="0" sldId="257"/>
            <ac:grpSpMk id="8" creationId="{00000000-0000-0000-0000-000000000000}"/>
          </ac:grpSpMkLst>
        </pc:grpChg>
        <pc:grpChg chg="del">
          <ac:chgData name="osama hamza" userId="040943fac40ea479" providerId="LiveId" clId="{FE881AD1-58C4-446A-8C46-ABC8DF37A1F7}" dt="2025-12-06T10:00:42.041" v="54" actId="478"/>
          <ac:grpSpMkLst>
            <pc:docMk/>
            <pc:sldMk cId="0" sldId="257"/>
            <ac:grpSpMk id="10" creationId="{00000000-0000-0000-0000-000000000000}"/>
          </ac:grpSpMkLst>
        </pc:grpChg>
        <pc:grpChg chg="del">
          <ac:chgData name="osama hamza" userId="040943fac40ea479" providerId="LiveId" clId="{FE881AD1-58C4-446A-8C46-ABC8DF37A1F7}" dt="2025-12-06T09:57:31.878" v="7" actId="478"/>
          <ac:grpSpMkLst>
            <pc:docMk/>
            <pc:sldMk cId="0" sldId="257"/>
            <ac:grpSpMk id="12" creationId="{00000000-0000-0000-0000-000000000000}"/>
          </ac:grpSpMkLst>
        </pc:grpChg>
        <pc:grpChg chg="del">
          <ac:chgData name="osama hamza" userId="040943fac40ea479" providerId="LiveId" clId="{FE881AD1-58C4-446A-8C46-ABC8DF37A1F7}" dt="2025-12-06T09:57:32.551" v="8" actId="478"/>
          <ac:grpSpMkLst>
            <pc:docMk/>
            <pc:sldMk cId="0" sldId="257"/>
            <ac:grpSpMk id="15" creationId="{00000000-0000-0000-0000-000000000000}"/>
          </ac:grpSpMkLst>
        </pc:grpChg>
        <pc:grpChg chg="del">
          <ac:chgData name="osama hamza" userId="040943fac40ea479" providerId="LiveId" clId="{FE881AD1-58C4-446A-8C46-ABC8DF37A1F7}" dt="2025-12-06T09:57:30.704" v="6" actId="478"/>
          <ac:grpSpMkLst>
            <pc:docMk/>
            <pc:sldMk cId="0" sldId="257"/>
            <ac:grpSpMk id="18" creationId="{00000000-0000-0000-0000-000000000000}"/>
          </ac:grpSpMkLst>
        </pc:grpChg>
        <pc:grpChg chg="del">
          <ac:chgData name="osama hamza" userId="040943fac40ea479" providerId="LiveId" clId="{FE881AD1-58C4-446A-8C46-ABC8DF37A1F7}" dt="2025-12-06T09:57:39.250" v="13" actId="478"/>
          <ac:grpSpMkLst>
            <pc:docMk/>
            <pc:sldMk cId="0" sldId="257"/>
            <ac:grpSpMk id="21" creationId="{00000000-0000-0000-0000-000000000000}"/>
          </ac:grpSpMkLst>
        </pc:grpChg>
        <pc:grpChg chg="del">
          <ac:chgData name="osama hamza" userId="040943fac40ea479" providerId="LiveId" clId="{FE881AD1-58C4-446A-8C46-ABC8DF37A1F7}" dt="2025-12-06T09:57:24.001" v="2" actId="478"/>
          <ac:grpSpMkLst>
            <pc:docMk/>
            <pc:sldMk cId="0" sldId="257"/>
            <ac:grpSpMk id="24" creationId="{00000000-0000-0000-0000-000000000000}"/>
          </ac:grpSpMkLst>
        </pc:grpChg>
        <pc:grpChg chg="del">
          <ac:chgData name="osama hamza" userId="040943fac40ea479" providerId="LiveId" clId="{FE881AD1-58C4-446A-8C46-ABC8DF37A1F7}" dt="2025-12-06T09:57:23.237" v="1" actId="478"/>
          <ac:grpSpMkLst>
            <pc:docMk/>
            <pc:sldMk cId="0" sldId="257"/>
            <ac:grpSpMk id="26" creationId="{00000000-0000-0000-0000-000000000000}"/>
          </ac:grpSpMkLst>
        </pc:grpChg>
        <pc:grpChg chg="del">
          <ac:chgData name="osama hamza" userId="040943fac40ea479" providerId="LiveId" clId="{FE881AD1-58C4-446A-8C46-ABC8DF37A1F7}" dt="2025-12-06T09:57:22.441" v="0" actId="478"/>
          <ac:grpSpMkLst>
            <pc:docMk/>
            <pc:sldMk cId="0" sldId="257"/>
            <ac:grpSpMk id="28" creationId="{00000000-0000-0000-0000-000000000000}"/>
          </ac:grpSpMkLst>
        </pc:grpChg>
        <pc:grpChg chg="del">
          <ac:chgData name="osama hamza" userId="040943fac40ea479" providerId="LiveId" clId="{FE881AD1-58C4-446A-8C46-ABC8DF37A1F7}" dt="2025-12-06T09:57:38.339" v="12" actId="478"/>
          <ac:grpSpMkLst>
            <pc:docMk/>
            <pc:sldMk cId="0" sldId="257"/>
            <ac:grpSpMk id="36" creationId="{00000000-0000-0000-0000-000000000000}"/>
          </ac:grpSpMkLst>
        </pc:grpChg>
        <pc:grpChg chg="del">
          <ac:chgData name="osama hamza" userId="040943fac40ea479" providerId="LiveId" clId="{FE881AD1-58C4-446A-8C46-ABC8DF37A1F7}" dt="2025-12-06T09:57:36.111" v="11" actId="478"/>
          <ac:grpSpMkLst>
            <pc:docMk/>
            <pc:sldMk cId="0" sldId="257"/>
            <ac:grpSpMk id="39" creationId="{00000000-0000-0000-0000-000000000000}"/>
          </ac:grpSpMkLst>
        </pc:grpChg>
        <pc:grpChg chg="del">
          <ac:chgData name="osama hamza" userId="040943fac40ea479" providerId="LiveId" clId="{FE881AD1-58C4-446A-8C46-ABC8DF37A1F7}" dt="2025-12-06T09:57:33.338" v="9" actId="478"/>
          <ac:grpSpMkLst>
            <pc:docMk/>
            <pc:sldMk cId="0" sldId="257"/>
            <ac:grpSpMk id="42" creationId="{00000000-0000-0000-0000-000000000000}"/>
          </ac:grpSpMkLst>
        </pc:grpChg>
      </pc:sldChg>
      <pc:sldChg chg="del">
        <pc:chgData name="osama hamza" userId="040943fac40ea479" providerId="LiveId" clId="{FE881AD1-58C4-446A-8C46-ABC8DF37A1F7}" dt="2025-12-06T10:17:40.220" v="324" actId="2696"/>
        <pc:sldMkLst>
          <pc:docMk/>
          <pc:sldMk cId="0" sldId="278"/>
        </pc:sldMkLst>
      </pc:sldChg>
      <pc:sldChg chg="new del">
        <pc:chgData name="osama hamza" userId="040943fac40ea479" providerId="LiveId" clId="{FE881AD1-58C4-446A-8C46-ABC8DF37A1F7}" dt="2025-12-06T10:14:22.131" v="296" actId="47"/>
        <pc:sldMkLst>
          <pc:docMk/>
          <pc:sldMk cId="123586709" sldId="282"/>
        </pc:sldMkLst>
      </pc:sldChg>
      <pc:sldChg chg="addSp delSp modSp add mod">
        <pc:chgData name="osama hamza" userId="040943fac40ea479" providerId="LiveId" clId="{FE881AD1-58C4-446A-8C46-ABC8DF37A1F7}" dt="2025-12-06T10:35:42.669" v="330" actId="404"/>
        <pc:sldMkLst>
          <pc:docMk/>
          <pc:sldMk cId="2411885387" sldId="282"/>
        </pc:sldMkLst>
        <pc:spChg chg="mod">
          <ac:chgData name="osama hamza" userId="040943fac40ea479" providerId="LiveId" clId="{FE881AD1-58C4-446A-8C46-ABC8DF37A1F7}" dt="2025-12-06T10:35:42.669" v="330" actId="404"/>
          <ac:spMkLst>
            <pc:docMk/>
            <pc:sldMk cId="2411885387" sldId="282"/>
            <ac:spMk id="3" creationId="{E65E8FF8-98D1-A1E1-D8C1-ED6E9B715B8A}"/>
          </ac:spMkLst>
        </pc:spChg>
        <pc:spChg chg="del">
          <ac:chgData name="osama hamza" userId="040943fac40ea479" providerId="LiveId" clId="{FE881AD1-58C4-446A-8C46-ABC8DF37A1F7}" dt="2025-12-06T10:14:54.459" v="299" actId="478"/>
          <ac:spMkLst>
            <pc:docMk/>
            <pc:sldMk cId="2411885387" sldId="282"/>
            <ac:spMk id="5" creationId="{4B2B187C-94CE-C0A5-5AC3-C03589D6F4F0}"/>
          </ac:spMkLst>
        </pc:spChg>
        <pc:picChg chg="add mod">
          <ac:chgData name="osama hamza" userId="040943fac40ea479" providerId="LiveId" clId="{FE881AD1-58C4-446A-8C46-ABC8DF37A1F7}" dt="2025-12-06T10:16:20.410" v="310" actId="14100"/>
          <ac:picMkLst>
            <pc:docMk/>
            <pc:sldMk cId="2411885387" sldId="282"/>
            <ac:picMk id="4" creationId="{56C965F9-EC5B-2244-BC1E-C993DAB439D8}"/>
          </ac:picMkLst>
        </pc:picChg>
      </pc:sldChg>
      <pc:sldChg chg="addSp delSp modSp add mod">
        <pc:chgData name="osama hamza" userId="040943fac40ea479" providerId="LiveId" clId="{FE881AD1-58C4-446A-8C46-ABC8DF37A1F7}" dt="2025-12-06T10:17:25.988" v="323" actId="14100"/>
        <pc:sldMkLst>
          <pc:docMk/>
          <pc:sldMk cId="2966979219" sldId="283"/>
        </pc:sldMkLst>
        <pc:spChg chg="mod">
          <ac:chgData name="osama hamza" userId="040943fac40ea479" providerId="LiveId" clId="{FE881AD1-58C4-446A-8C46-ABC8DF37A1F7}" dt="2025-12-06T10:17:02.271" v="317" actId="20577"/>
          <ac:spMkLst>
            <pc:docMk/>
            <pc:sldMk cId="2966979219" sldId="283"/>
            <ac:spMk id="3" creationId="{296B0B21-9A8C-D570-BC4D-D46A91A1F82B}"/>
          </ac:spMkLst>
        </pc:spChg>
        <pc:picChg chg="add mod">
          <ac:chgData name="osama hamza" userId="040943fac40ea479" providerId="LiveId" clId="{FE881AD1-58C4-446A-8C46-ABC8DF37A1F7}" dt="2025-12-06T10:17:25.988" v="323" actId="14100"/>
          <ac:picMkLst>
            <pc:docMk/>
            <pc:sldMk cId="2966979219" sldId="283"/>
            <ac:picMk id="2" creationId="{04608446-DE67-DDD3-3114-5966A2781655}"/>
          </ac:picMkLst>
        </pc:picChg>
        <pc:picChg chg="del">
          <ac:chgData name="osama hamza" userId="040943fac40ea479" providerId="LiveId" clId="{FE881AD1-58C4-446A-8C46-ABC8DF37A1F7}" dt="2025-12-06T10:16:35.396" v="313" actId="478"/>
          <ac:picMkLst>
            <pc:docMk/>
            <pc:sldMk cId="2966979219" sldId="283"/>
            <ac:picMk id="4" creationId="{31EB7778-C4AF-CFCF-0678-42EC0BEA0F77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jpeg"/><Relationship Id="rId4" Type="http://schemas.openxmlformats.org/officeDocument/2006/relationships/image" Target="../media/image5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jpeg"/><Relationship Id="rId4" Type="http://schemas.openxmlformats.org/officeDocument/2006/relationships/image" Target="../media/image5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jpe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9753600" cy="7315200"/>
          </a:xfrm>
          <a:custGeom>
            <a:avLst/>
            <a:gdLst/>
            <a:ahLst/>
            <a:cxnLst/>
            <a:rect l="l" t="t" r="r" b="b"/>
            <a:pathLst>
              <a:path w="9753600" h="7315200">
                <a:moveTo>
                  <a:pt x="0" y="0"/>
                </a:moveTo>
                <a:lnTo>
                  <a:pt x="9753600" y="0"/>
                </a:lnTo>
                <a:lnTo>
                  <a:pt x="9753600" y="7315200"/>
                </a:lnTo>
                <a:lnTo>
                  <a:pt x="0" y="73152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8965" r="-18965"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>
            <a:off x="0" y="898982"/>
            <a:ext cx="5501818" cy="5501818"/>
          </a:xfrm>
          <a:custGeom>
            <a:avLst/>
            <a:gdLst/>
            <a:ahLst/>
            <a:cxnLst/>
            <a:rect l="l" t="t" r="r" b="b"/>
            <a:pathLst>
              <a:path w="5501818" h="5501818">
                <a:moveTo>
                  <a:pt x="0" y="0"/>
                </a:moveTo>
                <a:lnTo>
                  <a:pt x="5501818" y="0"/>
                </a:lnTo>
                <a:lnTo>
                  <a:pt x="5501818" y="5501818"/>
                </a:lnTo>
                <a:lnTo>
                  <a:pt x="0" y="55018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Freeform 4"/>
          <p:cNvSpPr/>
          <p:nvPr/>
        </p:nvSpPr>
        <p:spPr>
          <a:xfrm>
            <a:off x="548640" y="1463040"/>
            <a:ext cx="265134" cy="178845"/>
          </a:xfrm>
          <a:custGeom>
            <a:avLst/>
            <a:gdLst/>
            <a:ahLst/>
            <a:cxnLst/>
            <a:rect l="l" t="t" r="r" b="b"/>
            <a:pathLst>
              <a:path w="265134" h="178845">
                <a:moveTo>
                  <a:pt x="0" y="0"/>
                </a:moveTo>
                <a:lnTo>
                  <a:pt x="265134" y="0"/>
                </a:lnTo>
                <a:lnTo>
                  <a:pt x="265134" y="178845"/>
                </a:lnTo>
                <a:lnTo>
                  <a:pt x="0" y="1788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5" name="TextBox 5"/>
          <p:cNvSpPr txBox="1"/>
          <p:nvPr/>
        </p:nvSpPr>
        <p:spPr>
          <a:xfrm>
            <a:off x="115897" y="3682475"/>
            <a:ext cx="6680672" cy="13419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351"/>
              </a:lnSpc>
            </a:pPr>
            <a:r>
              <a:rPr lang="en-US" sz="7394" b="1">
                <a:solidFill>
                  <a:srgbClr val="5170FF"/>
                </a:solidFill>
                <a:latin typeface="Poppins Bold"/>
                <a:ea typeface="Poppins Bold"/>
                <a:cs typeface="Poppins Bold"/>
                <a:sym typeface="Poppins Bold"/>
              </a:rPr>
              <a:t>JUST IN TIME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52309" y="4570584"/>
            <a:ext cx="3891400" cy="1010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827"/>
              </a:lnSpc>
            </a:pPr>
            <a:r>
              <a:rPr lang="en-US" sz="5591" b="1">
                <a:solidFill>
                  <a:srgbClr val="B4B4B4"/>
                </a:solidFill>
                <a:latin typeface="Poppins Bold"/>
                <a:ea typeface="Poppins Bold"/>
                <a:cs typeface="Poppins Bold"/>
                <a:sym typeface="Poppins Bold"/>
              </a:rPr>
              <a:t>COMPANY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45109" y="5519039"/>
            <a:ext cx="5951912" cy="3331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2471"/>
              </a:lnSpc>
              <a:spcBef>
                <a:spcPct val="0"/>
              </a:spcBef>
            </a:pPr>
            <a:r>
              <a:rPr lang="en-US" sz="2399" spc="-83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L</a:t>
            </a:r>
            <a:r>
              <a:rPr lang="en-US" sz="2399" u="none" strike="noStrike" spc="-83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ogistics and Supply Chain Management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52309" y="1505750"/>
            <a:ext cx="656447" cy="102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761"/>
              </a:lnSpc>
              <a:spcBef>
                <a:spcPct val="0"/>
              </a:spcBef>
            </a:pPr>
            <a:r>
              <a:rPr lang="en-US" sz="738" b="1" spc="-25">
                <a:solidFill>
                  <a:srgbClr val="002649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Salford &amp; Co.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570592" y="1542938"/>
            <a:ext cx="451953" cy="122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999"/>
              </a:lnSpc>
              <a:spcBef>
                <a:spcPct val="0"/>
              </a:spcBef>
            </a:pPr>
            <a:r>
              <a:rPr lang="en-US" sz="775" u="none" strike="noStrike" spc="-42">
                <a:solidFill>
                  <a:srgbClr val="002649"/>
                </a:solidFill>
                <a:latin typeface="Public Sans"/>
                <a:ea typeface="Public Sans"/>
                <a:cs typeface="Public Sans"/>
                <a:sym typeface="Public Sans"/>
              </a:rPr>
              <a:t>HOME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159488" y="1542938"/>
            <a:ext cx="451953" cy="122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999"/>
              </a:lnSpc>
              <a:spcBef>
                <a:spcPct val="0"/>
              </a:spcBef>
            </a:pPr>
            <a:r>
              <a:rPr lang="en-US" sz="775" u="none" strike="noStrike" spc="-42">
                <a:solidFill>
                  <a:srgbClr val="002649"/>
                </a:solidFill>
                <a:latin typeface="Public Sans"/>
                <a:ea typeface="Public Sans"/>
                <a:cs typeface="Public Sans"/>
                <a:sym typeface="Public Sans"/>
              </a:rPr>
              <a:t>SERVICE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748601" y="1542938"/>
            <a:ext cx="589725" cy="122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999"/>
              </a:lnSpc>
              <a:spcBef>
                <a:spcPct val="0"/>
              </a:spcBef>
            </a:pPr>
            <a:r>
              <a:rPr lang="en-US" sz="775" u="none" strike="noStrike" spc="-42">
                <a:solidFill>
                  <a:srgbClr val="002649"/>
                </a:solidFill>
                <a:latin typeface="Public Sans"/>
                <a:ea typeface="Public Sans"/>
                <a:cs typeface="Public Sans"/>
                <a:sym typeface="Public Sans"/>
              </a:rPr>
              <a:t>ABOUT US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492771" y="1542938"/>
            <a:ext cx="712189" cy="122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999"/>
              </a:lnSpc>
              <a:spcBef>
                <a:spcPct val="0"/>
              </a:spcBef>
            </a:pPr>
            <a:r>
              <a:rPr lang="en-US" sz="775" u="none" strike="noStrike" spc="-42">
                <a:solidFill>
                  <a:srgbClr val="002649"/>
                </a:solidFill>
                <a:latin typeface="Public Sans"/>
                <a:ea typeface="Public Sans"/>
                <a:cs typeface="Public Sans"/>
                <a:sym typeface="Public Sans"/>
              </a:rPr>
              <a:t>CONTACT 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9753600" cy="7315200"/>
          </a:xfrm>
          <a:custGeom>
            <a:avLst/>
            <a:gdLst/>
            <a:ahLst/>
            <a:cxnLst/>
            <a:rect l="l" t="t" r="r" b="b"/>
            <a:pathLst>
              <a:path w="9753600" h="7315200">
                <a:moveTo>
                  <a:pt x="0" y="0"/>
                </a:moveTo>
                <a:lnTo>
                  <a:pt x="9753600" y="0"/>
                </a:lnTo>
                <a:lnTo>
                  <a:pt x="9753600" y="7315200"/>
                </a:lnTo>
                <a:lnTo>
                  <a:pt x="0" y="73152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6666" r="-16666"/>
            </a:stretch>
          </a:blipFill>
        </p:spPr>
        <p:txBody>
          <a:bodyPr/>
          <a:lstStyle/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algn="ctr"/>
            <a:r>
              <a:rPr lang="en-GB" sz="2400" b="1" dirty="0">
                <a:solidFill>
                  <a:schemeClr val="bg1"/>
                </a:solidFill>
              </a:rPr>
              <a:t>ONL3_DATA2_G1</a:t>
            </a:r>
          </a:p>
          <a:p>
            <a:r>
              <a:rPr lang="en-GB" sz="2400" b="1" dirty="0">
                <a:solidFill>
                  <a:schemeClr val="bg1"/>
                </a:solidFill>
              </a:rPr>
              <a:t> Lecture’s Name: Eng/ Ahmed Abdel Latif</a:t>
            </a:r>
          </a:p>
          <a:p>
            <a:r>
              <a:rPr lang="en-GB" sz="2400" b="1" dirty="0">
                <a:solidFill>
                  <a:schemeClr val="bg1"/>
                </a:solidFill>
              </a:rPr>
              <a:t> </a:t>
            </a:r>
          </a:p>
          <a:p>
            <a:r>
              <a:rPr lang="en-GB" sz="2400" b="1" dirty="0">
                <a:solidFill>
                  <a:schemeClr val="bg1"/>
                </a:solidFill>
              </a:rPr>
              <a:t>Team Leader : Osama Hamza</a:t>
            </a:r>
            <a:br>
              <a:rPr lang="en-GB" sz="2400" b="1" dirty="0">
                <a:solidFill>
                  <a:schemeClr val="bg1"/>
                </a:solidFill>
              </a:rPr>
            </a:br>
            <a:r>
              <a:rPr lang="en-GB" sz="2400" b="1" dirty="0">
                <a:solidFill>
                  <a:schemeClr val="bg1"/>
                </a:solidFill>
              </a:rPr>
              <a:t> Team Member: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b="1" dirty="0">
                <a:solidFill>
                  <a:schemeClr val="bg1"/>
                </a:solidFill>
              </a:rPr>
              <a:t>Haytham Abubakr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b="1" dirty="0">
                <a:solidFill>
                  <a:schemeClr val="bg1"/>
                </a:solidFill>
              </a:rPr>
              <a:t>Mostafa Walid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b="1" dirty="0">
                <a:solidFill>
                  <a:schemeClr val="bg1"/>
                </a:solidFill>
              </a:rPr>
              <a:t>Mohamed Samir Bakheet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b="1" dirty="0">
                <a:solidFill>
                  <a:schemeClr val="bg1"/>
                </a:solidFill>
              </a:rPr>
              <a:t>Esraa Ahmed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b="1" dirty="0">
                <a:solidFill>
                  <a:schemeClr val="bg1"/>
                </a:solidFill>
              </a:rPr>
              <a:t>Marwa Essa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b="1" dirty="0">
                <a:solidFill>
                  <a:schemeClr val="bg1"/>
                </a:solidFill>
              </a:rPr>
              <a:t>Nermin Fahmy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b="1" dirty="0">
                <a:solidFill>
                  <a:schemeClr val="bg1"/>
                </a:solidFill>
              </a:rPr>
              <a:t>Osama Hamza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583526" y="925742"/>
            <a:ext cx="6750822" cy="5298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20"/>
              </a:lnSpc>
            </a:pPr>
            <a:r>
              <a:rPr lang="en-US" sz="4308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R3- Power BI Specialist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14400"/>
            <a:ext cx="2408334" cy="5486400"/>
            <a:chOff x="0" y="0"/>
            <a:chExt cx="1189301" cy="27093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189301" cy="2709333"/>
            </a:xfrm>
            <a:custGeom>
              <a:avLst/>
              <a:gdLst/>
              <a:ahLst/>
              <a:cxnLst/>
              <a:rect l="l" t="t" r="r" b="b"/>
              <a:pathLst>
                <a:path w="1189301" h="2709333">
                  <a:moveTo>
                    <a:pt x="0" y="0"/>
                  </a:moveTo>
                  <a:lnTo>
                    <a:pt x="1189301" y="0"/>
                  </a:lnTo>
                  <a:lnTo>
                    <a:pt x="1189301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02649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189301" cy="2718858"/>
            </a:xfrm>
            <a:prstGeom prst="rect">
              <a:avLst/>
            </a:prstGeom>
          </p:spPr>
          <p:txBody>
            <a:bodyPr lIns="27093" tIns="27093" rIns="27093" bIns="27093" rtlCol="0" anchor="ctr"/>
            <a:lstStyle/>
            <a:p>
              <a:pPr algn="ctr">
                <a:lnSpc>
                  <a:spcPts val="99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2408334" y="914400"/>
            <a:ext cx="7345266" cy="5486400"/>
            <a:chOff x="0" y="0"/>
            <a:chExt cx="2133701" cy="1593725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33701" cy="1593725"/>
            </a:xfrm>
            <a:custGeom>
              <a:avLst/>
              <a:gdLst/>
              <a:ahLst/>
              <a:cxnLst/>
              <a:rect l="l" t="t" r="r" b="b"/>
              <a:pathLst>
                <a:path w="2133701" h="1593725">
                  <a:moveTo>
                    <a:pt x="0" y="0"/>
                  </a:moveTo>
                  <a:lnTo>
                    <a:pt x="2133701" y="0"/>
                  </a:lnTo>
                  <a:lnTo>
                    <a:pt x="2133701" y="1593725"/>
                  </a:lnTo>
                  <a:lnTo>
                    <a:pt x="0" y="1593725"/>
                  </a:lnTo>
                  <a:close/>
                </a:path>
              </a:pathLst>
            </a:custGeom>
            <a:blipFill>
              <a:blip r:embed="rId2">
                <a:alphaModFix amt="73000"/>
              </a:blip>
              <a:stretch>
                <a:fillRect l="-10602" r="-10602"/>
              </a:stretch>
            </a:blipFill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681207" y="2525427"/>
            <a:ext cx="4417807" cy="3115427"/>
            <a:chOff x="0" y="0"/>
            <a:chExt cx="2181633" cy="153848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81633" cy="1538483"/>
            </a:xfrm>
            <a:custGeom>
              <a:avLst/>
              <a:gdLst/>
              <a:ahLst/>
              <a:cxnLst/>
              <a:rect l="l" t="t" r="r" b="b"/>
              <a:pathLst>
                <a:path w="2181633" h="1538483">
                  <a:moveTo>
                    <a:pt x="0" y="0"/>
                  </a:moveTo>
                  <a:lnTo>
                    <a:pt x="2181633" y="0"/>
                  </a:lnTo>
                  <a:lnTo>
                    <a:pt x="2181633" y="1538483"/>
                  </a:lnTo>
                  <a:lnTo>
                    <a:pt x="0" y="1538483"/>
                  </a:lnTo>
                  <a:close/>
                </a:path>
              </a:pathLst>
            </a:custGeom>
            <a:solidFill>
              <a:srgbClr val="002649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9525"/>
              <a:ext cx="2181633" cy="1548008"/>
            </a:xfrm>
            <a:prstGeom prst="rect">
              <a:avLst/>
            </a:prstGeom>
          </p:spPr>
          <p:txBody>
            <a:bodyPr lIns="27093" tIns="27093" rIns="27093" bIns="27093" rtlCol="0" anchor="ctr"/>
            <a:lstStyle/>
            <a:p>
              <a:pPr algn="ctr">
                <a:lnSpc>
                  <a:spcPts val="999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813774" y="2734626"/>
            <a:ext cx="2978773" cy="6225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78"/>
              </a:lnSpc>
            </a:pPr>
            <a:r>
              <a:rPr lang="en-US" sz="3413" b="1">
                <a:solidFill>
                  <a:srgbClr val="B4B4B4"/>
                </a:solidFill>
                <a:latin typeface="Poppins Bold"/>
                <a:ea typeface="Poppins Bold"/>
                <a:cs typeface="Poppins Bold"/>
                <a:sym typeface="Poppins Bold"/>
              </a:rPr>
              <a:t>About Our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13774" y="3242922"/>
            <a:ext cx="2748802" cy="7150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29"/>
              </a:lnSpc>
            </a:pPr>
            <a:r>
              <a:rPr lang="en-US" sz="3949">
                <a:solidFill>
                  <a:srgbClr val="B4B4B4"/>
                </a:solidFill>
                <a:latin typeface="Poppins"/>
                <a:ea typeface="Poppins"/>
                <a:cs typeface="Poppins"/>
                <a:sym typeface="Poppins"/>
              </a:rPr>
              <a:t>Company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52309" y="1505750"/>
            <a:ext cx="656447" cy="102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761"/>
              </a:lnSpc>
              <a:spcBef>
                <a:spcPct val="0"/>
              </a:spcBef>
            </a:pPr>
            <a:r>
              <a:rPr lang="en-US" sz="738" b="1" spc="-25">
                <a:solidFill>
                  <a:srgbClr val="002649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Salford &amp; Co.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52309" y="4200684"/>
            <a:ext cx="3910909" cy="11714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1538"/>
              </a:lnSpc>
              <a:spcBef>
                <a:spcPct val="0"/>
              </a:spcBef>
            </a:pPr>
            <a:r>
              <a:rPr lang="en-US" sz="1493" spc="-52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Ju</a:t>
            </a:r>
            <a:r>
              <a:rPr lang="en-US" sz="1493" u="none" strike="noStrike" spc="-52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st In Time Inventory System is a company specialized in supply chain and inventory management, aiming to optimize inventory flow, reduce storage costs, and ensure timely delivery to customers through multiple warehouses.</a:t>
            </a:r>
          </a:p>
        </p:txBody>
      </p:sp>
      <p:sp>
        <p:nvSpPr>
          <p:cNvPr id="14" name="Freeform 14"/>
          <p:cNvSpPr/>
          <p:nvPr/>
        </p:nvSpPr>
        <p:spPr>
          <a:xfrm>
            <a:off x="548640" y="1463040"/>
            <a:ext cx="265134" cy="178845"/>
          </a:xfrm>
          <a:custGeom>
            <a:avLst/>
            <a:gdLst/>
            <a:ahLst/>
            <a:cxnLst/>
            <a:rect l="l" t="t" r="r" b="b"/>
            <a:pathLst>
              <a:path w="265134" h="178845">
                <a:moveTo>
                  <a:pt x="0" y="0"/>
                </a:moveTo>
                <a:lnTo>
                  <a:pt x="265134" y="0"/>
                </a:lnTo>
                <a:lnTo>
                  <a:pt x="265134" y="178845"/>
                </a:lnTo>
                <a:lnTo>
                  <a:pt x="0" y="17884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6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48640" y="1463040"/>
            <a:ext cx="265134" cy="178845"/>
          </a:xfrm>
          <a:custGeom>
            <a:avLst/>
            <a:gdLst/>
            <a:ahLst/>
            <a:cxnLst/>
            <a:rect l="l" t="t" r="r" b="b"/>
            <a:pathLst>
              <a:path w="265134" h="178845">
                <a:moveTo>
                  <a:pt x="0" y="0"/>
                </a:moveTo>
                <a:lnTo>
                  <a:pt x="265134" y="0"/>
                </a:lnTo>
                <a:lnTo>
                  <a:pt x="265134" y="178845"/>
                </a:lnTo>
                <a:lnTo>
                  <a:pt x="0" y="17884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AutoShape 3"/>
          <p:cNvSpPr/>
          <p:nvPr/>
        </p:nvSpPr>
        <p:spPr>
          <a:xfrm>
            <a:off x="1234718" y="3864679"/>
            <a:ext cx="4332313" cy="10160"/>
          </a:xfrm>
          <a:prstGeom prst="line">
            <a:avLst/>
          </a:prstGeom>
          <a:ln w="19050" cap="flat">
            <a:solidFill>
              <a:srgbClr val="B4B4B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  <p:grpSp>
        <p:nvGrpSpPr>
          <p:cNvPr id="4" name="Group 4"/>
          <p:cNvGrpSpPr/>
          <p:nvPr/>
        </p:nvGrpSpPr>
        <p:grpSpPr>
          <a:xfrm>
            <a:off x="1090190" y="3743152"/>
            <a:ext cx="202414" cy="202414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B4B4B4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27093" tIns="27093" rIns="27093" bIns="27093" rtlCol="0" anchor="ctr"/>
            <a:lstStyle/>
            <a:p>
              <a:pPr algn="ctr">
                <a:lnSpc>
                  <a:spcPts val="999"/>
                </a:lnSpc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813774" y="2491090"/>
            <a:ext cx="5128410" cy="3791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11"/>
              </a:lnSpc>
            </a:pPr>
            <a:r>
              <a:rPr lang="en-US" sz="2560" b="1">
                <a:solidFill>
                  <a:srgbClr val="B4B4B4"/>
                </a:solidFill>
                <a:latin typeface="Poppins Bold"/>
                <a:ea typeface="Poppins Bold"/>
                <a:cs typeface="Poppins Bold"/>
                <a:sym typeface="Poppins Bold"/>
              </a:rPr>
              <a:t>Yearly Performance Summary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52309" y="1505750"/>
            <a:ext cx="656447" cy="102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761"/>
              </a:lnSpc>
              <a:spcBef>
                <a:spcPct val="0"/>
              </a:spcBef>
            </a:pPr>
            <a:r>
              <a:rPr lang="en-US" sz="738" b="1" spc="-25">
                <a:solidFill>
                  <a:srgbClr val="002649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Salford &amp; Co.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6563345" y="800505"/>
            <a:ext cx="4571041" cy="5600295"/>
            <a:chOff x="0" y="0"/>
            <a:chExt cx="2041599" cy="250130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041599" cy="2501304"/>
            </a:xfrm>
            <a:custGeom>
              <a:avLst/>
              <a:gdLst/>
              <a:ahLst/>
              <a:cxnLst/>
              <a:rect l="l" t="t" r="r" b="b"/>
              <a:pathLst>
                <a:path w="2041599" h="2501304">
                  <a:moveTo>
                    <a:pt x="0" y="0"/>
                  </a:moveTo>
                  <a:lnTo>
                    <a:pt x="2041599" y="0"/>
                  </a:lnTo>
                  <a:lnTo>
                    <a:pt x="2041599" y="2501304"/>
                  </a:lnTo>
                  <a:lnTo>
                    <a:pt x="0" y="2501304"/>
                  </a:lnTo>
                  <a:close/>
                </a:path>
              </a:pathLst>
            </a:custGeom>
            <a:blipFill>
              <a:blip r:embed="rId4"/>
              <a:stretch>
                <a:fillRect l="-43346" r="-43346"/>
              </a:stretch>
            </a:blipFill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40172" y="4368094"/>
            <a:ext cx="2102450" cy="10927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1208"/>
              </a:lnSpc>
              <a:spcBef>
                <a:spcPct val="0"/>
              </a:spcBef>
            </a:pPr>
            <a:r>
              <a:rPr lang="en-US" sz="1173" spc="-41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Sales</a:t>
            </a:r>
            <a:r>
              <a:rPr lang="en-US" sz="1173" u="none" strike="noStrike" spc="-41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 were stable, with strong order volumes and low late shipment rates.</a:t>
            </a:r>
          </a:p>
          <a:p>
            <a:pPr marL="0" lvl="0" indent="0" algn="just">
              <a:lnSpc>
                <a:spcPts val="1318"/>
              </a:lnSpc>
              <a:spcBef>
                <a:spcPct val="0"/>
              </a:spcBef>
            </a:pPr>
            <a:endParaRPr lang="en-US" sz="1173" u="none" strike="noStrike" spc="-41">
              <a:solidFill>
                <a:srgbClr val="B4B4B4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just">
              <a:lnSpc>
                <a:spcPts val="1208"/>
              </a:lnSpc>
              <a:spcBef>
                <a:spcPct val="0"/>
              </a:spcBef>
            </a:pPr>
            <a:r>
              <a:rPr lang="en-US" sz="1173" u="none" strike="noStrike" spc="-41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Top-selling  product categories led the company’s performance.</a:t>
            </a:r>
          </a:p>
          <a:p>
            <a:pPr marL="0" lvl="0" indent="0" algn="just">
              <a:lnSpc>
                <a:spcPts val="1208"/>
              </a:lnSpc>
              <a:spcBef>
                <a:spcPct val="0"/>
              </a:spcBef>
            </a:pPr>
            <a:endParaRPr lang="en-US" sz="1173" u="none" strike="noStrike" spc="-41">
              <a:solidFill>
                <a:srgbClr val="B4B4B4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2595603" y="4357934"/>
            <a:ext cx="1812956" cy="1282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1043"/>
              </a:lnSpc>
              <a:spcBef>
                <a:spcPct val="0"/>
              </a:spcBef>
            </a:pPr>
            <a:r>
              <a:rPr lang="en-US" sz="1013" spc="-35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Sal</a:t>
            </a:r>
            <a:r>
              <a:rPr lang="en-US" sz="1013" u="none" strike="noStrike" spc="-35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es showed a slight decline, and inventory management issues began to appear.</a:t>
            </a:r>
          </a:p>
          <a:p>
            <a:pPr marL="0" lvl="0" indent="0" algn="just">
              <a:lnSpc>
                <a:spcPts val="1043"/>
              </a:lnSpc>
              <a:spcBef>
                <a:spcPct val="0"/>
              </a:spcBef>
            </a:pPr>
            <a:endParaRPr lang="en-US" sz="1013" u="none" strike="noStrike" spc="-35">
              <a:solidFill>
                <a:srgbClr val="B4B4B4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just">
              <a:lnSpc>
                <a:spcPts val="1208"/>
              </a:lnSpc>
              <a:spcBef>
                <a:spcPct val="0"/>
              </a:spcBef>
            </a:pPr>
            <a:r>
              <a:rPr lang="en-US" sz="1173" u="none" strike="noStrike" spc="-41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Late shipment rates increased, and demand for key product categories started to drop.</a:t>
            </a:r>
          </a:p>
          <a:p>
            <a:pPr marL="0" lvl="0" indent="0" algn="just">
              <a:lnSpc>
                <a:spcPts val="1043"/>
              </a:lnSpc>
              <a:spcBef>
                <a:spcPct val="0"/>
              </a:spcBef>
            </a:pPr>
            <a:endParaRPr lang="en-US" sz="1173" u="none" strike="noStrike" spc="-41">
              <a:solidFill>
                <a:srgbClr val="B4B4B4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4686855" y="4368094"/>
            <a:ext cx="1800423" cy="1154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1220"/>
              </a:lnSpc>
              <a:spcBef>
                <a:spcPct val="0"/>
              </a:spcBef>
            </a:pPr>
            <a:r>
              <a:rPr lang="en-US" sz="1184" spc="-41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S</a:t>
            </a:r>
            <a:r>
              <a:rPr lang="en-US" sz="1184" u="none" strike="noStrike" spc="-41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ales and profits dropped significantly, with orders at their lowest level.</a:t>
            </a:r>
          </a:p>
          <a:p>
            <a:pPr marL="0" lvl="0" indent="0" algn="just">
              <a:lnSpc>
                <a:spcPts val="1220"/>
              </a:lnSpc>
              <a:spcBef>
                <a:spcPct val="0"/>
              </a:spcBef>
            </a:pPr>
            <a:endParaRPr lang="en-US" sz="1184" u="none" strike="noStrike" spc="-41">
              <a:solidFill>
                <a:srgbClr val="B4B4B4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just">
              <a:lnSpc>
                <a:spcPts val="1418"/>
              </a:lnSpc>
              <a:spcBef>
                <a:spcPct val="0"/>
              </a:spcBef>
            </a:pPr>
            <a:r>
              <a:rPr lang="en-US" sz="1376" u="none" strike="noStrike" spc="-48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Late shipments and inventory inefficiencies became more evident.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3299667" y="3753312"/>
            <a:ext cx="202414" cy="202414"/>
            <a:chOff x="0" y="0"/>
            <a:chExt cx="812800" cy="8128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B4B4B4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27093" tIns="27093" rIns="27093" bIns="27093" rtlCol="0" anchor="ctr"/>
            <a:lstStyle/>
            <a:p>
              <a:pPr algn="ctr">
                <a:lnSpc>
                  <a:spcPts val="999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5422503" y="3753312"/>
            <a:ext cx="202414" cy="202414"/>
            <a:chOff x="0" y="0"/>
            <a:chExt cx="812800" cy="8128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B4B4B4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27093" tIns="27093" rIns="27093" bIns="27093" rtlCol="0" anchor="ctr"/>
            <a:lstStyle/>
            <a:p>
              <a:pPr algn="ctr">
                <a:lnSpc>
                  <a:spcPts val="999"/>
                </a:lnSpc>
              </a:pPr>
              <a:endParaRPr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1102" y="4049119"/>
            <a:ext cx="880592" cy="2230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678"/>
              </a:lnSpc>
              <a:spcBef>
                <a:spcPct val="0"/>
              </a:spcBef>
            </a:pPr>
            <a:r>
              <a:rPr lang="en-US" sz="1629" b="1" spc="-57">
                <a:solidFill>
                  <a:srgbClr val="B4B4B4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2015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960578" y="4049119"/>
            <a:ext cx="880592" cy="2230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678"/>
              </a:lnSpc>
              <a:spcBef>
                <a:spcPct val="0"/>
              </a:spcBef>
            </a:pPr>
            <a:r>
              <a:rPr lang="en-US" sz="1629" b="1" spc="-57">
                <a:solidFill>
                  <a:srgbClr val="B4B4B4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2016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170055" y="4049119"/>
            <a:ext cx="880592" cy="2230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678"/>
              </a:lnSpc>
              <a:spcBef>
                <a:spcPct val="0"/>
              </a:spcBef>
            </a:pPr>
            <a:r>
              <a:rPr lang="en-US" sz="1629" b="1" spc="-57">
                <a:solidFill>
                  <a:srgbClr val="B4B4B4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2017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9753600" cy="7315200"/>
          </a:xfrm>
          <a:custGeom>
            <a:avLst/>
            <a:gdLst/>
            <a:ahLst/>
            <a:cxnLst/>
            <a:rect l="l" t="t" r="r" b="b"/>
            <a:pathLst>
              <a:path w="9753600" h="7315200">
                <a:moveTo>
                  <a:pt x="0" y="0"/>
                </a:moveTo>
                <a:lnTo>
                  <a:pt x="9753600" y="0"/>
                </a:lnTo>
                <a:lnTo>
                  <a:pt x="9753600" y="7315200"/>
                </a:lnTo>
                <a:lnTo>
                  <a:pt x="0" y="73152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6666" r="-16666"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>
            <a:off x="548640" y="1463040"/>
            <a:ext cx="265134" cy="178845"/>
          </a:xfrm>
          <a:custGeom>
            <a:avLst/>
            <a:gdLst/>
            <a:ahLst/>
            <a:cxnLst/>
            <a:rect l="l" t="t" r="r" b="b"/>
            <a:pathLst>
              <a:path w="265134" h="178845">
                <a:moveTo>
                  <a:pt x="0" y="0"/>
                </a:moveTo>
                <a:lnTo>
                  <a:pt x="265134" y="0"/>
                </a:lnTo>
                <a:lnTo>
                  <a:pt x="265134" y="178845"/>
                </a:lnTo>
                <a:lnTo>
                  <a:pt x="0" y="17884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grpSp>
        <p:nvGrpSpPr>
          <p:cNvPr id="4" name="Group 4"/>
          <p:cNvGrpSpPr/>
          <p:nvPr/>
        </p:nvGrpSpPr>
        <p:grpSpPr>
          <a:xfrm>
            <a:off x="280282" y="2524374"/>
            <a:ext cx="5290348" cy="3052012"/>
            <a:chOff x="0" y="0"/>
            <a:chExt cx="2612517" cy="150716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612517" cy="1507167"/>
            </a:xfrm>
            <a:custGeom>
              <a:avLst/>
              <a:gdLst/>
              <a:ahLst/>
              <a:cxnLst/>
              <a:rect l="l" t="t" r="r" b="b"/>
              <a:pathLst>
                <a:path w="2612517" h="1507167">
                  <a:moveTo>
                    <a:pt x="0" y="0"/>
                  </a:moveTo>
                  <a:lnTo>
                    <a:pt x="2612517" y="0"/>
                  </a:lnTo>
                  <a:lnTo>
                    <a:pt x="2612517" y="1507167"/>
                  </a:lnTo>
                  <a:lnTo>
                    <a:pt x="0" y="1507167"/>
                  </a:lnTo>
                  <a:close/>
                </a:path>
              </a:pathLst>
            </a:custGeom>
            <a:solidFill>
              <a:srgbClr val="002649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9525"/>
              <a:ext cx="2612517" cy="1516692"/>
            </a:xfrm>
            <a:prstGeom prst="rect">
              <a:avLst/>
            </a:prstGeom>
          </p:spPr>
          <p:txBody>
            <a:bodyPr lIns="27093" tIns="27093" rIns="27093" bIns="27093" rtlCol="0" anchor="ctr"/>
            <a:lstStyle/>
            <a:p>
              <a:pPr algn="ctr">
                <a:lnSpc>
                  <a:spcPts val="999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4633919" y="2098974"/>
            <a:ext cx="4571041" cy="3753186"/>
            <a:chOff x="0" y="0"/>
            <a:chExt cx="2041599" cy="167631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041599" cy="1676315"/>
            </a:xfrm>
            <a:custGeom>
              <a:avLst/>
              <a:gdLst/>
              <a:ahLst/>
              <a:cxnLst/>
              <a:rect l="l" t="t" r="r" b="b"/>
              <a:pathLst>
                <a:path w="2041599" h="1676315">
                  <a:moveTo>
                    <a:pt x="0" y="0"/>
                  </a:moveTo>
                  <a:lnTo>
                    <a:pt x="2041599" y="0"/>
                  </a:lnTo>
                  <a:lnTo>
                    <a:pt x="2041599" y="1676315"/>
                  </a:lnTo>
                  <a:lnTo>
                    <a:pt x="0" y="1676315"/>
                  </a:lnTo>
                  <a:close/>
                </a:path>
              </a:pathLst>
            </a:custGeom>
            <a:blipFill>
              <a:blip r:embed="rId5"/>
              <a:stretch>
                <a:fillRect l="-11619" r="-11619"/>
              </a:stretch>
            </a:blipFill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548640" y="2549637"/>
            <a:ext cx="4156566" cy="14112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08"/>
              </a:lnSpc>
            </a:pPr>
            <a:r>
              <a:rPr lang="en-US" sz="3934" b="1">
                <a:solidFill>
                  <a:srgbClr val="B4B4B4"/>
                </a:solidFill>
                <a:latin typeface="Poppins Bold"/>
                <a:ea typeface="Poppins Bold"/>
                <a:cs typeface="Poppins Bold"/>
                <a:sym typeface="Poppins Bold"/>
              </a:rPr>
              <a:t>Data Structure:</a:t>
            </a:r>
          </a:p>
          <a:p>
            <a:pPr algn="l">
              <a:lnSpc>
                <a:spcPts val="5508"/>
              </a:lnSpc>
            </a:pPr>
            <a:endParaRPr lang="en-US" sz="3934" b="1">
              <a:solidFill>
                <a:srgbClr val="B4B4B4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852309" y="1505750"/>
            <a:ext cx="656447" cy="102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761"/>
              </a:lnSpc>
              <a:spcBef>
                <a:spcPct val="0"/>
              </a:spcBef>
            </a:pPr>
            <a:r>
              <a:rPr lang="en-US" sz="738" b="1" spc="-25">
                <a:solidFill>
                  <a:srgbClr val="002649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Salford &amp; Co.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570592" y="1542938"/>
            <a:ext cx="451953" cy="122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999"/>
              </a:lnSpc>
              <a:spcBef>
                <a:spcPct val="0"/>
              </a:spcBef>
            </a:pPr>
            <a:r>
              <a:rPr lang="en-US" sz="775" u="none" strike="noStrike" spc="-42">
                <a:solidFill>
                  <a:srgbClr val="002649"/>
                </a:solidFill>
                <a:latin typeface="Public Sans"/>
                <a:ea typeface="Public Sans"/>
                <a:cs typeface="Public Sans"/>
                <a:sym typeface="Public Sans"/>
              </a:rPr>
              <a:t>HOME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159488" y="1542938"/>
            <a:ext cx="451953" cy="122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999"/>
              </a:lnSpc>
              <a:spcBef>
                <a:spcPct val="0"/>
              </a:spcBef>
            </a:pPr>
            <a:r>
              <a:rPr lang="en-US" sz="775" u="none" strike="noStrike" spc="-42">
                <a:solidFill>
                  <a:srgbClr val="002649"/>
                </a:solidFill>
                <a:latin typeface="Public Sans"/>
                <a:ea typeface="Public Sans"/>
                <a:cs typeface="Public Sans"/>
                <a:sym typeface="Public Sans"/>
              </a:rPr>
              <a:t>SERVICE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748601" y="1542938"/>
            <a:ext cx="589725" cy="122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999"/>
              </a:lnSpc>
              <a:spcBef>
                <a:spcPct val="0"/>
              </a:spcBef>
            </a:pPr>
            <a:r>
              <a:rPr lang="en-US" sz="775" u="none" strike="noStrike" spc="-42">
                <a:solidFill>
                  <a:srgbClr val="002649"/>
                </a:solidFill>
                <a:latin typeface="Public Sans"/>
                <a:ea typeface="Public Sans"/>
                <a:cs typeface="Public Sans"/>
                <a:sym typeface="Public Sans"/>
              </a:rPr>
              <a:t>ABOUT US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492771" y="1542938"/>
            <a:ext cx="712189" cy="122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999"/>
              </a:lnSpc>
              <a:spcBef>
                <a:spcPct val="0"/>
              </a:spcBef>
            </a:pPr>
            <a:r>
              <a:rPr lang="en-US" sz="775" u="none" strike="noStrike" spc="-42">
                <a:solidFill>
                  <a:srgbClr val="002649"/>
                </a:solidFill>
                <a:latin typeface="Public Sans"/>
                <a:ea typeface="Public Sans"/>
                <a:cs typeface="Public Sans"/>
                <a:sym typeface="Public Sans"/>
              </a:rPr>
              <a:t>CONTACT US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548640" y="3462543"/>
            <a:ext cx="3636214" cy="15132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14742" lvl="1" indent="-207371" algn="just">
              <a:lnSpc>
                <a:spcPts val="1978"/>
              </a:lnSpc>
              <a:buFont typeface="Arial"/>
              <a:buChar char="•"/>
            </a:pPr>
            <a:r>
              <a:rPr lang="en-US" sz="1920" spc="-67" dirty="0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Da</a:t>
            </a:r>
            <a:r>
              <a:rPr lang="en-US" sz="1920" u="none" strike="noStrike" spc="-67" dirty="0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taset consist:.</a:t>
            </a:r>
          </a:p>
          <a:p>
            <a:pPr marL="414742" lvl="1" indent="-207371" algn="just">
              <a:lnSpc>
                <a:spcPts val="1978"/>
              </a:lnSpc>
              <a:buFont typeface="Arial"/>
              <a:buChar char="•"/>
            </a:pPr>
            <a:r>
              <a:rPr lang="en-US" sz="1920" u="none" strike="noStrike" spc="-67" dirty="0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28 columns</a:t>
            </a:r>
          </a:p>
          <a:p>
            <a:pPr marL="414742" lvl="1" indent="-207371" algn="just">
              <a:lnSpc>
                <a:spcPts val="1978"/>
              </a:lnSpc>
              <a:buFont typeface="Arial"/>
              <a:buChar char="•"/>
            </a:pPr>
            <a:r>
              <a:rPr lang="en-US" sz="1920" u="none" strike="noStrike" spc="-67" dirty="0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25861 rows</a:t>
            </a:r>
          </a:p>
          <a:p>
            <a:pPr marL="414742" lvl="1" indent="-207371" algn="just">
              <a:lnSpc>
                <a:spcPts val="1978"/>
              </a:lnSpc>
              <a:buFont typeface="Arial"/>
              <a:buChar char="•"/>
            </a:pPr>
            <a:r>
              <a:rPr lang="en-US" sz="1920" u="none" strike="noStrike" spc="-67" dirty="0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Presented in 4 dimension tables and 1 fact table</a:t>
            </a:r>
          </a:p>
          <a:p>
            <a:pPr algn="just">
              <a:lnSpc>
                <a:spcPts val="1978"/>
              </a:lnSpc>
            </a:pPr>
            <a:endParaRPr lang="en-US" sz="1920" u="none" strike="noStrike" spc="-67" dirty="0">
              <a:solidFill>
                <a:srgbClr val="B4B4B4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9753600" cy="7315200"/>
          </a:xfrm>
          <a:custGeom>
            <a:avLst/>
            <a:gdLst/>
            <a:ahLst/>
            <a:cxnLst/>
            <a:rect l="l" t="t" r="r" b="b"/>
            <a:pathLst>
              <a:path w="9753600" h="7315200">
                <a:moveTo>
                  <a:pt x="0" y="0"/>
                </a:moveTo>
                <a:lnTo>
                  <a:pt x="9753600" y="0"/>
                </a:lnTo>
                <a:lnTo>
                  <a:pt x="9753600" y="7315200"/>
                </a:lnTo>
                <a:lnTo>
                  <a:pt x="0" y="73152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6666" r="-16666"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>
            <a:off x="548640" y="1463040"/>
            <a:ext cx="265134" cy="178845"/>
          </a:xfrm>
          <a:custGeom>
            <a:avLst/>
            <a:gdLst/>
            <a:ahLst/>
            <a:cxnLst/>
            <a:rect l="l" t="t" r="r" b="b"/>
            <a:pathLst>
              <a:path w="265134" h="178845">
                <a:moveTo>
                  <a:pt x="0" y="0"/>
                </a:moveTo>
                <a:lnTo>
                  <a:pt x="265134" y="0"/>
                </a:lnTo>
                <a:lnTo>
                  <a:pt x="265134" y="178845"/>
                </a:lnTo>
                <a:lnTo>
                  <a:pt x="0" y="17884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grpSp>
        <p:nvGrpSpPr>
          <p:cNvPr id="4" name="Group 4"/>
          <p:cNvGrpSpPr/>
          <p:nvPr/>
        </p:nvGrpSpPr>
        <p:grpSpPr>
          <a:xfrm>
            <a:off x="3056863" y="1350565"/>
            <a:ext cx="6581830" cy="4937760"/>
            <a:chOff x="0" y="0"/>
            <a:chExt cx="3250286" cy="24384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250286" cy="2438400"/>
            </a:xfrm>
            <a:custGeom>
              <a:avLst/>
              <a:gdLst/>
              <a:ahLst/>
              <a:cxnLst/>
              <a:rect l="l" t="t" r="r" b="b"/>
              <a:pathLst>
                <a:path w="3250286" h="2438400">
                  <a:moveTo>
                    <a:pt x="0" y="0"/>
                  </a:moveTo>
                  <a:lnTo>
                    <a:pt x="3250286" y="0"/>
                  </a:lnTo>
                  <a:lnTo>
                    <a:pt x="3250286" y="2438400"/>
                  </a:lnTo>
                  <a:lnTo>
                    <a:pt x="0" y="2438400"/>
                  </a:lnTo>
                  <a:close/>
                </a:path>
              </a:pathLst>
            </a:custGeom>
            <a:solidFill>
              <a:srgbClr val="002649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9525"/>
              <a:ext cx="3250286" cy="2447925"/>
            </a:xfrm>
            <a:prstGeom prst="rect">
              <a:avLst/>
            </a:prstGeom>
          </p:spPr>
          <p:txBody>
            <a:bodyPr lIns="27093" tIns="27093" rIns="27093" bIns="27093" rtlCol="0" anchor="ctr"/>
            <a:lstStyle/>
            <a:p>
              <a:pPr algn="ctr">
                <a:lnSpc>
                  <a:spcPts val="999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31194" y="2075983"/>
            <a:ext cx="3792821" cy="3486925"/>
            <a:chOff x="0" y="0"/>
            <a:chExt cx="2041599" cy="187694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041599" cy="1876942"/>
            </a:xfrm>
            <a:custGeom>
              <a:avLst/>
              <a:gdLst/>
              <a:ahLst/>
              <a:cxnLst/>
              <a:rect l="l" t="t" r="r" b="b"/>
              <a:pathLst>
                <a:path w="2041599" h="1876942">
                  <a:moveTo>
                    <a:pt x="0" y="0"/>
                  </a:moveTo>
                  <a:lnTo>
                    <a:pt x="2041599" y="0"/>
                  </a:lnTo>
                  <a:lnTo>
                    <a:pt x="2041599" y="1876942"/>
                  </a:lnTo>
                  <a:lnTo>
                    <a:pt x="0" y="1876942"/>
                  </a:lnTo>
                  <a:close/>
                </a:path>
              </a:pathLst>
            </a:custGeom>
            <a:blipFill>
              <a:blip r:embed="rId5"/>
              <a:stretch>
                <a:fillRect l="-18994" r="-18994"/>
              </a:stretch>
            </a:blipFill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852309" y="1505750"/>
            <a:ext cx="656447" cy="102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761"/>
              </a:lnSpc>
              <a:spcBef>
                <a:spcPct val="0"/>
              </a:spcBef>
            </a:pPr>
            <a:r>
              <a:rPr lang="en-US" sz="738" b="1" spc="-25">
                <a:solidFill>
                  <a:srgbClr val="002649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Salford &amp; Co.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023802" y="2387431"/>
            <a:ext cx="3976364" cy="37466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977"/>
              </a:lnSpc>
            </a:pPr>
            <a:r>
              <a:rPr lang="en-US" sz="1920" spc="-67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• R</a:t>
            </a:r>
            <a:r>
              <a:rPr lang="en-US" sz="1920" u="none" strike="noStrike" spc="-67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emoved unnecessary columns: Order Item ID and Order Time. </a:t>
            </a:r>
          </a:p>
          <a:p>
            <a:pPr algn="just">
              <a:lnSpc>
                <a:spcPts val="1977"/>
              </a:lnSpc>
            </a:pPr>
            <a:r>
              <a:rPr lang="en-US" sz="1920" u="none" strike="noStrike" spc="-67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• Fixed column data types. </a:t>
            </a:r>
          </a:p>
          <a:p>
            <a:pPr algn="just">
              <a:lnSpc>
                <a:spcPts val="1977"/>
              </a:lnSpc>
            </a:pPr>
            <a:r>
              <a:rPr lang="en-US" sz="1920" u="none" strike="noStrike" spc="-67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• Removed special characters from the Customer Country column. </a:t>
            </a:r>
          </a:p>
          <a:p>
            <a:pPr algn="just">
              <a:lnSpc>
                <a:spcPts val="1977"/>
              </a:lnSpc>
            </a:pPr>
            <a:r>
              <a:rPr lang="en-US" sz="1920" u="none" strike="noStrike" spc="-67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• Checked for missing and duplicate values. </a:t>
            </a:r>
          </a:p>
          <a:p>
            <a:pPr algn="just">
              <a:lnSpc>
                <a:spcPts val="1977"/>
              </a:lnSpc>
            </a:pPr>
            <a:r>
              <a:rPr lang="en-US" sz="1920" u="none" strike="noStrike" spc="-67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• Found 5 products in the inventory but not in the orders; kept them because they represent a significant storage cost.</a:t>
            </a:r>
          </a:p>
          <a:p>
            <a:pPr algn="just">
              <a:lnSpc>
                <a:spcPts val="1977"/>
              </a:lnSpc>
            </a:pPr>
            <a:r>
              <a:rPr lang="en-US" sz="1920" u="none" strike="noStrike" spc="-67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• Cleaned shipping time values: removed negative values and those greater than 28 days as they are unrealistic.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204136" y="1670460"/>
            <a:ext cx="3742994" cy="10773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13"/>
              </a:lnSpc>
            </a:pPr>
            <a:r>
              <a:rPr lang="en-US" sz="3934" b="1">
                <a:solidFill>
                  <a:srgbClr val="B4B4B4"/>
                </a:solidFill>
                <a:latin typeface="Poppins Bold"/>
                <a:ea typeface="Poppins Bold"/>
                <a:cs typeface="Poppins Bold"/>
                <a:sym typeface="Poppins Bold"/>
              </a:rPr>
              <a:t>Data Cleaning </a:t>
            </a:r>
          </a:p>
          <a:p>
            <a:pPr algn="l">
              <a:lnSpc>
                <a:spcPts val="4013"/>
              </a:lnSpc>
            </a:pPr>
            <a:endParaRPr lang="en-US" sz="3934" b="1">
              <a:solidFill>
                <a:srgbClr val="B4B4B4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6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03901" y="1135047"/>
            <a:ext cx="265134" cy="178845"/>
          </a:xfrm>
          <a:custGeom>
            <a:avLst/>
            <a:gdLst/>
            <a:ahLst/>
            <a:cxnLst/>
            <a:rect l="l" t="t" r="r" b="b"/>
            <a:pathLst>
              <a:path w="265134" h="178845">
                <a:moveTo>
                  <a:pt x="0" y="0"/>
                </a:moveTo>
                <a:lnTo>
                  <a:pt x="265134" y="0"/>
                </a:lnTo>
                <a:lnTo>
                  <a:pt x="265134" y="178845"/>
                </a:lnTo>
                <a:lnTo>
                  <a:pt x="0" y="17884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grpSp>
        <p:nvGrpSpPr>
          <p:cNvPr id="3" name="Group 3"/>
          <p:cNvGrpSpPr/>
          <p:nvPr/>
        </p:nvGrpSpPr>
        <p:grpSpPr>
          <a:xfrm>
            <a:off x="2405571" y="914400"/>
            <a:ext cx="7467300" cy="5486400"/>
            <a:chOff x="0" y="0"/>
            <a:chExt cx="10839194" cy="796381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0839193" cy="7963810"/>
            </a:xfrm>
            <a:custGeom>
              <a:avLst/>
              <a:gdLst/>
              <a:ahLst/>
              <a:cxnLst/>
              <a:rect l="l" t="t" r="r" b="b"/>
              <a:pathLst>
                <a:path w="10839193" h="7963810">
                  <a:moveTo>
                    <a:pt x="0" y="0"/>
                  </a:moveTo>
                  <a:lnTo>
                    <a:pt x="10839193" y="0"/>
                  </a:lnTo>
                  <a:lnTo>
                    <a:pt x="10839193" y="7963810"/>
                  </a:lnTo>
                  <a:lnTo>
                    <a:pt x="0" y="7963810"/>
                  </a:lnTo>
                  <a:close/>
                </a:path>
              </a:pathLst>
            </a:custGeom>
            <a:blipFill>
              <a:blip r:embed="rId4"/>
              <a:stretch>
                <a:fillRect l="-6370" r="-6370"/>
              </a:stretch>
            </a:blipFill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0" y="1618518"/>
            <a:ext cx="2554658" cy="1676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88"/>
              </a:lnSpc>
            </a:pPr>
            <a:r>
              <a:rPr lang="en-US" sz="3934" b="1">
                <a:solidFill>
                  <a:srgbClr val="B4B4B4"/>
                </a:solidFill>
                <a:latin typeface="Poppins Bold"/>
                <a:ea typeface="Poppins Bold"/>
                <a:cs typeface="Poppins Bold"/>
                <a:sym typeface="Poppins Bold"/>
              </a:rPr>
              <a:t>Data Modeling </a:t>
            </a:r>
          </a:p>
          <a:p>
            <a:pPr algn="l">
              <a:lnSpc>
                <a:spcPts val="4288"/>
              </a:lnSpc>
            </a:pPr>
            <a:endParaRPr lang="en-US" sz="3934" b="1">
              <a:solidFill>
                <a:srgbClr val="B4B4B4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0" y="3010459"/>
            <a:ext cx="2205290" cy="23540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03013" lvl="1" indent="-201506" algn="just">
              <a:lnSpc>
                <a:spcPts val="1922"/>
              </a:lnSpc>
              <a:spcBef>
                <a:spcPct val="0"/>
              </a:spcBef>
              <a:buFont typeface="Arial"/>
              <a:buChar char="•"/>
            </a:pPr>
            <a:r>
              <a:rPr lang="en-US" sz="1866" spc="-65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Wi</a:t>
            </a:r>
            <a:r>
              <a:rPr lang="en-US" sz="1866" u="none" strike="noStrike" spc="-65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th one PK in each dimension table &amp; 5 FK in fact table</a:t>
            </a:r>
          </a:p>
          <a:p>
            <a:pPr marL="403013" lvl="1" indent="-201506" algn="just">
              <a:lnSpc>
                <a:spcPts val="1922"/>
              </a:lnSpc>
              <a:spcBef>
                <a:spcPct val="0"/>
              </a:spcBef>
              <a:buFont typeface="Arial"/>
              <a:buChar char="•"/>
            </a:pPr>
            <a:r>
              <a:rPr lang="en-US" sz="1866" u="none" strike="noStrike" spc="-65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Connect tables on Star Scheme</a:t>
            </a:r>
          </a:p>
          <a:p>
            <a:pPr marL="403013" lvl="1" indent="-201506" algn="just">
              <a:lnSpc>
                <a:spcPts val="1922"/>
              </a:lnSpc>
              <a:spcBef>
                <a:spcPct val="0"/>
              </a:spcBef>
              <a:buFont typeface="Arial"/>
              <a:buChar char="•"/>
            </a:pPr>
            <a:r>
              <a:rPr lang="en-US" sz="1866" u="none" strike="noStrike" spc="-65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5 connections many to one</a:t>
            </a:r>
          </a:p>
          <a:p>
            <a:pPr marL="324138" lvl="1" indent="-162069" algn="just">
              <a:lnSpc>
                <a:spcPts val="1546"/>
              </a:lnSpc>
              <a:spcBef>
                <a:spcPct val="0"/>
              </a:spcBef>
              <a:buFont typeface="Arial"/>
              <a:buChar char="•"/>
            </a:pPr>
            <a:endParaRPr lang="en-US" sz="1866" u="none" strike="noStrike" spc="-65">
              <a:solidFill>
                <a:srgbClr val="B4B4B4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just">
              <a:lnSpc>
                <a:spcPts val="1538"/>
              </a:lnSpc>
              <a:spcBef>
                <a:spcPct val="0"/>
              </a:spcBef>
            </a:pPr>
            <a:endParaRPr lang="en-US" sz="1866" u="none" strike="noStrike" spc="-65">
              <a:solidFill>
                <a:srgbClr val="B4B4B4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6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42383" y="1722893"/>
            <a:ext cx="1428827" cy="575474"/>
            <a:chOff x="0" y="0"/>
            <a:chExt cx="1009038" cy="4064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009038" cy="406400"/>
            </a:xfrm>
            <a:custGeom>
              <a:avLst/>
              <a:gdLst/>
              <a:ahLst/>
              <a:cxnLst/>
              <a:rect l="l" t="t" r="r" b="b"/>
              <a:pathLst>
                <a:path w="1009038" h="406400">
                  <a:moveTo>
                    <a:pt x="805838" y="0"/>
                  </a:moveTo>
                  <a:cubicBezTo>
                    <a:pt x="918062" y="0"/>
                    <a:pt x="1009038" y="90976"/>
                    <a:pt x="1009038" y="203200"/>
                  </a:cubicBezTo>
                  <a:cubicBezTo>
                    <a:pt x="1009038" y="315424"/>
                    <a:pt x="918062" y="406400"/>
                    <a:pt x="805838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1009038" cy="434975"/>
            </a:xfrm>
            <a:prstGeom prst="rect">
              <a:avLst/>
            </a:prstGeom>
          </p:spPr>
          <p:txBody>
            <a:bodyPr lIns="27093" tIns="27093" rIns="27093" bIns="27093" rtlCol="0" anchor="ctr"/>
            <a:lstStyle/>
            <a:p>
              <a:pPr algn="ctr">
                <a:lnSpc>
                  <a:spcPts val="2100"/>
                </a:lnSpc>
              </a:pPr>
              <a:r>
                <a:rPr lang="en-US" sz="1628" spc="-89">
                  <a:solidFill>
                    <a:srgbClr val="002649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(Sales &amp; Profit)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3845592" y="995087"/>
            <a:ext cx="2458801" cy="622217"/>
            <a:chOff x="0" y="0"/>
            <a:chExt cx="1351313" cy="34195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351313" cy="341959"/>
            </a:xfrm>
            <a:custGeom>
              <a:avLst/>
              <a:gdLst/>
              <a:ahLst/>
              <a:cxnLst/>
              <a:rect l="l" t="t" r="r" b="b"/>
              <a:pathLst>
                <a:path w="1351313" h="341959">
                  <a:moveTo>
                    <a:pt x="1148113" y="0"/>
                  </a:moveTo>
                  <a:cubicBezTo>
                    <a:pt x="1260338" y="0"/>
                    <a:pt x="1351313" y="76550"/>
                    <a:pt x="1351313" y="170980"/>
                  </a:cubicBezTo>
                  <a:cubicBezTo>
                    <a:pt x="1351313" y="265409"/>
                    <a:pt x="1260338" y="341959"/>
                    <a:pt x="1148113" y="341959"/>
                  </a:cubicBezTo>
                  <a:lnTo>
                    <a:pt x="203200" y="341959"/>
                  </a:lnTo>
                  <a:cubicBezTo>
                    <a:pt x="90976" y="341959"/>
                    <a:pt x="0" y="265409"/>
                    <a:pt x="0" y="170980"/>
                  </a:cubicBezTo>
                  <a:cubicBezTo>
                    <a:pt x="0" y="7655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453E7A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1351313" cy="370534"/>
            </a:xfrm>
            <a:prstGeom prst="rect">
              <a:avLst/>
            </a:prstGeom>
          </p:spPr>
          <p:txBody>
            <a:bodyPr lIns="27093" tIns="27093" rIns="27093" bIns="27093" rtlCol="0" anchor="ctr"/>
            <a:lstStyle/>
            <a:p>
              <a:pPr algn="ctr">
                <a:lnSpc>
                  <a:spcPts val="3683"/>
                </a:lnSpc>
              </a:pPr>
              <a:r>
                <a:rPr lang="en-US" sz="2855" spc="-157">
                  <a:solidFill>
                    <a:srgbClr val="FFFFFF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KPIS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333836" y="2506647"/>
            <a:ext cx="1645920" cy="2585166"/>
            <a:chOff x="0" y="0"/>
            <a:chExt cx="812800" cy="1276625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1276625"/>
            </a:xfrm>
            <a:custGeom>
              <a:avLst/>
              <a:gdLst/>
              <a:ahLst/>
              <a:cxnLst/>
              <a:rect l="l" t="t" r="r" b="b"/>
              <a:pathLst>
                <a:path w="812800" h="1276625">
                  <a:moveTo>
                    <a:pt x="0" y="0"/>
                  </a:moveTo>
                  <a:lnTo>
                    <a:pt x="812800" y="0"/>
                  </a:lnTo>
                  <a:lnTo>
                    <a:pt x="812800" y="1276625"/>
                  </a:lnTo>
                  <a:lnTo>
                    <a:pt x="0" y="1276625"/>
                  </a:lnTo>
                  <a:close/>
                </a:path>
              </a:pathLst>
            </a:custGeom>
            <a:solidFill>
              <a:srgbClr val="B4B4B4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19050"/>
              <a:ext cx="812800" cy="1295675"/>
            </a:xfrm>
            <a:prstGeom prst="rect">
              <a:avLst/>
            </a:prstGeom>
          </p:spPr>
          <p:txBody>
            <a:bodyPr lIns="27093" tIns="27093" rIns="27093" bIns="27093" rtlCol="0" anchor="ctr"/>
            <a:lstStyle/>
            <a:p>
              <a:pPr algn="ctr">
                <a:lnSpc>
                  <a:spcPts val="1756"/>
                </a:lnSpc>
              </a:pPr>
              <a:r>
                <a:rPr lang="en-US" sz="1361" spc="-74">
                  <a:solidFill>
                    <a:srgbClr val="000000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Total Net Sales: 5M$</a:t>
              </a:r>
            </a:p>
            <a:p>
              <a:pPr algn="ctr">
                <a:lnSpc>
                  <a:spcPts val="1756"/>
                </a:lnSpc>
              </a:pPr>
              <a:endParaRPr lang="en-US" sz="1361" spc="-74">
                <a:solidFill>
                  <a:srgbClr val="000000"/>
                </a:solidFill>
                <a:latin typeface="Public Sans"/>
                <a:ea typeface="Public Sans"/>
                <a:cs typeface="Public Sans"/>
                <a:sym typeface="Public Sans"/>
              </a:endParaRPr>
            </a:p>
            <a:p>
              <a:pPr algn="ctr">
                <a:lnSpc>
                  <a:spcPts val="1756"/>
                </a:lnSpc>
              </a:pPr>
              <a:r>
                <a:rPr lang="en-US" sz="1361" spc="-74">
                  <a:solidFill>
                    <a:srgbClr val="000000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Net Sales (from analysis): 4.604k$</a:t>
              </a:r>
            </a:p>
            <a:p>
              <a:pPr algn="ctr">
                <a:lnSpc>
                  <a:spcPts val="1756"/>
                </a:lnSpc>
              </a:pPr>
              <a:endParaRPr lang="en-US" sz="1361" spc="-74">
                <a:solidFill>
                  <a:srgbClr val="000000"/>
                </a:solidFill>
                <a:latin typeface="Public Sans"/>
                <a:ea typeface="Public Sans"/>
                <a:cs typeface="Public Sans"/>
                <a:sym typeface="Public Sans"/>
              </a:endParaRPr>
            </a:p>
            <a:p>
              <a:pPr algn="ctr">
                <a:lnSpc>
                  <a:spcPts val="1756"/>
                </a:lnSpc>
              </a:pPr>
              <a:r>
                <a:rPr lang="en-US" sz="1361" spc="-74">
                  <a:solidFill>
                    <a:srgbClr val="000000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Total Profit: 4M$</a:t>
              </a:r>
            </a:p>
            <a:p>
              <a:pPr algn="ctr">
                <a:lnSpc>
                  <a:spcPts val="1756"/>
                </a:lnSpc>
              </a:pPr>
              <a:endParaRPr lang="en-US" sz="1361" spc="-74">
                <a:solidFill>
                  <a:srgbClr val="000000"/>
                </a:solidFill>
                <a:latin typeface="Public Sans"/>
                <a:ea typeface="Public Sans"/>
                <a:cs typeface="Public Sans"/>
                <a:sym typeface="Public Sans"/>
              </a:endParaRPr>
            </a:p>
            <a:p>
              <a:pPr algn="ctr">
                <a:lnSpc>
                  <a:spcPts val="1756"/>
                </a:lnSpc>
              </a:pPr>
              <a:r>
                <a:rPr lang="en-US" sz="1361" spc="-74">
                  <a:solidFill>
                    <a:srgbClr val="000000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Profit Margin: 71%</a:t>
              </a:r>
            </a:p>
            <a:p>
              <a:pPr algn="ctr">
                <a:lnSpc>
                  <a:spcPts val="1756"/>
                </a:lnSpc>
              </a:pPr>
              <a:endParaRPr lang="en-US" sz="1361" spc="-74">
                <a:solidFill>
                  <a:srgbClr val="000000"/>
                </a:solidFill>
                <a:latin typeface="Public Sans"/>
                <a:ea typeface="Public Sans"/>
                <a:cs typeface="Public Sans"/>
                <a:sym typeface="Public Sans"/>
              </a:endParaRPr>
            </a:p>
            <a:p>
              <a:pPr algn="ctr">
                <a:lnSpc>
                  <a:spcPts val="1756"/>
                </a:lnSpc>
              </a:pPr>
              <a:r>
                <a:rPr lang="en-US" sz="1361" spc="-74">
                  <a:solidFill>
                    <a:srgbClr val="000000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Average Order Value: 449$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2347208" y="1710951"/>
            <a:ext cx="1428827" cy="599358"/>
            <a:chOff x="0" y="0"/>
            <a:chExt cx="1009038" cy="42326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009038" cy="423267"/>
            </a:xfrm>
            <a:custGeom>
              <a:avLst/>
              <a:gdLst/>
              <a:ahLst/>
              <a:cxnLst/>
              <a:rect l="l" t="t" r="r" b="b"/>
              <a:pathLst>
                <a:path w="1009038" h="423267">
                  <a:moveTo>
                    <a:pt x="805838" y="0"/>
                  </a:moveTo>
                  <a:cubicBezTo>
                    <a:pt x="918062" y="0"/>
                    <a:pt x="1009038" y="94751"/>
                    <a:pt x="1009038" y="211633"/>
                  </a:cubicBezTo>
                  <a:cubicBezTo>
                    <a:pt x="1009038" y="328515"/>
                    <a:pt x="918062" y="423267"/>
                    <a:pt x="805838" y="423267"/>
                  </a:cubicBezTo>
                  <a:lnTo>
                    <a:pt x="203200" y="423267"/>
                  </a:lnTo>
                  <a:cubicBezTo>
                    <a:pt x="90976" y="423267"/>
                    <a:pt x="0" y="328515"/>
                    <a:pt x="0" y="211633"/>
                  </a:cubicBezTo>
                  <a:cubicBezTo>
                    <a:pt x="0" y="9475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19050"/>
              <a:ext cx="1009038" cy="442317"/>
            </a:xfrm>
            <a:prstGeom prst="rect">
              <a:avLst/>
            </a:prstGeom>
          </p:spPr>
          <p:txBody>
            <a:bodyPr lIns="27093" tIns="27093" rIns="27093" bIns="27093" rtlCol="0" anchor="ctr"/>
            <a:lstStyle/>
            <a:p>
              <a:pPr algn="ctr">
                <a:lnSpc>
                  <a:spcPts val="1963"/>
                </a:lnSpc>
              </a:pPr>
              <a:r>
                <a:rPr lang="en-US" sz="1521" spc="-83">
                  <a:solidFill>
                    <a:srgbClr val="002649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(Orders &amp; Customers)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8120932" y="1722893"/>
            <a:ext cx="1428827" cy="575474"/>
            <a:chOff x="0" y="0"/>
            <a:chExt cx="1009038" cy="4064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09038" cy="406400"/>
            </a:xfrm>
            <a:custGeom>
              <a:avLst/>
              <a:gdLst/>
              <a:ahLst/>
              <a:cxnLst/>
              <a:rect l="l" t="t" r="r" b="b"/>
              <a:pathLst>
                <a:path w="1009038" h="406400">
                  <a:moveTo>
                    <a:pt x="805838" y="0"/>
                  </a:moveTo>
                  <a:cubicBezTo>
                    <a:pt x="918062" y="0"/>
                    <a:pt x="1009038" y="90976"/>
                    <a:pt x="1009038" y="203200"/>
                  </a:cubicBezTo>
                  <a:cubicBezTo>
                    <a:pt x="1009038" y="315424"/>
                    <a:pt x="918062" y="406400"/>
                    <a:pt x="805838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19050"/>
              <a:ext cx="1009038" cy="425450"/>
            </a:xfrm>
            <a:prstGeom prst="rect">
              <a:avLst/>
            </a:prstGeom>
          </p:spPr>
          <p:txBody>
            <a:bodyPr lIns="27093" tIns="27093" rIns="27093" bIns="27093" rtlCol="0" anchor="ctr"/>
            <a:lstStyle/>
            <a:p>
              <a:pPr algn="ctr">
                <a:lnSpc>
                  <a:spcPts val="1825"/>
                </a:lnSpc>
              </a:pPr>
              <a:r>
                <a:rPr lang="en-US" sz="1415" spc="-77">
                  <a:solidFill>
                    <a:srgbClr val="002649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(Top Products &amp; Categories)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302522" y="1699009"/>
            <a:ext cx="1428827" cy="599358"/>
            <a:chOff x="0" y="0"/>
            <a:chExt cx="1009038" cy="423267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009038" cy="423267"/>
            </a:xfrm>
            <a:custGeom>
              <a:avLst/>
              <a:gdLst/>
              <a:ahLst/>
              <a:cxnLst/>
              <a:rect l="l" t="t" r="r" b="b"/>
              <a:pathLst>
                <a:path w="1009038" h="423267">
                  <a:moveTo>
                    <a:pt x="805838" y="0"/>
                  </a:moveTo>
                  <a:cubicBezTo>
                    <a:pt x="918062" y="0"/>
                    <a:pt x="1009038" y="94751"/>
                    <a:pt x="1009038" y="211633"/>
                  </a:cubicBezTo>
                  <a:cubicBezTo>
                    <a:pt x="1009038" y="328515"/>
                    <a:pt x="918062" y="423267"/>
                    <a:pt x="805838" y="423267"/>
                  </a:cubicBezTo>
                  <a:lnTo>
                    <a:pt x="203200" y="423267"/>
                  </a:lnTo>
                  <a:cubicBezTo>
                    <a:pt x="90976" y="423267"/>
                    <a:pt x="0" y="328515"/>
                    <a:pt x="0" y="211633"/>
                  </a:cubicBezTo>
                  <a:cubicBezTo>
                    <a:pt x="0" y="9475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19050"/>
              <a:ext cx="1009038" cy="442317"/>
            </a:xfrm>
            <a:prstGeom prst="rect">
              <a:avLst/>
            </a:prstGeom>
          </p:spPr>
          <p:txBody>
            <a:bodyPr lIns="27093" tIns="27093" rIns="27093" bIns="27093" rtlCol="0" anchor="ctr"/>
            <a:lstStyle/>
            <a:p>
              <a:pPr algn="ctr">
                <a:lnSpc>
                  <a:spcPts val="1963"/>
                </a:lnSpc>
              </a:pPr>
              <a:r>
                <a:rPr lang="en-US" sz="1521" spc="-83">
                  <a:solidFill>
                    <a:srgbClr val="002649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(Inventory &amp; Warehouse)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4360579" y="1722893"/>
            <a:ext cx="1428827" cy="575474"/>
            <a:chOff x="0" y="0"/>
            <a:chExt cx="1009038" cy="4064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009038" cy="406400"/>
            </a:xfrm>
            <a:custGeom>
              <a:avLst/>
              <a:gdLst/>
              <a:ahLst/>
              <a:cxnLst/>
              <a:rect l="l" t="t" r="r" b="b"/>
              <a:pathLst>
                <a:path w="1009038" h="406400">
                  <a:moveTo>
                    <a:pt x="805838" y="0"/>
                  </a:moveTo>
                  <a:cubicBezTo>
                    <a:pt x="918062" y="0"/>
                    <a:pt x="1009038" y="90976"/>
                    <a:pt x="1009038" y="203200"/>
                  </a:cubicBezTo>
                  <a:cubicBezTo>
                    <a:pt x="1009038" y="315424"/>
                    <a:pt x="918062" y="406400"/>
                    <a:pt x="805838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1009038" cy="434975"/>
            </a:xfrm>
            <a:prstGeom prst="rect">
              <a:avLst/>
            </a:prstGeom>
          </p:spPr>
          <p:txBody>
            <a:bodyPr lIns="27093" tIns="27093" rIns="27093" bIns="27093" rtlCol="0" anchor="ctr"/>
            <a:lstStyle/>
            <a:p>
              <a:pPr algn="ctr">
                <a:lnSpc>
                  <a:spcPts val="2513"/>
                </a:lnSpc>
              </a:pPr>
              <a:r>
                <a:rPr lang="en-US" sz="1948" spc="-107">
                  <a:solidFill>
                    <a:srgbClr val="002649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(Shipment)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6193975" y="2506647"/>
            <a:ext cx="1645920" cy="2585166"/>
            <a:chOff x="0" y="0"/>
            <a:chExt cx="812800" cy="1276625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812800" cy="1276625"/>
            </a:xfrm>
            <a:custGeom>
              <a:avLst/>
              <a:gdLst/>
              <a:ahLst/>
              <a:cxnLst/>
              <a:rect l="l" t="t" r="r" b="b"/>
              <a:pathLst>
                <a:path w="812800" h="1276625">
                  <a:moveTo>
                    <a:pt x="0" y="0"/>
                  </a:moveTo>
                  <a:lnTo>
                    <a:pt x="812800" y="0"/>
                  </a:lnTo>
                  <a:lnTo>
                    <a:pt x="812800" y="1276625"/>
                  </a:lnTo>
                  <a:lnTo>
                    <a:pt x="0" y="1276625"/>
                  </a:lnTo>
                  <a:close/>
                </a:path>
              </a:pathLst>
            </a:custGeom>
            <a:solidFill>
              <a:srgbClr val="B4B4B4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19050"/>
              <a:ext cx="812800" cy="1295675"/>
            </a:xfrm>
            <a:prstGeom prst="rect">
              <a:avLst/>
            </a:prstGeom>
          </p:spPr>
          <p:txBody>
            <a:bodyPr lIns="27093" tIns="27093" rIns="27093" bIns="27093" rtlCol="0" anchor="ctr"/>
            <a:lstStyle/>
            <a:p>
              <a:pPr algn="ctr">
                <a:lnSpc>
                  <a:spcPts val="1857"/>
                </a:lnSpc>
              </a:pPr>
              <a:r>
                <a:rPr lang="en-US" sz="1439" spc="-79">
                  <a:solidFill>
                    <a:srgbClr val="000000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Warehouse Inventory: 71,014</a:t>
              </a:r>
            </a:p>
            <a:p>
              <a:pPr algn="ctr">
                <a:lnSpc>
                  <a:spcPts val="1857"/>
                </a:lnSpc>
              </a:pPr>
              <a:endParaRPr lang="en-US" sz="1439" spc="-79">
                <a:solidFill>
                  <a:srgbClr val="000000"/>
                </a:solidFill>
                <a:latin typeface="Public Sans"/>
                <a:ea typeface="Public Sans"/>
                <a:cs typeface="Public Sans"/>
                <a:sym typeface="Public Sans"/>
              </a:endParaRPr>
            </a:p>
            <a:p>
              <a:pPr algn="ctr">
                <a:lnSpc>
                  <a:spcPts val="1857"/>
                </a:lnSpc>
              </a:pPr>
              <a:r>
                <a:rPr lang="en-US" sz="1439" spc="-79">
                  <a:solidFill>
                    <a:srgbClr val="000000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Storage Cost: 86K$</a:t>
              </a:r>
            </a:p>
            <a:p>
              <a:pPr algn="ctr">
                <a:lnSpc>
                  <a:spcPts val="1857"/>
                </a:lnSpc>
              </a:pPr>
              <a:endParaRPr lang="en-US" sz="1439" spc="-79">
                <a:solidFill>
                  <a:srgbClr val="000000"/>
                </a:solidFill>
                <a:latin typeface="Public Sans"/>
                <a:ea typeface="Public Sans"/>
                <a:cs typeface="Public Sans"/>
                <a:sym typeface="Public Sans"/>
              </a:endParaRPr>
            </a:p>
            <a:p>
              <a:pPr algn="ctr">
                <a:lnSpc>
                  <a:spcPts val="1857"/>
                </a:lnSpc>
              </a:pPr>
              <a:r>
                <a:rPr lang="en-US" sz="1439" spc="-79">
                  <a:solidFill>
                    <a:srgbClr val="000000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Average Warehouse: 5</a:t>
              </a:r>
            </a:p>
            <a:p>
              <a:pPr algn="ctr">
                <a:lnSpc>
                  <a:spcPts val="1857"/>
                </a:lnSpc>
              </a:pPr>
              <a:endParaRPr lang="en-US" sz="1439" spc="-79">
                <a:solidFill>
                  <a:srgbClr val="000000"/>
                </a:solidFill>
                <a:latin typeface="Public Sans"/>
                <a:ea typeface="Public Sans"/>
                <a:cs typeface="Public Sans"/>
                <a:sym typeface="Public Sans"/>
              </a:endParaRPr>
            </a:p>
            <a:p>
              <a:pPr algn="ctr">
                <a:lnSpc>
                  <a:spcPts val="1857"/>
                </a:lnSpc>
              </a:pPr>
              <a:r>
                <a:rPr lang="en-US" sz="1439" spc="-79">
                  <a:solidFill>
                    <a:srgbClr val="000000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Inventory Cost per Unit: 5K$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4225250" y="2506647"/>
            <a:ext cx="1699485" cy="2585166"/>
            <a:chOff x="0" y="0"/>
            <a:chExt cx="839252" cy="1276625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39252" cy="1276625"/>
            </a:xfrm>
            <a:custGeom>
              <a:avLst/>
              <a:gdLst/>
              <a:ahLst/>
              <a:cxnLst/>
              <a:rect l="l" t="t" r="r" b="b"/>
              <a:pathLst>
                <a:path w="839252" h="1276625">
                  <a:moveTo>
                    <a:pt x="0" y="0"/>
                  </a:moveTo>
                  <a:lnTo>
                    <a:pt x="839252" y="0"/>
                  </a:lnTo>
                  <a:lnTo>
                    <a:pt x="839252" y="1276625"/>
                  </a:lnTo>
                  <a:lnTo>
                    <a:pt x="0" y="1276625"/>
                  </a:lnTo>
                  <a:close/>
                </a:path>
              </a:pathLst>
            </a:custGeom>
            <a:solidFill>
              <a:srgbClr val="B4B4B4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19050"/>
              <a:ext cx="839252" cy="1295675"/>
            </a:xfrm>
            <a:prstGeom prst="rect">
              <a:avLst/>
            </a:prstGeom>
          </p:spPr>
          <p:txBody>
            <a:bodyPr lIns="27093" tIns="27093" rIns="27093" bIns="27093" rtlCol="0" anchor="ctr"/>
            <a:lstStyle/>
            <a:p>
              <a:pPr algn="ctr">
                <a:lnSpc>
                  <a:spcPts val="1894"/>
                </a:lnSpc>
              </a:pPr>
              <a:r>
                <a:rPr lang="en-US" sz="1468" spc="-80">
                  <a:solidFill>
                    <a:srgbClr val="000000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Late Shipment Rate: 56%</a:t>
              </a:r>
            </a:p>
            <a:p>
              <a:pPr algn="ctr">
                <a:lnSpc>
                  <a:spcPts val="1825"/>
                </a:lnSpc>
              </a:pPr>
              <a:endParaRPr lang="en-US" sz="1468" spc="-80">
                <a:solidFill>
                  <a:srgbClr val="000000"/>
                </a:solidFill>
                <a:latin typeface="Public Sans"/>
                <a:ea typeface="Public Sans"/>
                <a:cs typeface="Public Sans"/>
                <a:sym typeface="Public Sans"/>
              </a:endParaRPr>
            </a:p>
            <a:p>
              <a:pPr algn="ctr">
                <a:lnSpc>
                  <a:spcPts val="1825"/>
                </a:lnSpc>
              </a:pPr>
              <a:r>
                <a:rPr lang="en-US" sz="1415" spc="-77">
                  <a:solidFill>
                    <a:srgbClr val="000000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Shipment Mode: First Class</a:t>
              </a:r>
            </a:p>
            <a:p>
              <a:pPr algn="ctr">
                <a:lnSpc>
                  <a:spcPts val="1825"/>
                </a:lnSpc>
              </a:pPr>
              <a:endParaRPr lang="en-US" sz="1415" spc="-77">
                <a:solidFill>
                  <a:srgbClr val="000000"/>
                </a:solidFill>
                <a:latin typeface="Public Sans"/>
                <a:ea typeface="Public Sans"/>
                <a:cs typeface="Public Sans"/>
                <a:sym typeface="Public Sans"/>
              </a:endParaRPr>
            </a:p>
            <a:p>
              <a:pPr algn="ctr">
                <a:lnSpc>
                  <a:spcPts val="1825"/>
                </a:lnSpc>
              </a:pPr>
              <a:r>
                <a:rPr lang="en-US" sz="1415" spc="-77">
                  <a:solidFill>
                    <a:srgbClr val="000000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Shipment Schedule (days): 79K</a:t>
              </a:r>
            </a:p>
            <a:p>
              <a:pPr algn="ctr">
                <a:lnSpc>
                  <a:spcPts val="1825"/>
                </a:lnSpc>
              </a:pPr>
              <a:endParaRPr lang="en-US" sz="1415" spc="-77">
                <a:solidFill>
                  <a:srgbClr val="000000"/>
                </a:solidFill>
                <a:latin typeface="Public Sans"/>
                <a:ea typeface="Public Sans"/>
                <a:cs typeface="Public Sans"/>
                <a:sym typeface="Public Sans"/>
              </a:endParaRPr>
            </a:p>
            <a:p>
              <a:pPr algn="ctr">
                <a:lnSpc>
                  <a:spcPts val="1825"/>
                </a:lnSpc>
              </a:pPr>
              <a:r>
                <a:rPr lang="en-US" sz="1415" spc="-77">
                  <a:solidFill>
                    <a:srgbClr val="000000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Status: Late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2249960" y="2506647"/>
            <a:ext cx="1645920" cy="2585166"/>
            <a:chOff x="0" y="0"/>
            <a:chExt cx="812800" cy="1276625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812800" cy="1276625"/>
            </a:xfrm>
            <a:custGeom>
              <a:avLst/>
              <a:gdLst/>
              <a:ahLst/>
              <a:cxnLst/>
              <a:rect l="l" t="t" r="r" b="b"/>
              <a:pathLst>
                <a:path w="812800" h="1276625">
                  <a:moveTo>
                    <a:pt x="0" y="0"/>
                  </a:moveTo>
                  <a:lnTo>
                    <a:pt x="812800" y="0"/>
                  </a:lnTo>
                  <a:lnTo>
                    <a:pt x="812800" y="1276625"/>
                  </a:lnTo>
                  <a:lnTo>
                    <a:pt x="0" y="1276625"/>
                  </a:lnTo>
                  <a:close/>
                </a:path>
              </a:pathLst>
            </a:custGeom>
            <a:solidFill>
              <a:srgbClr val="B4B4B4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19050"/>
              <a:ext cx="812800" cy="1295675"/>
            </a:xfrm>
            <a:prstGeom prst="rect">
              <a:avLst/>
            </a:prstGeom>
          </p:spPr>
          <p:txBody>
            <a:bodyPr lIns="27093" tIns="27093" rIns="27093" bIns="27093" rtlCol="0" anchor="ctr"/>
            <a:lstStyle/>
            <a:p>
              <a:pPr algn="ctr">
                <a:lnSpc>
                  <a:spcPts val="1825"/>
                </a:lnSpc>
              </a:pPr>
              <a:r>
                <a:rPr lang="en-US" sz="1415" spc="-77">
                  <a:solidFill>
                    <a:srgbClr val="000000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Number of Orders: 10,265</a:t>
              </a:r>
            </a:p>
            <a:p>
              <a:pPr algn="ctr">
                <a:lnSpc>
                  <a:spcPts val="1825"/>
                </a:lnSpc>
              </a:pPr>
              <a:endParaRPr lang="en-US" sz="1415" spc="-77">
                <a:solidFill>
                  <a:srgbClr val="000000"/>
                </a:solidFill>
                <a:latin typeface="Public Sans"/>
                <a:ea typeface="Public Sans"/>
                <a:cs typeface="Public Sans"/>
                <a:sym typeface="Public Sans"/>
              </a:endParaRPr>
            </a:p>
            <a:p>
              <a:pPr algn="ctr">
                <a:lnSpc>
                  <a:spcPts val="1825"/>
                </a:lnSpc>
              </a:pPr>
              <a:r>
                <a:rPr lang="en-US" sz="1415" spc="-77">
                  <a:solidFill>
                    <a:srgbClr val="000000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Order Quantity: 54K</a:t>
              </a:r>
            </a:p>
            <a:p>
              <a:pPr algn="ctr">
                <a:lnSpc>
                  <a:spcPts val="1825"/>
                </a:lnSpc>
              </a:pPr>
              <a:endParaRPr lang="en-US" sz="1415" spc="-77">
                <a:solidFill>
                  <a:srgbClr val="000000"/>
                </a:solidFill>
                <a:latin typeface="Public Sans"/>
                <a:ea typeface="Public Sans"/>
                <a:cs typeface="Public Sans"/>
                <a:sym typeface="Public Sans"/>
              </a:endParaRPr>
            </a:p>
            <a:p>
              <a:pPr algn="ctr">
                <a:lnSpc>
                  <a:spcPts val="1825"/>
                </a:lnSpc>
              </a:pPr>
              <a:r>
                <a:rPr lang="en-US" sz="1415" spc="-77">
                  <a:solidFill>
                    <a:srgbClr val="000000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Number of Customers: 7,414</a:t>
              </a:r>
            </a:p>
            <a:p>
              <a:pPr algn="ctr">
                <a:lnSpc>
                  <a:spcPts val="1825"/>
                </a:lnSpc>
              </a:pPr>
              <a:endParaRPr lang="en-US" sz="1415" spc="-77">
                <a:solidFill>
                  <a:srgbClr val="000000"/>
                </a:solidFill>
                <a:latin typeface="Public Sans"/>
                <a:ea typeface="Public Sans"/>
                <a:cs typeface="Public Sans"/>
                <a:sym typeface="Public Sans"/>
              </a:endParaRPr>
            </a:p>
            <a:p>
              <a:pPr algn="ctr">
                <a:lnSpc>
                  <a:spcPts val="1825"/>
                </a:lnSpc>
              </a:pPr>
              <a:r>
                <a:rPr lang="en-US" sz="1415" spc="-77">
                  <a:solidFill>
                    <a:srgbClr val="000000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Discounts Given: 520K$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8012386" y="2506647"/>
            <a:ext cx="1645920" cy="2585166"/>
            <a:chOff x="0" y="0"/>
            <a:chExt cx="812800" cy="1276625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812800" cy="1276625"/>
            </a:xfrm>
            <a:custGeom>
              <a:avLst/>
              <a:gdLst/>
              <a:ahLst/>
              <a:cxnLst/>
              <a:rect l="l" t="t" r="r" b="b"/>
              <a:pathLst>
                <a:path w="812800" h="1276625">
                  <a:moveTo>
                    <a:pt x="0" y="0"/>
                  </a:moveTo>
                  <a:lnTo>
                    <a:pt x="812800" y="0"/>
                  </a:lnTo>
                  <a:lnTo>
                    <a:pt x="812800" y="1276625"/>
                  </a:lnTo>
                  <a:lnTo>
                    <a:pt x="0" y="1276625"/>
                  </a:lnTo>
                  <a:close/>
                </a:path>
              </a:pathLst>
            </a:custGeom>
            <a:solidFill>
              <a:srgbClr val="B4B4B4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19050"/>
              <a:ext cx="812800" cy="1295675"/>
            </a:xfrm>
            <a:prstGeom prst="rect">
              <a:avLst/>
            </a:prstGeom>
          </p:spPr>
          <p:txBody>
            <a:bodyPr lIns="27093" tIns="27093" rIns="27093" bIns="27093" rtlCol="0" anchor="ctr"/>
            <a:lstStyle/>
            <a:p>
              <a:pPr algn="ctr">
                <a:lnSpc>
                  <a:spcPts val="1857"/>
                </a:lnSpc>
              </a:pPr>
              <a:r>
                <a:rPr lang="en-US" sz="1439" spc="-79">
                  <a:solidFill>
                    <a:srgbClr val="000000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Top Category: Fishing</a:t>
              </a:r>
            </a:p>
            <a:p>
              <a:pPr algn="ctr">
                <a:lnSpc>
                  <a:spcPts val="1857"/>
                </a:lnSpc>
              </a:pPr>
              <a:endParaRPr lang="en-US" sz="1439" spc="-79">
                <a:solidFill>
                  <a:srgbClr val="000000"/>
                </a:solidFill>
                <a:latin typeface="Public Sans"/>
                <a:ea typeface="Public Sans"/>
                <a:cs typeface="Public Sans"/>
                <a:sym typeface="Public Sans"/>
              </a:endParaRPr>
            </a:p>
            <a:p>
              <a:pPr algn="ctr">
                <a:lnSpc>
                  <a:spcPts val="1857"/>
                </a:lnSpc>
              </a:pPr>
              <a:r>
                <a:rPr lang="en-US" sz="1439" spc="-79">
                  <a:solidFill>
                    <a:srgbClr val="000000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Top Product: Field &amp; Sports Man 16 Gun Fire Safe</a:t>
              </a:r>
            </a:p>
            <a:p>
              <a:pPr algn="ctr">
                <a:lnSpc>
                  <a:spcPts val="1857"/>
                </a:lnSpc>
              </a:pPr>
              <a:endParaRPr lang="en-US" sz="1439" spc="-79">
                <a:solidFill>
                  <a:srgbClr val="000000"/>
                </a:solidFill>
                <a:latin typeface="Public Sans"/>
                <a:ea typeface="Public Sans"/>
                <a:cs typeface="Public Sans"/>
                <a:sym typeface="Public Sans"/>
              </a:endParaRPr>
            </a:p>
            <a:p>
              <a:pPr algn="ctr">
                <a:lnSpc>
                  <a:spcPts val="1857"/>
                </a:lnSpc>
              </a:pPr>
              <a:r>
                <a:rPr lang="en-US" sz="1439" spc="-79">
                  <a:solidFill>
                    <a:srgbClr val="000000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Warehouse Country: Puerto Rico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1523624" y="5281042"/>
            <a:ext cx="7102737" cy="2977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5"/>
              </a:lnSpc>
              <a:spcBef>
                <a:spcPct val="0"/>
              </a:spcBef>
            </a:pPr>
            <a:r>
              <a:rPr lang="en-US" sz="1841" spc="-101">
                <a:gradFill>
                  <a:gsLst>
                    <a:gs pos="0">
                      <a:srgbClr val="FFF7AD">
                        <a:alpha val="100000"/>
                      </a:srgbClr>
                    </a:gs>
                    <a:gs pos="100000">
                      <a:srgbClr val="FFA9F9">
                        <a:alpha val="100000"/>
                      </a:srgbClr>
                    </a:gs>
                  </a:gsLst>
                  <a:lin ang="0"/>
                </a:gradFill>
                <a:latin typeface="Public Sans"/>
                <a:ea typeface="Public Sans"/>
                <a:cs typeface="Public Sans"/>
                <a:sym typeface="Public Sans"/>
              </a:rPr>
              <a:t>Late Shipment Rate (56%) → Indicates a significant delivery delay issue.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629125" y="5631974"/>
            <a:ext cx="6891734" cy="2976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7"/>
              </a:lnSpc>
              <a:spcBef>
                <a:spcPct val="0"/>
              </a:spcBef>
            </a:pPr>
            <a:r>
              <a:rPr lang="en-US" sz="1788" spc="-98">
                <a:gradFill>
                  <a:gsLst>
                    <a:gs pos="0">
                      <a:srgbClr val="FFF7AD">
                        <a:alpha val="100000"/>
                      </a:srgbClr>
                    </a:gs>
                    <a:gs pos="100000">
                      <a:srgbClr val="FFA9F9">
                        <a:alpha val="100000"/>
                      </a:srgbClr>
                    </a:gs>
                  </a:gsLst>
                  <a:lin ang="0"/>
                </a:gradFill>
                <a:latin typeface="Public Sans"/>
                <a:ea typeface="Public Sans"/>
                <a:cs typeface="Public Sans"/>
                <a:sym typeface="Public Sans"/>
              </a:rPr>
              <a:t>Top Product / Top Category → Highlights the main contributors to revenue.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2357781" y="5982373"/>
            <a:ext cx="5482114" cy="2976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7"/>
              </a:lnSpc>
              <a:spcBef>
                <a:spcPct val="0"/>
              </a:spcBef>
            </a:pPr>
            <a:r>
              <a:rPr lang="en-US" sz="1788" spc="-98">
                <a:gradFill>
                  <a:gsLst>
                    <a:gs pos="0">
                      <a:srgbClr val="FFF7AD">
                        <a:alpha val="100000"/>
                      </a:srgbClr>
                    </a:gs>
                    <a:gs pos="100000">
                      <a:srgbClr val="FFA9F9">
                        <a:alpha val="100000"/>
                      </a:srgbClr>
                    </a:gs>
                  </a:gsLst>
                  <a:lin ang="0"/>
                </a:gradFill>
                <a:latin typeface="Public Sans"/>
                <a:ea typeface="Public Sans"/>
                <a:cs typeface="Public Sans"/>
                <a:sym typeface="Public Sans"/>
              </a:rPr>
              <a:t>Profit Margin (71%) → Shows efficient profitability per sale.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6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4243951" y="5544722"/>
            <a:ext cx="98807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Box 4"/>
          <p:cNvSpPr txBox="1"/>
          <p:nvPr/>
        </p:nvSpPr>
        <p:spPr>
          <a:xfrm>
            <a:off x="975332" y="5832522"/>
            <a:ext cx="3270811" cy="9626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2486"/>
              </a:lnSpc>
              <a:spcBef>
                <a:spcPct val="0"/>
              </a:spcBef>
            </a:pPr>
            <a:r>
              <a:rPr lang="en-US" sz="2414" spc="-84">
                <a:gradFill>
                  <a:gsLst>
                    <a:gs pos="0">
                      <a:srgbClr val="FF5757">
                        <a:alpha val="100000"/>
                      </a:srgbClr>
                    </a:gs>
                    <a:gs pos="100000">
                      <a:srgbClr val="8C52FF">
                        <a:alpha val="100000"/>
                      </a:srgbClr>
                    </a:gs>
                  </a:gsLst>
                  <a:lin ang="0"/>
                </a:gradFill>
                <a:latin typeface="Public Sans"/>
                <a:ea typeface="Public Sans"/>
                <a:cs typeface="Public Sans"/>
                <a:sym typeface="Public Sans"/>
              </a:rPr>
              <a:t>Sh</a:t>
            </a:r>
            <a:r>
              <a:rPr lang="en-US" sz="2414" u="none" strike="noStrike" spc="-84">
                <a:gradFill>
                  <a:gsLst>
                    <a:gs pos="0">
                      <a:srgbClr val="FF5757">
                        <a:alpha val="100000"/>
                      </a:srgbClr>
                    </a:gs>
                    <a:gs pos="100000">
                      <a:srgbClr val="8C52FF">
                        <a:alpha val="100000"/>
                      </a:srgbClr>
                    </a:gs>
                  </a:gsLst>
                  <a:lin ang="0"/>
                </a:gradFill>
                <a:latin typeface="Public Sans"/>
                <a:ea typeface="Public Sans"/>
                <a:cs typeface="Public Sans"/>
                <a:sym typeface="Public Sans"/>
              </a:rPr>
              <a:t>ows net sales and profit for each shipment by month.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946808" y="5822997"/>
            <a:ext cx="3767749" cy="12291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1915"/>
              </a:lnSpc>
              <a:spcBef>
                <a:spcPct val="0"/>
              </a:spcBef>
            </a:pPr>
            <a:r>
              <a:rPr lang="en-US" sz="1860" spc="-65">
                <a:gradFill>
                  <a:gsLst>
                    <a:gs pos="0">
                      <a:srgbClr val="FF5757">
                        <a:alpha val="100000"/>
                      </a:srgbClr>
                    </a:gs>
                    <a:gs pos="100000">
                      <a:srgbClr val="8C52FF">
                        <a:alpha val="100000"/>
                      </a:srgbClr>
                    </a:gs>
                  </a:gsLst>
                  <a:lin ang="0"/>
                </a:gradFill>
                <a:latin typeface="Public Sans"/>
                <a:ea typeface="Public Sans"/>
                <a:cs typeface="Public Sans"/>
                <a:sym typeface="Public Sans"/>
              </a:rPr>
              <a:t>September had</a:t>
            </a:r>
            <a:r>
              <a:rPr lang="en-US" sz="1860" u="none" strike="noStrike" spc="-65">
                <a:gradFill>
                  <a:gsLst>
                    <a:gs pos="0">
                      <a:srgbClr val="FF5757">
                        <a:alpha val="100000"/>
                      </a:srgbClr>
                    </a:gs>
                    <a:gs pos="100000">
                      <a:srgbClr val="8C52FF">
                        <a:alpha val="100000"/>
                      </a:srgbClr>
                    </a:gs>
                  </a:gsLst>
                  <a:lin ang="0"/>
                </a:gradFill>
                <a:latin typeface="Public Sans"/>
                <a:ea typeface="Public Sans"/>
                <a:cs typeface="Public Sans"/>
                <a:sym typeface="Public Sans"/>
              </a:rPr>
              <a:t> the highest sales and profit, highlighting the peak performance period for shipments and helping plan for upcoming months.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3625958" y="272682"/>
            <a:ext cx="2628285" cy="5527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4058"/>
              </a:lnSpc>
              <a:spcBef>
                <a:spcPct val="0"/>
              </a:spcBef>
            </a:pPr>
            <a:r>
              <a:rPr lang="en-US" sz="3939" spc="-137">
                <a:gradFill>
                  <a:gsLst>
                    <a:gs pos="0">
                      <a:srgbClr val="FFF7AD">
                        <a:alpha val="100000"/>
                      </a:srgbClr>
                    </a:gs>
                    <a:gs pos="100000">
                      <a:srgbClr val="FFA9F9">
                        <a:alpha val="100000"/>
                      </a:srgbClr>
                    </a:gs>
                  </a:gsLst>
                  <a:lin ang="0"/>
                </a:gradFill>
                <a:latin typeface="Public Sans"/>
                <a:ea typeface="Public Sans"/>
                <a:cs typeface="Public Sans"/>
                <a:sym typeface="Public Sans"/>
              </a:rPr>
              <a:t>I</a:t>
            </a:r>
            <a:r>
              <a:rPr lang="en-US" sz="3939" u="none" strike="noStrike" spc="-137">
                <a:gradFill>
                  <a:gsLst>
                    <a:gs pos="0">
                      <a:srgbClr val="FFF7AD">
                        <a:alpha val="100000"/>
                      </a:srgbClr>
                    </a:gs>
                    <a:gs pos="100000">
                      <a:srgbClr val="FFA9F9">
                        <a:alpha val="100000"/>
                      </a:srgbClr>
                    </a:gs>
                  </a:gsLst>
                  <a:lin ang="0"/>
                </a:gradFill>
                <a:latin typeface="Public Sans"/>
                <a:ea typeface="Public Sans"/>
                <a:cs typeface="Public Sans"/>
                <a:sym typeface="Public Sans"/>
              </a:rPr>
              <a:t>nsights</a:t>
            </a:r>
          </a:p>
        </p:txBody>
      </p:sp>
      <p:pic>
        <p:nvPicPr>
          <p:cNvPr id="8" name="Picture 7" descr="A graph of the month">
            <a:extLst>
              <a:ext uri="{FF2B5EF4-FFF2-40B4-BE49-F238E27FC236}">
                <a16:creationId xmlns:a16="http://schemas.microsoft.com/office/drawing/2014/main" id="{DCA468D2-25E0-AF0F-FAC5-0CC0D084F5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8091" y="1541551"/>
            <a:ext cx="8297433" cy="275310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6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4146516" y="1697341"/>
            <a:ext cx="1132821" cy="466956"/>
            <a:chOff x="0" y="0"/>
            <a:chExt cx="1168091" cy="48149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68091" cy="481494"/>
            </a:xfrm>
            <a:custGeom>
              <a:avLst/>
              <a:gdLst/>
              <a:ahLst/>
              <a:cxnLst/>
              <a:rect l="l" t="t" r="r" b="b"/>
              <a:pathLst>
                <a:path w="1168091" h="481494">
                  <a:moveTo>
                    <a:pt x="1168091" y="240747"/>
                  </a:moveTo>
                  <a:lnTo>
                    <a:pt x="761691" y="0"/>
                  </a:lnTo>
                  <a:lnTo>
                    <a:pt x="761691" y="203200"/>
                  </a:lnTo>
                  <a:lnTo>
                    <a:pt x="0" y="203200"/>
                  </a:lnTo>
                  <a:lnTo>
                    <a:pt x="0" y="278294"/>
                  </a:lnTo>
                  <a:lnTo>
                    <a:pt x="761691" y="278294"/>
                  </a:lnTo>
                  <a:lnTo>
                    <a:pt x="761691" y="481494"/>
                  </a:lnTo>
                  <a:lnTo>
                    <a:pt x="1168091" y="240747"/>
                  </a:lnTo>
                  <a:close/>
                </a:path>
              </a:pathLst>
            </a:custGeom>
            <a:solidFill>
              <a:srgbClr val="B4B4B4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193675"/>
              <a:ext cx="1066491" cy="84619"/>
            </a:xfrm>
            <a:prstGeom prst="rect">
              <a:avLst/>
            </a:prstGeom>
          </p:spPr>
          <p:txBody>
            <a:bodyPr lIns="27093" tIns="27093" rIns="27093" bIns="27093" rtlCol="0" anchor="ctr"/>
            <a:lstStyle/>
            <a:p>
              <a:pPr algn="ctr">
                <a:lnSpc>
                  <a:spcPts val="999"/>
                </a:lnSpc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70748" y="1503745"/>
            <a:ext cx="3818288" cy="2000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53"/>
              </a:lnSpc>
            </a:pPr>
            <a:endParaRPr/>
          </a:p>
          <a:p>
            <a:pPr algn="l">
              <a:lnSpc>
                <a:spcPts val="1553"/>
              </a:lnSpc>
            </a:pPr>
            <a:endParaRPr/>
          </a:p>
          <a:p>
            <a:pPr algn="l">
              <a:lnSpc>
                <a:spcPts val="1553"/>
              </a:lnSpc>
            </a:pPr>
            <a:r>
              <a:rPr lang="en-US" sz="1706" b="1">
                <a:solidFill>
                  <a:srgbClr val="B4B4B4"/>
                </a:solidFill>
                <a:latin typeface="Poppins Bold"/>
                <a:ea typeface="Poppins Bold"/>
                <a:cs typeface="Poppins Bold"/>
                <a:sym typeface="Poppins Bold"/>
              </a:rPr>
              <a:t>Shows how orders are shipped by method.</a:t>
            </a:r>
          </a:p>
          <a:p>
            <a:pPr algn="l">
              <a:lnSpc>
                <a:spcPts val="1358"/>
              </a:lnSpc>
            </a:pPr>
            <a:endParaRPr lang="en-US" sz="1706" b="1">
              <a:solidFill>
                <a:srgbClr val="B4B4B4"/>
              </a:solidFill>
              <a:latin typeface="Poppins Bold"/>
              <a:ea typeface="Poppins Bold"/>
              <a:cs typeface="Poppins Bold"/>
              <a:sym typeface="Poppins Bold"/>
            </a:endParaRPr>
          </a:p>
          <a:p>
            <a:pPr marL="403010" lvl="1" indent="-201505" algn="l">
              <a:lnSpc>
                <a:spcPts val="1698"/>
              </a:lnSpc>
              <a:buFont typeface="Arial"/>
              <a:buChar char="•"/>
            </a:pPr>
            <a:r>
              <a:rPr lang="en-US" sz="1866" b="1">
                <a:gradFill>
                  <a:gsLst>
                    <a:gs pos="0">
                      <a:srgbClr val="FF5757">
                        <a:alpha val="100000"/>
                      </a:srgbClr>
                    </a:gs>
                    <a:gs pos="100000">
                      <a:srgbClr val="8C52FF">
                        <a:alpha val="100000"/>
                      </a:srgbClr>
                    </a:gs>
                  </a:gsLst>
                  <a:lin ang="0"/>
                </a:gradFill>
                <a:latin typeface="Poppins Bold"/>
                <a:ea typeface="Poppins Bold"/>
                <a:cs typeface="Poppins Bold"/>
                <a:sym typeface="Poppins Bold"/>
              </a:rPr>
              <a:t>Most orders use Standard Class. This helps improve shipping strategies and offer faster options</a:t>
            </a:r>
          </a:p>
          <a:p>
            <a:pPr algn="l">
              <a:lnSpc>
                <a:spcPts val="1358"/>
              </a:lnSpc>
            </a:pPr>
            <a:endParaRPr lang="en-US" sz="1866" b="1">
              <a:gradFill>
                <a:gsLst>
                  <a:gs pos="0">
                    <a:srgbClr val="FF5757">
                      <a:alpha val="100000"/>
                    </a:srgbClr>
                  </a:gs>
                  <a:gs pos="100000">
                    <a:srgbClr val="8C52FF">
                      <a:alpha val="100000"/>
                    </a:srgbClr>
                  </a:gs>
                </a:gsLst>
                <a:lin ang="0"/>
              </a:gra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grpSp>
        <p:nvGrpSpPr>
          <p:cNvPr id="8" name="Group 8"/>
          <p:cNvGrpSpPr/>
          <p:nvPr/>
        </p:nvGrpSpPr>
        <p:grpSpPr>
          <a:xfrm>
            <a:off x="4789479" y="4698022"/>
            <a:ext cx="979715" cy="568576"/>
            <a:chOff x="0" y="0"/>
            <a:chExt cx="915752" cy="531455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915752" cy="531455"/>
            </a:xfrm>
            <a:custGeom>
              <a:avLst/>
              <a:gdLst/>
              <a:ahLst/>
              <a:cxnLst/>
              <a:rect l="l" t="t" r="r" b="b"/>
              <a:pathLst>
                <a:path w="915752" h="531455">
                  <a:moveTo>
                    <a:pt x="0" y="265728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915752" y="203200"/>
                  </a:lnTo>
                  <a:lnTo>
                    <a:pt x="915752" y="328255"/>
                  </a:lnTo>
                  <a:lnTo>
                    <a:pt x="406400" y="328255"/>
                  </a:lnTo>
                  <a:lnTo>
                    <a:pt x="406400" y="531455"/>
                  </a:lnTo>
                  <a:lnTo>
                    <a:pt x="0" y="265728"/>
                  </a:lnTo>
                  <a:close/>
                </a:path>
              </a:pathLst>
            </a:custGeom>
            <a:solidFill>
              <a:srgbClr val="B4B4B4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01600" y="193675"/>
              <a:ext cx="814152" cy="134580"/>
            </a:xfrm>
            <a:prstGeom prst="rect">
              <a:avLst/>
            </a:prstGeom>
          </p:spPr>
          <p:txBody>
            <a:bodyPr lIns="27093" tIns="27093" rIns="27093" bIns="27093" rtlCol="0" anchor="ctr"/>
            <a:lstStyle/>
            <a:p>
              <a:pPr algn="ctr">
                <a:lnSpc>
                  <a:spcPts val="999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5845394" y="3670483"/>
            <a:ext cx="3803396" cy="23153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10"/>
              </a:lnSpc>
            </a:pPr>
            <a:endParaRPr/>
          </a:p>
          <a:p>
            <a:pPr algn="l">
              <a:lnSpc>
                <a:spcPts val="1601"/>
              </a:lnSpc>
            </a:pPr>
            <a:endParaRPr/>
          </a:p>
          <a:p>
            <a:pPr algn="l">
              <a:lnSpc>
                <a:spcPts val="1601"/>
              </a:lnSpc>
            </a:pPr>
            <a:r>
              <a:rPr lang="en-US" sz="1759" b="1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FF914D">
                        <a:alpha val="100000"/>
                      </a:srgbClr>
                    </a:gs>
                  </a:gsLst>
                  <a:lin ang="0"/>
                </a:gradFill>
                <a:latin typeface="Poppins Bold"/>
                <a:ea typeface="Poppins Bold"/>
                <a:cs typeface="Poppins Bold"/>
                <a:sym typeface="Poppins Bold"/>
              </a:rPr>
              <a:t>Shows the change in net profit margin over the years</a:t>
            </a:r>
          </a:p>
          <a:p>
            <a:pPr algn="l">
              <a:lnSpc>
                <a:spcPts val="1310"/>
              </a:lnSpc>
            </a:pPr>
            <a:endParaRPr lang="en-US" sz="1759" b="1">
              <a:gradFill>
                <a:gsLst>
                  <a:gs pos="0">
                    <a:srgbClr val="8C52FF">
                      <a:alpha val="100000"/>
                    </a:srgbClr>
                  </a:gs>
                  <a:gs pos="100000">
                    <a:srgbClr val="FF914D">
                      <a:alpha val="100000"/>
                    </a:srgbClr>
                  </a:gs>
                </a:gsLst>
                <a:lin ang="0"/>
              </a:gradFill>
              <a:latin typeface="Poppins Bold"/>
              <a:ea typeface="Poppins Bold"/>
              <a:cs typeface="Poppins Bold"/>
              <a:sym typeface="Poppins Bold"/>
            </a:endParaRPr>
          </a:p>
          <a:p>
            <a:pPr algn="l">
              <a:lnSpc>
                <a:spcPts val="1553"/>
              </a:lnSpc>
            </a:pPr>
            <a:r>
              <a:rPr lang="en-US" sz="1706" b="1">
                <a:gradFill>
                  <a:gsLst>
                    <a:gs pos="0">
                      <a:srgbClr val="FFF7AD">
                        <a:alpha val="100000"/>
                      </a:srgbClr>
                    </a:gs>
                    <a:gs pos="100000">
                      <a:srgbClr val="FFA9F9">
                        <a:alpha val="100000"/>
                      </a:srgbClr>
                    </a:gs>
                  </a:gsLst>
                  <a:lin ang="0"/>
                </a:gradFill>
                <a:latin typeface="Poppins Bold"/>
                <a:ea typeface="Poppins Bold"/>
                <a:cs typeface="Poppins Bold"/>
                <a:sym typeface="Poppins Bold"/>
              </a:rPr>
              <a:t>The profit margin has been decreasing since 2015, indicating higher costs or lower prices. The company should review strategies to improve efficiency and reduce costs.</a:t>
            </a:r>
          </a:p>
          <a:p>
            <a:pPr algn="l">
              <a:lnSpc>
                <a:spcPts val="1553"/>
              </a:lnSpc>
            </a:pPr>
            <a:endParaRPr lang="en-US" sz="1706" b="1">
              <a:gradFill>
                <a:gsLst>
                  <a:gs pos="0">
                    <a:srgbClr val="FFF7AD">
                      <a:alpha val="100000"/>
                    </a:srgbClr>
                  </a:gs>
                  <a:gs pos="100000">
                    <a:srgbClr val="FFA9F9">
                      <a:alpha val="100000"/>
                    </a:srgbClr>
                  </a:gs>
                </a:gsLst>
                <a:lin ang="0"/>
              </a:gra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pic>
        <p:nvPicPr>
          <p:cNvPr id="13" name="Picture 12" descr="A bar graph with text&#10;&#10;AI-generated content may be incorrect.">
            <a:extLst>
              <a:ext uri="{FF2B5EF4-FFF2-40B4-BE49-F238E27FC236}">
                <a16:creationId xmlns:a16="http://schemas.microsoft.com/office/drawing/2014/main" id="{0E0F0284-9F53-AC11-5B66-8B67F93825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36817" y="1178322"/>
            <a:ext cx="3791479" cy="1971950"/>
          </a:xfrm>
          <a:prstGeom prst="rect">
            <a:avLst/>
          </a:prstGeom>
        </p:spPr>
      </p:pic>
      <p:pic>
        <p:nvPicPr>
          <p:cNvPr id="15" name="Picture 14" descr="A graph with a line going up&#10;&#10;AI-generated content may be incorrect.">
            <a:extLst>
              <a:ext uri="{FF2B5EF4-FFF2-40B4-BE49-F238E27FC236}">
                <a16:creationId xmlns:a16="http://schemas.microsoft.com/office/drawing/2014/main" id="{EC85E3CC-40F0-042A-74A1-4A2B4C335E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261" y="4042483"/>
            <a:ext cx="4363059" cy="194337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6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7072150" y="524795"/>
            <a:ext cx="2578435" cy="2220215"/>
            <a:chOff x="0" y="0"/>
            <a:chExt cx="969625" cy="834915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969625" cy="834915"/>
            </a:xfrm>
            <a:custGeom>
              <a:avLst/>
              <a:gdLst/>
              <a:ahLst/>
              <a:cxnLst/>
              <a:rect l="l" t="t" r="r" b="b"/>
              <a:pathLst>
                <a:path w="969625" h="834915">
                  <a:moveTo>
                    <a:pt x="969625" y="0"/>
                  </a:moveTo>
                  <a:lnTo>
                    <a:pt x="0" y="0"/>
                  </a:lnTo>
                  <a:lnTo>
                    <a:pt x="0" y="646955"/>
                  </a:lnTo>
                  <a:lnTo>
                    <a:pt x="157480" y="646955"/>
                  </a:lnTo>
                  <a:lnTo>
                    <a:pt x="157480" y="834915"/>
                  </a:lnTo>
                  <a:lnTo>
                    <a:pt x="463550" y="646955"/>
                  </a:lnTo>
                  <a:lnTo>
                    <a:pt x="969625" y="646955"/>
                  </a:lnTo>
                  <a:lnTo>
                    <a:pt x="969625" y="0"/>
                  </a:lnTo>
                  <a:close/>
                </a:path>
              </a:pathLst>
            </a:custGeom>
            <a:solidFill>
              <a:srgbClr val="B4B4B4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28575"/>
              <a:ext cx="969625" cy="672990"/>
            </a:xfrm>
            <a:prstGeom prst="rect">
              <a:avLst/>
            </a:prstGeom>
          </p:spPr>
          <p:txBody>
            <a:bodyPr lIns="31608" tIns="31608" rIns="31608" bIns="31608" rtlCol="0" anchor="ctr"/>
            <a:lstStyle/>
            <a:p>
              <a:pPr algn="ctr">
                <a:lnSpc>
                  <a:spcPts val="2129"/>
                </a:lnSpc>
              </a:pPr>
              <a:r>
                <a:rPr lang="en-US" sz="1650" spc="-90">
                  <a:solidFill>
                    <a:srgbClr val="000000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Shows the hierarchy of net sales from product departments down to sub-departments and individual orders.</a:t>
              </a:r>
            </a:p>
            <a:p>
              <a:pPr algn="ctr">
                <a:lnSpc>
                  <a:spcPts val="2129"/>
                </a:lnSpc>
              </a:pPr>
              <a:endParaRPr lang="en-US" sz="1650" spc="-90">
                <a:solidFill>
                  <a:srgbClr val="000000"/>
                </a:solidFill>
                <a:latin typeface="Public Sans"/>
                <a:ea typeface="Public Sans"/>
                <a:cs typeface="Public Sans"/>
                <a:sym typeface="Public Sans"/>
              </a:endParaRPr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423858" y="859364"/>
            <a:ext cx="6335395" cy="14434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3"/>
              </a:lnSpc>
              <a:spcBef>
                <a:spcPct val="0"/>
              </a:spcBef>
            </a:pPr>
            <a:r>
              <a:rPr lang="en-US" sz="2741" spc="-95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FF914D">
                        <a:alpha val="100000"/>
                      </a:srgbClr>
                    </a:gs>
                  </a:gsLst>
                  <a:lin ang="0"/>
                </a:gradFill>
                <a:latin typeface="Public Sans"/>
                <a:ea typeface="Public Sans"/>
                <a:cs typeface="Public Sans"/>
                <a:sym typeface="Public Sans"/>
              </a:rPr>
              <a:t>Fan Shop is the top contributor to net sales, led by Field &amp; Stream Sports and order 27536, highlighting the key revenue drivers.</a:t>
            </a:r>
          </a:p>
        </p:txBody>
      </p:sp>
      <p:sp>
        <p:nvSpPr>
          <p:cNvPr id="7" name="AutoShape 7"/>
          <p:cNvSpPr/>
          <p:nvPr/>
        </p:nvSpPr>
        <p:spPr>
          <a:xfrm>
            <a:off x="4497128" y="2041231"/>
            <a:ext cx="1466703" cy="709934"/>
          </a:xfrm>
          <a:prstGeom prst="line">
            <a:avLst/>
          </a:prstGeom>
          <a:ln w="19050" cap="flat">
            <a:gradFill>
              <a:gsLst>
                <a:gs pos="0">
                  <a:srgbClr val="FFF7AD">
                    <a:alpha val="100000"/>
                  </a:srgbClr>
                </a:gs>
                <a:gs pos="100000">
                  <a:srgbClr val="FFA9F9">
                    <a:alpha val="100000"/>
                  </a:srgbClr>
                </a:gs>
              </a:gsLst>
              <a:lin ang="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7BB6C9B-2883-0E94-2432-C5ABD39BF2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276600"/>
            <a:ext cx="8354591" cy="287695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6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7315072" y="3264771"/>
            <a:ext cx="608799" cy="532699"/>
            <a:chOff x="0" y="0"/>
            <a:chExt cx="812800" cy="7112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711200"/>
                  </a:moveTo>
                  <a:lnTo>
                    <a:pt x="812800" y="0"/>
                  </a:lnTo>
                  <a:lnTo>
                    <a:pt x="0" y="0"/>
                  </a:lnTo>
                  <a:lnTo>
                    <a:pt x="406400" y="711200"/>
                  </a:lnTo>
                  <a:close/>
                </a:path>
              </a:pathLst>
            </a:custGeom>
            <a:solidFill>
              <a:srgbClr val="B4B4B4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127000" y="31750"/>
              <a:ext cx="558800" cy="349250"/>
            </a:xfrm>
            <a:prstGeom prst="rect">
              <a:avLst/>
            </a:prstGeom>
          </p:spPr>
          <p:txBody>
            <a:bodyPr lIns="30921" tIns="30921" rIns="30921" bIns="30921" rtlCol="0" anchor="ctr"/>
            <a:lstStyle/>
            <a:p>
              <a:pPr algn="ctr">
                <a:lnSpc>
                  <a:spcPts val="1141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892411" y="937365"/>
            <a:ext cx="622289" cy="483731"/>
            <a:chOff x="0" y="0"/>
            <a:chExt cx="416399" cy="32368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16399" cy="323684"/>
            </a:xfrm>
            <a:custGeom>
              <a:avLst/>
              <a:gdLst/>
              <a:ahLst/>
              <a:cxnLst/>
              <a:rect l="l" t="t" r="r" b="b"/>
              <a:pathLst>
                <a:path w="416399" h="323684">
                  <a:moveTo>
                    <a:pt x="208199" y="0"/>
                  </a:moveTo>
                  <a:lnTo>
                    <a:pt x="416399" y="323684"/>
                  </a:lnTo>
                  <a:lnTo>
                    <a:pt x="0" y="323684"/>
                  </a:lnTo>
                  <a:lnTo>
                    <a:pt x="208199" y="0"/>
                  </a:lnTo>
                  <a:close/>
                </a:path>
              </a:pathLst>
            </a:custGeom>
            <a:solidFill>
              <a:srgbClr val="B4B4B4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65062" y="131232"/>
              <a:ext cx="286274" cy="169332"/>
            </a:xfrm>
            <a:prstGeom prst="rect">
              <a:avLst/>
            </a:prstGeom>
          </p:spPr>
          <p:txBody>
            <a:bodyPr lIns="30921" tIns="30921" rIns="30921" bIns="30921" rtlCol="0" anchor="ctr"/>
            <a:lstStyle/>
            <a:p>
              <a:pPr algn="ctr">
                <a:lnSpc>
                  <a:spcPts val="1141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482568" y="353971"/>
            <a:ext cx="4254608" cy="554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1"/>
              </a:lnSpc>
              <a:spcBef>
                <a:spcPct val="0"/>
              </a:spcBef>
            </a:pPr>
            <a:r>
              <a:rPr lang="en-US" sz="1675" spc="-92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Apparel has the highest storage cost (~$23,400).</a:t>
            </a:r>
          </a:p>
          <a:p>
            <a:pPr algn="ctr">
              <a:lnSpc>
                <a:spcPts val="2161"/>
              </a:lnSpc>
              <a:spcBef>
                <a:spcPct val="0"/>
              </a:spcBef>
            </a:pPr>
            <a:r>
              <a:rPr lang="en-US" sz="1675" spc="-92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Health &amp; Beauty has the lowest cost (~$3.4).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1794741" y="4992662"/>
            <a:ext cx="622289" cy="544503"/>
            <a:chOff x="0" y="0"/>
            <a:chExt cx="812800" cy="711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711200"/>
                  </a:moveTo>
                  <a:lnTo>
                    <a:pt x="812800" y="0"/>
                  </a:lnTo>
                  <a:lnTo>
                    <a:pt x="0" y="0"/>
                  </a:lnTo>
                  <a:lnTo>
                    <a:pt x="406400" y="711200"/>
                  </a:lnTo>
                  <a:close/>
                </a:path>
              </a:pathLst>
            </a:custGeom>
            <a:solidFill>
              <a:srgbClr val="B4B4B4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27000" y="31750"/>
              <a:ext cx="558800" cy="349250"/>
            </a:xfrm>
            <a:prstGeom prst="rect">
              <a:avLst/>
            </a:prstGeom>
          </p:spPr>
          <p:txBody>
            <a:bodyPr lIns="30921" tIns="30921" rIns="30921" bIns="30921" rtlCol="0" anchor="ctr"/>
            <a:lstStyle/>
            <a:p>
              <a:pPr algn="ctr">
                <a:lnSpc>
                  <a:spcPts val="1141"/>
                </a:lnSpc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398021" y="5518116"/>
            <a:ext cx="3291803" cy="15348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3"/>
              </a:lnSpc>
              <a:spcBef>
                <a:spcPct val="0"/>
              </a:spcBef>
            </a:pPr>
            <a:r>
              <a:rPr lang="en-US" sz="1615" spc="-88">
                <a:gradFill>
                  <a:gsLst>
                    <a:gs pos="0">
                      <a:srgbClr val="FFF7AD">
                        <a:alpha val="100000"/>
                      </a:srgbClr>
                    </a:gs>
                    <a:gs pos="100000">
                      <a:srgbClr val="FFA9F9">
                        <a:alpha val="100000"/>
                      </a:srgbClr>
                    </a:gs>
                  </a:gsLst>
                  <a:lin ang="0"/>
                </a:gradFill>
                <a:latin typeface="Public Sans"/>
                <a:ea typeface="Public Sans"/>
                <a:cs typeface="Public Sans"/>
                <a:sym typeface="Public Sans"/>
              </a:rPr>
              <a:t>Conclusion</a:t>
            </a:r>
          </a:p>
          <a:p>
            <a:pPr algn="ctr">
              <a:lnSpc>
                <a:spcPts val="2554"/>
              </a:lnSpc>
              <a:spcBef>
                <a:spcPct val="0"/>
              </a:spcBef>
            </a:pPr>
            <a:r>
              <a:rPr lang="en-US" sz="1980" spc="-108">
                <a:gradFill>
                  <a:gsLst>
                    <a:gs pos="0">
                      <a:srgbClr val="FFF7AD">
                        <a:alpha val="100000"/>
                      </a:srgbClr>
                    </a:gs>
                    <a:gs pos="100000">
                      <a:srgbClr val="FFA9F9">
                        <a:alpha val="100000"/>
                      </a:srgbClr>
                    </a:gs>
                  </a:gsLst>
                  <a:lin ang="0"/>
                </a:gradFill>
                <a:latin typeface="Public Sans"/>
                <a:ea typeface="Public Sans"/>
                <a:cs typeface="Public Sans"/>
                <a:sym typeface="Public Sans"/>
              </a:rPr>
              <a:t>The chart shows that storage cost is much higher in Apparel and very low in Health &amp; Beauty.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5345072" y="3905399"/>
            <a:ext cx="4267765" cy="21599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1"/>
              </a:lnSpc>
              <a:spcBef>
                <a:spcPct val="0"/>
              </a:spcBef>
            </a:pPr>
            <a:r>
              <a:rPr lang="en-US" sz="2218" spc="-122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Fan Shop has the highest inventory cost per unit (183.54), while Footwear is the lowest (41.689). This helps identify departments with higher unit costs for better inventory management.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56C2683-8D92-D9EB-FA55-33AC751717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289" y="1848331"/>
            <a:ext cx="4334480" cy="243874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95740C1-0F42-DF27-1123-679E7552AA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3095" y="609908"/>
            <a:ext cx="4143953" cy="247684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6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/>
          <p:cNvSpPr/>
          <p:nvPr/>
        </p:nvSpPr>
        <p:spPr>
          <a:xfrm flipV="1">
            <a:off x="4881665" y="1923212"/>
            <a:ext cx="1307426" cy="713162"/>
          </a:xfrm>
          <a:prstGeom prst="line">
            <a:avLst/>
          </a:prstGeom>
          <a:ln w="19050" cap="flat">
            <a:solidFill>
              <a:srgbClr val="B4B4B4"/>
            </a:solidFill>
            <a:prstDash val="solid"/>
            <a:headEnd type="triangle" w="lg" len="med"/>
            <a:tailEnd type="triangle" w="lg" len="me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Box 5"/>
          <p:cNvSpPr txBox="1"/>
          <p:nvPr/>
        </p:nvSpPr>
        <p:spPr>
          <a:xfrm>
            <a:off x="822731" y="4349104"/>
            <a:ext cx="3654555" cy="4797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94"/>
              </a:lnSpc>
              <a:spcBef>
                <a:spcPct val="0"/>
              </a:spcBef>
            </a:pPr>
            <a:r>
              <a:rPr lang="en-US" sz="1468" spc="-80">
                <a:gradFill>
                  <a:gsLst>
                    <a:gs pos="0">
                      <a:srgbClr val="FFF7AD">
                        <a:alpha val="100000"/>
                      </a:srgbClr>
                    </a:gs>
                    <a:gs pos="100000">
                      <a:srgbClr val="FFA9F9">
                        <a:alpha val="100000"/>
                      </a:srgbClr>
                    </a:gs>
                  </a:gsLst>
                  <a:lin ang="0"/>
                </a:gradFill>
                <a:latin typeface="Public Sans"/>
                <a:ea typeface="Public Sans"/>
                <a:cs typeface="Public Sans"/>
                <a:sym typeface="Public Sans"/>
              </a:rPr>
              <a:t>Shows the number of orders for each product department over time.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10433" y="5140991"/>
            <a:ext cx="3766853" cy="809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29"/>
              </a:lnSpc>
              <a:spcBef>
                <a:spcPct val="0"/>
              </a:spcBef>
            </a:pPr>
            <a:r>
              <a:rPr lang="en-US" sz="1650" spc="-90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Some product departments receive more orders than others, highlighting the busiest categories.</a:t>
            </a:r>
          </a:p>
        </p:txBody>
      </p:sp>
      <p:sp>
        <p:nvSpPr>
          <p:cNvPr id="7" name="AutoShape 7"/>
          <p:cNvSpPr/>
          <p:nvPr/>
        </p:nvSpPr>
        <p:spPr>
          <a:xfrm flipV="1">
            <a:off x="4577922" y="4503358"/>
            <a:ext cx="41101" cy="952468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Box 8"/>
          <p:cNvSpPr txBox="1"/>
          <p:nvPr/>
        </p:nvSpPr>
        <p:spPr>
          <a:xfrm>
            <a:off x="6321321" y="1097842"/>
            <a:ext cx="3044651" cy="23869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19"/>
              </a:lnSpc>
              <a:spcBef>
                <a:spcPct val="0"/>
              </a:spcBef>
            </a:pPr>
            <a:r>
              <a:rPr lang="en-US" sz="2108" spc="-115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Warehouse inventory levels directly impact storage costs. Highlighting key product departments helps manage stock efficiently and reduce unnecessary expenses.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1EB3409-05A0-8161-D81C-0FBF1C6BD7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045" y="1097842"/>
            <a:ext cx="4315427" cy="255305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CDD0B33-9BBE-3D8B-E43D-6619E152E9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4579" y="3877493"/>
            <a:ext cx="4143953" cy="235300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6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297347" y="1164982"/>
            <a:ext cx="1957405" cy="2287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00"/>
              </a:lnSpc>
              <a:spcBef>
                <a:spcPct val="0"/>
              </a:spcBef>
            </a:pPr>
            <a:r>
              <a:rPr lang="en-US" sz="1395" spc="-76">
                <a:gradFill>
                  <a:gsLst>
                    <a:gs pos="0">
                      <a:srgbClr val="FFF7AD">
                        <a:alpha val="100000"/>
                      </a:srgbClr>
                    </a:gs>
                    <a:gs pos="100000">
                      <a:srgbClr val="FFA9F9">
                        <a:alpha val="100000"/>
                      </a:srgbClr>
                    </a:gs>
                  </a:gsLst>
                  <a:lin ang="0"/>
                </a:gradFill>
                <a:latin typeface="Public Sans"/>
                <a:ea typeface="Public Sans"/>
                <a:cs typeface="Public Sans"/>
                <a:sym typeface="Public Sans"/>
              </a:rPr>
              <a:t>Fan Shop: 3,037 orders were late, 3,991 orders were on time → most orders delivered on time, but significant delays exist.</a:t>
            </a:r>
          </a:p>
          <a:p>
            <a:pPr algn="ctr">
              <a:lnSpc>
                <a:spcPts val="1800"/>
              </a:lnSpc>
              <a:spcBef>
                <a:spcPct val="0"/>
              </a:spcBef>
            </a:pPr>
            <a:r>
              <a:rPr lang="en-US" sz="1395" spc="-76">
                <a:gradFill>
                  <a:gsLst>
                    <a:gs pos="0">
                      <a:srgbClr val="FFF7AD">
                        <a:alpha val="100000"/>
                      </a:srgbClr>
                    </a:gs>
                    <a:gs pos="100000">
                      <a:srgbClr val="FFA9F9">
                        <a:alpha val="100000"/>
                      </a:srgbClr>
                    </a:gs>
                  </a:gsLst>
                  <a:lin ang="0"/>
                </a:gradFill>
                <a:latin typeface="Public Sans"/>
                <a:ea typeface="Public Sans"/>
                <a:cs typeface="Public Sans"/>
                <a:sym typeface="Public Sans"/>
              </a:rPr>
              <a:t>Health &amp; Beauty: 6 orders were late, 12 orders were on time → very few orders overall, delays minimal.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724768" y="1267941"/>
            <a:ext cx="3107218" cy="20559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7"/>
              </a:lnSpc>
              <a:spcBef>
                <a:spcPct val="0"/>
              </a:spcBef>
            </a:pPr>
            <a:r>
              <a:rPr lang="en-US" sz="1789" spc="-98">
                <a:solidFill>
                  <a:srgbClr val="FFF7AD"/>
                </a:solidFill>
                <a:latin typeface="Public Sans"/>
                <a:ea typeface="Public Sans"/>
                <a:cs typeface="Public Sans"/>
                <a:sym typeface="Public Sans"/>
              </a:rPr>
              <a:t>Most departments deliver the majority of orders on time, but high-volume departments like Fan Shop still have a notable number of late shipments, highlighting areas for improvement in logistics.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4475957" y="5016552"/>
            <a:ext cx="801686" cy="598953"/>
            <a:chOff x="0" y="0"/>
            <a:chExt cx="395894" cy="29577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95894" cy="295779"/>
            </a:xfrm>
            <a:custGeom>
              <a:avLst/>
              <a:gdLst/>
              <a:ahLst/>
              <a:cxnLst/>
              <a:rect l="l" t="t" r="r" b="b"/>
              <a:pathLst>
                <a:path w="395894" h="295779">
                  <a:moveTo>
                    <a:pt x="197947" y="0"/>
                  </a:moveTo>
                  <a:lnTo>
                    <a:pt x="395894" y="147890"/>
                  </a:lnTo>
                  <a:lnTo>
                    <a:pt x="197947" y="295779"/>
                  </a:lnTo>
                  <a:lnTo>
                    <a:pt x="0" y="147890"/>
                  </a:lnTo>
                  <a:lnTo>
                    <a:pt x="197947" y="0"/>
                  </a:lnTo>
                  <a:close/>
                </a:path>
              </a:pathLst>
            </a:custGeom>
            <a:solidFill>
              <a:srgbClr val="B4B4B4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68044" y="41312"/>
              <a:ext cx="259806" cy="203630"/>
            </a:xfrm>
            <a:prstGeom prst="rect">
              <a:avLst/>
            </a:prstGeom>
          </p:spPr>
          <p:txBody>
            <a:bodyPr lIns="27093" tIns="27093" rIns="27093" bIns="27093" rtlCol="0" anchor="ctr"/>
            <a:lstStyle/>
            <a:p>
              <a:pPr algn="ctr">
                <a:lnSpc>
                  <a:spcPts val="999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4876800" y="4612382"/>
            <a:ext cx="3034525" cy="7036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55"/>
              </a:lnSpc>
              <a:spcBef>
                <a:spcPct val="0"/>
              </a:spcBef>
            </a:pPr>
            <a:r>
              <a:rPr lang="en-US" sz="1438" spc="-79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Late shipment rate decreased from 53% in January 2015 (Q1) to 39% in December 2017 (Q4)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910357" y="5340699"/>
            <a:ext cx="2739993" cy="876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7"/>
              </a:lnSpc>
              <a:spcBef>
                <a:spcPct val="0"/>
              </a:spcBef>
            </a:pPr>
            <a:r>
              <a:rPr lang="en-US" sz="1788" spc="-98">
                <a:gradFill>
                  <a:gsLst>
                    <a:gs pos="0">
                      <a:srgbClr val="FFF7AD">
                        <a:alpha val="100000"/>
                      </a:srgbClr>
                    </a:gs>
                    <a:gs pos="100000">
                      <a:srgbClr val="FFA9F9">
                        <a:alpha val="100000"/>
                      </a:srgbClr>
                    </a:gs>
                  </a:gsLst>
                  <a:lin ang="0"/>
                </a:gradFill>
                <a:latin typeface="Public Sans"/>
                <a:ea typeface="Public Sans"/>
                <a:cs typeface="Public Sans"/>
                <a:sym typeface="Public Sans"/>
              </a:rPr>
              <a:t>indicating improvement in delivery performance over time.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8798817-EE40-D575-61F9-385C0E3473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3644" y="485332"/>
            <a:ext cx="3829584" cy="317226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2083AB9-498C-BB0B-C0A6-FBAB2A6BAE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951" y="3883464"/>
            <a:ext cx="4648849" cy="279121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6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7475485" y="4486342"/>
            <a:ext cx="371874" cy="784896"/>
            <a:chOff x="0" y="0"/>
            <a:chExt cx="365911" cy="77230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65911" cy="772308"/>
            </a:xfrm>
            <a:custGeom>
              <a:avLst/>
              <a:gdLst/>
              <a:ahLst/>
              <a:cxnLst/>
              <a:rect l="l" t="t" r="r" b="b"/>
              <a:pathLst>
                <a:path w="365911" h="772308">
                  <a:moveTo>
                    <a:pt x="0" y="499258"/>
                  </a:moveTo>
                  <a:lnTo>
                    <a:pt x="182955" y="772308"/>
                  </a:lnTo>
                  <a:lnTo>
                    <a:pt x="365911" y="499258"/>
                  </a:lnTo>
                  <a:lnTo>
                    <a:pt x="232561" y="499258"/>
                  </a:lnTo>
                  <a:lnTo>
                    <a:pt x="232561" y="273050"/>
                  </a:lnTo>
                  <a:lnTo>
                    <a:pt x="365911" y="273050"/>
                  </a:lnTo>
                  <a:lnTo>
                    <a:pt x="182955" y="0"/>
                  </a:lnTo>
                  <a:lnTo>
                    <a:pt x="0" y="273050"/>
                  </a:lnTo>
                  <a:lnTo>
                    <a:pt x="133350" y="273050"/>
                  </a:lnTo>
                  <a:lnTo>
                    <a:pt x="133350" y="499258"/>
                  </a:lnTo>
                  <a:lnTo>
                    <a:pt x="0" y="499258"/>
                  </a:lnTo>
                  <a:close/>
                </a:path>
              </a:pathLst>
            </a:custGeom>
            <a:solidFill>
              <a:srgbClr val="B4B4B4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139700" y="92075"/>
              <a:ext cx="86511" cy="578633"/>
            </a:xfrm>
            <a:prstGeom prst="rect">
              <a:avLst/>
            </a:prstGeom>
          </p:spPr>
          <p:txBody>
            <a:bodyPr lIns="31955" tIns="31955" rIns="31955" bIns="31955" rtlCol="0" anchor="ctr"/>
            <a:lstStyle/>
            <a:p>
              <a:pPr algn="ctr">
                <a:lnSpc>
                  <a:spcPts val="1179"/>
                </a:lnSpc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5136895" y="5339376"/>
            <a:ext cx="4399874" cy="16236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spcBef>
                <a:spcPct val="0"/>
              </a:spcBef>
            </a:pPr>
            <a:r>
              <a:rPr lang="en-US" sz="1983" spc="-109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Technology has the highest late shipment rate (51%), while Health &amp; Beauty has the lowest (33%)</a:t>
            </a:r>
          </a:p>
          <a:p>
            <a:pPr algn="ctr">
              <a:lnSpc>
                <a:spcPts val="2558"/>
              </a:lnSpc>
              <a:spcBef>
                <a:spcPct val="0"/>
              </a:spcBef>
            </a:pPr>
            <a:r>
              <a:rPr lang="en-US" sz="1983" spc="-109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 showing which departments face more delivery delays.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2390408" y="3829697"/>
            <a:ext cx="318560" cy="805691"/>
            <a:chOff x="0" y="0"/>
            <a:chExt cx="321371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321371" cy="812800"/>
            </a:xfrm>
            <a:custGeom>
              <a:avLst/>
              <a:gdLst/>
              <a:ahLst/>
              <a:cxnLst/>
              <a:rect l="l" t="t" r="r" b="b"/>
              <a:pathLst>
                <a:path w="321371" h="812800">
                  <a:moveTo>
                    <a:pt x="0" y="539750"/>
                  </a:moveTo>
                  <a:lnTo>
                    <a:pt x="160686" y="812800"/>
                  </a:lnTo>
                  <a:lnTo>
                    <a:pt x="321371" y="539750"/>
                  </a:lnTo>
                  <a:lnTo>
                    <a:pt x="188021" y="539750"/>
                  </a:lnTo>
                  <a:lnTo>
                    <a:pt x="188021" y="273050"/>
                  </a:lnTo>
                  <a:lnTo>
                    <a:pt x="321371" y="273050"/>
                  </a:lnTo>
                  <a:lnTo>
                    <a:pt x="160686" y="0"/>
                  </a:lnTo>
                  <a:lnTo>
                    <a:pt x="0" y="273050"/>
                  </a:lnTo>
                  <a:lnTo>
                    <a:pt x="133350" y="273050"/>
                  </a:lnTo>
                  <a:lnTo>
                    <a:pt x="133350" y="539750"/>
                  </a:lnTo>
                  <a:lnTo>
                    <a:pt x="0" y="539750"/>
                  </a:lnTo>
                  <a:close/>
                </a:path>
              </a:pathLst>
            </a:custGeom>
            <a:solidFill>
              <a:srgbClr val="B4B4B4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9700" y="92075"/>
              <a:ext cx="41971" cy="619125"/>
            </a:xfrm>
            <a:prstGeom prst="rect">
              <a:avLst/>
            </a:prstGeom>
          </p:spPr>
          <p:txBody>
            <a:bodyPr lIns="31955" tIns="31955" rIns="31955" bIns="31955" rtlCol="0" anchor="ctr"/>
            <a:lstStyle/>
            <a:p>
              <a:pPr algn="ctr">
                <a:lnSpc>
                  <a:spcPts val="1179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437672" y="4748153"/>
            <a:ext cx="4733972" cy="1455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83"/>
              </a:lnSpc>
              <a:spcBef>
                <a:spcPct val="0"/>
              </a:spcBef>
            </a:pPr>
            <a:r>
              <a:rPr lang="en-US" sz="2235" spc="-122" dirty="0">
                <a:solidFill>
                  <a:srgbClr val="AA92AE"/>
                </a:solidFill>
                <a:latin typeface="Public Sans"/>
                <a:ea typeface="Public Sans"/>
                <a:cs typeface="Public Sans"/>
                <a:sym typeface="Public Sans"/>
              </a:rPr>
              <a:t>One country has the highest number of late shipments (29) indicating it faces the most delivery delays and may need focus to improve logistics.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17C5B6F-67EE-F170-2EA6-E477EE0727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8118" y="675551"/>
            <a:ext cx="4677428" cy="302937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A875BED-1EEB-6823-4E14-4A75AB75CB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594" y="970480"/>
            <a:ext cx="3648584" cy="262926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6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 rot="562796">
            <a:off x="6480435" y="1389955"/>
            <a:ext cx="3130277" cy="2214073"/>
            <a:chOff x="0" y="0"/>
            <a:chExt cx="1204079" cy="851656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204079" cy="851656"/>
            </a:xfrm>
            <a:custGeom>
              <a:avLst/>
              <a:gdLst/>
              <a:ahLst/>
              <a:cxnLst/>
              <a:rect l="l" t="t" r="r" b="b"/>
              <a:pathLst>
                <a:path w="1204079" h="851656">
                  <a:moveTo>
                    <a:pt x="785690" y="0"/>
                  </a:moveTo>
                  <a:lnTo>
                    <a:pt x="418357" y="0"/>
                  </a:lnTo>
                  <a:cubicBezTo>
                    <a:pt x="187287" y="0"/>
                    <a:pt x="0" y="147905"/>
                    <a:pt x="0" y="330353"/>
                  </a:cubicBezTo>
                  <a:cubicBezTo>
                    <a:pt x="0" y="462434"/>
                    <a:pt x="98185" y="576364"/>
                    <a:pt x="240041" y="629223"/>
                  </a:cubicBezTo>
                  <a:lnTo>
                    <a:pt x="240041" y="851656"/>
                  </a:lnTo>
                  <a:lnTo>
                    <a:pt x="524183" y="660695"/>
                  </a:lnTo>
                  <a:lnTo>
                    <a:pt x="785690" y="660695"/>
                  </a:lnTo>
                  <a:cubicBezTo>
                    <a:pt x="1016775" y="660695"/>
                    <a:pt x="1204079" y="512790"/>
                    <a:pt x="1204079" y="330341"/>
                  </a:cubicBezTo>
                  <a:cubicBezTo>
                    <a:pt x="1204090" y="147905"/>
                    <a:pt x="1016775" y="0"/>
                    <a:pt x="785690" y="0"/>
                  </a:cubicBezTo>
                  <a:close/>
                </a:path>
              </a:pathLst>
            </a:custGeom>
            <a:solidFill>
              <a:srgbClr val="BEC0C5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17049"/>
              <a:ext cx="1204079" cy="606484"/>
            </a:xfrm>
            <a:prstGeom prst="rect">
              <a:avLst/>
            </a:prstGeom>
          </p:spPr>
          <p:txBody>
            <a:bodyPr lIns="30243" tIns="30243" rIns="30243" bIns="30243" rtlCol="0" anchor="ctr"/>
            <a:lstStyle/>
            <a:p>
              <a:pPr algn="ctr">
                <a:lnSpc>
                  <a:spcPts val="2037"/>
                </a:lnSpc>
              </a:pPr>
              <a:r>
                <a:rPr lang="en-US" sz="1579" spc="-86">
                  <a:solidFill>
                    <a:srgbClr val="002649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Fan Shop has the highest order volume and revenue, while Outdoor shows fewer orders but a higher profit margin.</a:t>
              </a:r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861687" y="534081"/>
            <a:ext cx="2922618" cy="20080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87"/>
              </a:lnSpc>
              <a:spcBef>
                <a:spcPct val="0"/>
              </a:spcBef>
            </a:pPr>
            <a:r>
              <a:rPr lang="en-US" sz="1773" spc="-97">
                <a:solidFill>
                  <a:srgbClr val="D9D9D9"/>
                </a:solidFill>
                <a:latin typeface="Public Sans"/>
                <a:ea typeface="Public Sans"/>
                <a:cs typeface="Public Sans"/>
                <a:sym typeface="Public Sans"/>
              </a:rPr>
              <a:t>Number of orders and order quantity fluctuated over time, with the highest activity in January 2015 and lower activity in December 2017, indicating seasonal or temporal trends in orders.</a:t>
            </a:r>
          </a:p>
        </p:txBody>
      </p:sp>
      <p:sp>
        <p:nvSpPr>
          <p:cNvPr id="8" name="AutoShape 8"/>
          <p:cNvSpPr/>
          <p:nvPr/>
        </p:nvSpPr>
        <p:spPr>
          <a:xfrm>
            <a:off x="1172777" y="2630759"/>
            <a:ext cx="736361" cy="1122481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A745D68-8F9A-ABE1-0B4C-1C681887E2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876" y="3841905"/>
            <a:ext cx="3772426" cy="266737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B84537F-D021-EE6C-6D3D-68F57972A2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000" y="4008615"/>
            <a:ext cx="3753374" cy="2333951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6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5801684" y="1572379"/>
            <a:ext cx="3811876" cy="13072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61"/>
              </a:lnSpc>
              <a:spcBef>
                <a:spcPct val="0"/>
              </a:spcBef>
            </a:pPr>
            <a:r>
              <a:rPr lang="en-US" sz="1597" spc="-87">
                <a:solidFill>
                  <a:srgbClr val="D9D9D9"/>
                </a:solidFill>
                <a:latin typeface="Public Sans"/>
                <a:ea typeface="Public Sans"/>
                <a:cs typeface="Public Sans"/>
                <a:sym typeface="Public Sans"/>
              </a:rPr>
              <a:t>Fan Shop has the highest number of orders and strong profitability, while Health &amp; Beauty has very few orders with a lower profit margin, highlighting the contrast in performance across product categories.</a:t>
            </a:r>
          </a:p>
        </p:txBody>
      </p:sp>
      <p:sp>
        <p:nvSpPr>
          <p:cNvPr id="5" name="AutoShape 5"/>
          <p:cNvSpPr/>
          <p:nvPr/>
        </p:nvSpPr>
        <p:spPr>
          <a:xfrm>
            <a:off x="4813864" y="2674704"/>
            <a:ext cx="1696014" cy="204944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Box 6"/>
          <p:cNvSpPr txBox="1"/>
          <p:nvPr/>
        </p:nvSpPr>
        <p:spPr>
          <a:xfrm>
            <a:off x="5675235" y="4755313"/>
            <a:ext cx="4064776" cy="10968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spcBef>
                <a:spcPct val="0"/>
              </a:spcBef>
            </a:pPr>
            <a:r>
              <a:rPr lang="en-US" sz="1704" spc="-93">
                <a:solidFill>
                  <a:srgbClr val="E0BFD8"/>
                </a:solidFill>
                <a:latin typeface="Public Sans"/>
                <a:ea typeface="Public Sans"/>
                <a:cs typeface="Public Sans"/>
                <a:sym typeface="Public Sans"/>
              </a:rPr>
              <a:t>One country has the highest number of orders (32), highlighting the region with the most customer activity and potential focus for logistics or marketing efforts.</a:t>
            </a:r>
          </a:p>
        </p:txBody>
      </p:sp>
      <p:sp>
        <p:nvSpPr>
          <p:cNvPr id="7" name="AutoShape 7"/>
          <p:cNvSpPr/>
          <p:nvPr/>
        </p:nvSpPr>
        <p:spPr>
          <a:xfrm flipV="1">
            <a:off x="5024689" y="4679755"/>
            <a:ext cx="1233182" cy="308092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82A1D65-A9FA-92AD-20E8-8A53C478DB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918" y="925670"/>
            <a:ext cx="4591691" cy="260068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84CB6CE-A03C-C56B-0D41-62BAB9DDE7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953" y="3854214"/>
            <a:ext cx="4525006" cy="226726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6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ADF940C-674C-27A2-BC4A-1A127B8712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61012"/>
            <a:ext cx="9753600" cy="599317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6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A4E4CE3-E8A8-6F0D-9B83-694681C964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4882"/>
            <a:ext cx="9753600" cy="610543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6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F02D6D6-1186-8C36-B8F6-84C21BC480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1984"/>
            <a:ext cx="9753600" cy="6011232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6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E16D13F-A918-EAC3-B3D8-A9DB0B2D14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20074"/>
            <a:ext cx="9753600" cy="607505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6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8061B93-054F-BF58-C022-A94BD65FFB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25284"/>
            <a:ext cx="9753600" cy="6064631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5E979-090B-E08D-D9E8-097572D1C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2">
            <a:extLst>
              <a:ext uri="{FF2B5EF4-FFF2-40B4-BE49-F238E27FC236}">
                <a16:creationId xmlns:a16="http://schemas.microsoft.com/office/drawing/2014/main" id="{D6B2F586-01D8-C19D-CB67-FF472C571BB1}"/>
              </a:ext>
            </a:extLst>
          </p:cNvPr>
          <p:cNvSpPr/>
          <p:nvPr/>
        </p:nvSpPr>
        <p:spPr>
          <a:xfrm>
            <a:off x="0" y="0"/>
            <a:ext cx="9753600" cy="7315200"/>
          </a:xfrm>
          <a:custGeom>
            <a:avLst/>
            <a:gdLst/>
            <a:ahLst/>
            <a:cxnLst/>
            <a:rect l="l" t="t" r="r" b="b"/>
            <a:pathLst>
              <a:path w="9753600" h="7315200">
                <a:moveTo>
                  <a:pt x="0" y="0"/>
                </a:moveTo>
                <a:lnTo>
                  <a:pt x="9753600" y="0"/>
                </a:lnTo>
                <a:lnTo>
                  <a:pt x="9753600" y="7315200"/>
                </a:lnTo>
                <a:lnTo>
                  <a:pt x="0" y="73152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851" r="-10851"/>
            </a:stretch>
          </a:blipFill>
        </p:spPr>
        <p:txBody>
          <a:bodyPr/>
          <a:lstStyle/>
          <a:p>
            <a:pPr marL="0" marR="0" lvl="0" indent="0" defTabSz="914400" rtl="0" eaLnBrk="1" fontAlgn="auto" latinLnBrk="0" hangingPunct="1">
              <a:lnSpc>
                <a:spcPts val="1040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200" b="1" dirty="0">
                <a:gradFill>
                  <a:gsLst>
                    <a:gs pos="0">
                      <a:srgbClr val="5170FF">
                        <a:alpha val="100000"/>
                      </a:srgbClr>
                    </a:gs>
                    <a:gs pos="100000">
                      <a:srgbClr val="FF66C4">
                        <a:alpha val="100000"/>
                      </a:srgbClr>
                    </a:gs>
                  </a:gsLst>
                  <a:lin ang="0"/>
                </a:gradFill>
                <a:latin typeface="Poppins Bold"/>
                <a:ea typeface="Poppins Bold"/>
                <a:cs typeface="Poppins Bold"/>
                <a:sym typeface="Poppins Bold"/>
              </a:rPr>
              <a:t>Conclusion</a:t>
            </a:r>
          </a:p>
          <a:p>
            <a:pPr marL="0" marR="0" lvl="0" indent="0" defTabSz="914400" rtl="0" eaLnBrk="1" fontAlgn="auto" latinLnBrk="0" hangingPunct="1">
              <a:lnSpc>
                <a:spcPts val="1040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1" i="0" u="none" strike="noStrike" kern="1200" cap="none" spc="0" normalizeH="0" baseline="0" noProof="0" dirty="0">
              <a:ln>
                <a:noFill/>
              </a:ln>
              <a:gradFill>
                <a:gsLst>
                  <a:gs pos="0">
                    <a:srgbClr val="5170FF">
                      <a:alpha val="100000"/>
                    </a:srgbClr>
                  </a:gs>
                  <a:gs pos="100000">
                    <a:srgbClr val="FF66C4">
                      <a:alpha val="100000"/>
                    </a:srgbClr>
                  </a:gs>
                </a:gsLst>
                <a:lin ang="0"/>
              </a:gradFill>
              <a:effectLst/>
              <a:uLnTx/>
              <a:uFillTx/>
              <a:latin typeface="Poppins Bold"/>
              <a:ea typeface="Poppins Bold"/>
              <a:cs typeface="Poppins Bold"/>
              <a:sym typeface="Poppins Bold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DDD4E7-BFB6-C33F-BE7F-045B49E154FF}"/>
              </a:ext>
            </a:extLst>
          </p:cNvPr>
          <p:cNvSpPr txBox="1"/>
          <p:nvPr/>
        </p:nvSpPr>
        <p:spPr>
          <a:xfrm>
            <a:off x="228600" y="1371600"/>
            <a:ext cx="8458200" cy="55846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Strong past performance with high profit margin (71%), but recent sales and profit dropped sharply due to fewer orders.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Decline is revenue-driven, not cost-related.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Loss of best-selling products (Apparel, Fan shop, Footwear, Golf) is the main driver of the downturn.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Customer demand stayed stable, so the issue likely comes from supply disruptions or a product strategy shift.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Best-selling items also had the longest replenishment times, worsening stock availability.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Shipping delays are widespread, even for fast-ship orders.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High late-shipment rate (~56%) across products and regions signals major supply chain inefficiencies.</a:t>
            </a:r>
            <a:endParaRPr lang="en-GB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77045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C9FCC-2B66-2164-EAC7-73417F4CA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2">
            <a:extLst>
              <a:ext uri="{FF2B5EF4-FFF2-40B4-BE49-F238E27FC236}">
                <a16:creationId xmlns:a16="http://schemas.microsoft.com/office/drawing/2014/main" id="{E65E8FF8-98D1-A1E1-D8C1-ED6E9B715B8A}"/>
              </a:ext>
            </a:extLst>
          </p:cNvPr>
          <p:cNvSpPr/>
          <p:nvPr/>
        </p:nvSpPr>
        <p:spPr>
          <a:xfrm>
            <a:off x="0" y="0"/>
            <a:ext cx="9753600" cy="7315200"/>
          </a:xfrm>
          <a:custGeom>
            <a:avLst/>
            <a:gdLst/>
            <a:ahLst/>
            <a:cxnLst/>
            <a:rect l="l" t="t" r="r" b="b"/>
            <a:pathLst>
              <a:path w="9753600" h="7315200">
                <a:moveTo>
                  <a:pt x="0" y="0"/>
                </a:moveTo>
                <a:lnTo>
                  <a:pt x="9753600" y="0"/>
                </a:lnTo>
                <a:lnTo>
                  <a:pt x="9753600" y="7315200"/>
                </a:lnTo>
                <a:lnTo>
                  <a:pt x="0" y="73152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851" r="-10851"/>
            </a:stretch>
          </a:blipFill>
        </p:spPr>
        <p:txBody>
          <a:bodyPr/>
          <a:lstStyle/>
          <a:p>
            <a:pPr lvl="0">
              <a:buClr>
                <a:srgbClr val="000000"/>
              </a:buClr>
              <a:buSzPts val="5400"/>
            </a:pPr>
            <a:r>
              <a:rPr lang="en-US" sz="4400" b="1" dirty="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Recommendation </a:t>
            </a:r>
          </a:p>
          <a:p>
            <a:pPr marL="457200" marR="0" lvl="0" indent="-45720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AutoNum type="arabicPeriod"/>
              <a:tabLst/>
              <a:defRPr/>
            </a:pPr>
            <a:r>
              <a:rPr kumimoji="0" lang="en-US" sz="1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Inventory management</a:t>
            </a:r>
          </a:p>
          <a:p>
            <a:pPr marL="228600" marR="0" lvl="0" indent="-22860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AutoNum type="arabicPeriod"/>
              <a:tabLst/>
              <a:defRPr/>
            </a:pPr>
            <a:endParaRPr kumimoji="0" lang="en-US" sz="9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defTabSz="914400" rtl="0" eaLnBrk="1" fontAlgn="auto" latinLnBrk="0" hangingPunct="1">
              <a:lnSpc>
                <a:spcPts val="1040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1" i="0" u="none" strike="noStrike" kern="1200" cap="none" spc="0" normalizeH="0" baseline="0" noProof="0" dirty="0">
              <a:ln>
                <a:noFill/>
              </a:ln>
              <a:gradFill>
                <a:gsLst>
                  <a:gs pos="0">
                    <a:srgbClr val="5170FF">
                      <a:alpha val="100000"/>
                    </a:srgbClr>
                  </a:gs>
                  <a:gs pos="100000">
                    <a:srgbClr val="FF66C4">
                      <a:alpha val="100000"/>
                    </a:srgbClr>
                  </a:gs>
                </a:gsLst>
                <a:lin ang="0"/>
              </a:gradFill>
              <a:effectLst/>
              <a:uLnTx/>
              <a:uFillTx/>
              <a:latin typeface="Poppins Bold"/>
              <a:ea typeface="Poppins Bold"/>
              <a:cs typeface="Poppins Bold"/>
              <a:sym typeface="Poppins Bold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6C965F9-EC5B-2244-BC1E-C993DAB439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1600200"/>
            <a:ext cx="9220199" cy="5059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18853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5FDA1-57F2-84B7-4AF5-6D8508EE4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2">
            <a:extLst>
              <a:ext uri="{FF2B5EF4-FFF2-40B4-BE49-F238E27FC236}">
                <a16:creationId xmlns:a16="http://schemas.microsoft.com/office/drawing/2014/main" id="{296B0B21-9A8C-D570-BC4D-D46A91A1F82B}"/>
              </a:ext>
            </a:extLst>
          </p:cNvPr>
          <p:cNvSpPr/>
          <p:nvPr/>
        </p:nvSpPr>
        <p:spPr>
          <a:xfrm>
            <a:off x="0" y="0"/>
            <a:ext cx="9753600" cy="7315200"/>
          </a:xfrm>
          <a:custGeom>
            <a:avLst/>
            <a:gdLst/>
            <a:ahLst/>
            <a:cxnLst/>
            <a:rect l="l" t="t" r="r" b="b"/>
            <a:pathLst>
              <a:path w="9753600" h="7315200">
                <a:moveTo>
                  <a:pt x="0" y="0"/>
                </a:moveTo>
                <a:lnTo>
                  <a:pt x="9753600" y="0"/>
                </a:lnTo>
                <a:lnTo>
                  <a:pt x="9753600" y="7315200"/>
                </a:lnTo>
                <a:lnTo>
                  <a:pt x="0" y="73152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851" r="-10851"/>
            </a:stretch>
          </a:blipFill>
        </p:spPr>
        <p:txBody>
          <a:bodyPr/>
          <a:lstStyle/>
          <a:p>
            <a:pPr marL="0" marR="0" lvl="0" indent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2. Delay shipment</a:t>
            </a:r>
          </a:p>
          <a:p>
            <a:pPr marL="0" marR="0" lvl="0" indent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9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4608446-DE67-DDD3-3114-5966A27816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55060"/>
            <a:ext cx="8839200" cy="6126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69792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9753600" cy="7315200"/>
          </a:xfrm>
          <a:custGeom>
            <a:avLst/>
            <a:gdLst/>
            <a:ahLst/>
            <a:cxnLst/>
            <a:rect l="l" t="t" r="r" b="b"/>
            <a:pathLst>
              <a:path w="9753600" h="7315200">
                <a:moveTo>
                  <a:pt x="0" y="0"/>
                </a:moveTo>
                <a:lnTo>
                  <a:pt x="9753600" y="0"/>
                </a:lnTo>
                <a:lnTo>
                  <a:pt x="9753600" y="7315200"/>
                </a:lnTo>
                <a:lnTo>
                  <a:pt x="0" y="73152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851" r="-10851"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>
            <a:off x="548640" y="462915"/>
            <a:ext cx="297118" cy="200420"/>
          </a:xfrm>
          <a:custGeom>
            <a:avLst/>
            <a:gdLst/>
            <a:ahLst/>
            <a:cxnLst/>
            <a:rect l="l" t="t" r="r" b="b"/>
            <a:pathLst>
              <a:path w="297118" h="200420">
                <a:moveTo>
                  <a:pt x="0" y="0"/>
                </a:moveTo>
                <a:lnTo>
                  <a:pt x="297118" y="0"/>
                </a:lnTo>
                <a:lnTo>
                  <a:pt x="297118" y="200420"/>
                </a:lnTo>
                <a:lnTo>
                  <a:pt x="0" y="20042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TextBox 4"/>
          <p:cNvSpPr txBox="1"/>
          <p:nvPr/>
        </p:nvSpPr>
        <p:spPr>
          <a:xfrm>
            <a:off x="607146" y="2030027"/>
            <a:ext cx="7141982" cy="1444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405"/>
              </a:lnSpc>
            </a:pPr>
            <a:r>
              <a:rPr lang="en-US" sz="9546" b="1" dirty="0">
                <a:gradFill>
                  <a:gsLst>
                    <a:gs pos="0">
                      <a:srgbClr val="5170FF">
                        <a:alpha val="100000"/>
                      </a:srgbClr>
                    </a:gs>
                    <a:gs pos="100000">
                      <a:srgbClr val="FF66C4">
                        <a:alpha val="100000"/>
                      </a:srgbClr>
                    </a:gs>
                  </a:gsLst>
                  <a:lin ang="0"/>
                </a:gradFill>
                <a:latin typeface="Poppins Bold"/>
                <a:ea typeface="Poppins Bold"/>
                <a:cs typeface="Poppins Bold"/>
                <a:sym typeface="Poppins Bold"/>
              </a:rPr>
              <a:t>Thank You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88941" y="500103"/>
            <a:ext cx="735636" cy="1260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852"/>
              </a:lnSpc>
              <a:spcBef>
                <a:spcPct val="0"/>
              </a:spcBef>
            </a:pPr>
            <a:r>
              <a:rPr lang="en-US" sz="828" b="1" spc="-28">
                <a:solidFill>
                  <a:srgbClr val="002649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Salford &amp; Co.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912737" y="1174979"/>
            <a:ext cx="506473" cy="1457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1120"/>
              </a:lnSpc>
              <a:spcBef>
                <a:spcPct val="0"/>
              </a:spcBef>
            </a:pPr>
            <a:r>
              <a:rPr lang="en-US" sz="868" u="none" strike="noStrike" spc="-47">
                <a:solidFill>
                  <a:srgbClr val="002649"/>
                </a:solidFill>
                <a:latin typeface="Public Sans"/>
                <a:ea typeface="Public Sans"/>
                <a:cs typeface="Public Sans"/>
                <a:sym typeface="Public Sans"/>
              </a:rPr>
              <a:t>SERVICE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572916" y="1174979"/>
            <a:ext cx="660866" cy="1457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1120"/>
              </a:lnSpc>
              <a:spcBef>
                <a:spcPct val="0"/>
              </a:spcBef>
            </a:pPr>
            <a:r>
              <a:rPr lang="en-US" sz="868" u="none" strike="noStrike" spc="-47">
                <a:solidFill>
                  <a:srgbClr val="002649"/>
                </a:solidFill>
                <a:latin typeface="Public Sans"/>
                <a:ea typeface="Public Sans"/>
                <a:cs typeface="Public Sans"/>
                <a:sym typeface="Public Sans"/>
              </a:rPr>
              <a:t>ABOUT US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406857" y="1174979"/>
            <a:ext cx="798103" cy="1457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1120"/>
              </a:lnSpc>
              <a:spcBef>
                <a:spcPct val="0"/>
              </a:spcBef>
            </a:pPr>
            <a:r>
              <a:rPr lang="en-US" sz="868" u="none" strike="noStrike" spc="-47">
                <a:solidFill>
                  <a:srgbClr val="002649"/>
                </a:solidFill>
                <a:latin typeface="Public Sans"/>
                <a:ea typeface="Public Sans"/>
                <a:cs typeface="Public Sans"/>
                <a:sym typeface="Public Sans"/>
              </a:rPr>
              <a:t>CONTACT US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515974" y="3619791"/>
            <a:ext cx="5324326" cy="11914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616"/>
              </a:lnSpc>
              <a:spcBef>
                <a:spcPct val="0"/>
              </a:spcBef>
            </a:pPr>
            <a:r>
              <a:rPr lang="en-US" sz="4482" spc="-156">
                <a:solidFill>
                  <a:srgbClr val="D9D9D9"/>
                </a:solidFill>
                <a:latin typeface="Public Sans"/>
                <a:ea typeface="Public Sans"/>
                <a:cs typeface="Public Sans"/>
                <a:sym typeface="Public Sans"/>
              </a:rPr>
              <a:t>Grateful for your kind</a:t>
            </a:r>
            <a:r>
              <a:rPr lang="en-US" sz="4482" u="none" strike="noStrike" spc="-156">
                <a:solidFill>
                  <a:srgbClr val="D9D9D9"/>
                </a:solidFill>
                <a:latin typeface="Public Sans"/>
                <a:ea typeface="Public Sans"/>
                <a:cs typeface="Public Sans"/>
                <a:sym typeface="Public Sans"/>
              </a:rPr>
              <a:t> attention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86</TotalTime>
  <Words>1172</Words>
  <Application>Microsoft Office PowerPoint</Application>
  <PresentationFormat>Custom</PresentationFormat>
  <Paragraphs>162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5" baseType="lpstr">
      <vt:lpstr>Montserrat</vt:lpstr>
      <vt:lpstr>Poppins</vt:lpstr>
      <vt:lpstr>Poppins Bold</vt:lpstr>
      <vt:lpstr>Open Sans</vt:lpstr>
      <vt:lpstr>Calibri</vt:lpstr>
      <vt:lpstr>Public Sans</vt:lpstr>
      <vt:lpstr>Arial</vt:lpstr>
      <vt:lpstr>Public Sans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 and Green Modern Logistic Company Presentation (عرض تقديمي (4:3))</dc:title>
  <cp:lastModifiedBy>osama hamza</cp:lastModifiedBy>
  <cp:revision>3</cp:revision>
  <dcterms:created xsi:type="dcterms:W3CDTF">2006-08-16T00:00:00Z</dcterms:created>
  <dcterms:modified xsi:type="dcterms:W3CDTF">2025-12-06T10:35:46Z</dcterms:modified>
  <dc:identifier>DAG6cAcXH0Y</dc:identifier>
</cp:coreProperties>
</file>