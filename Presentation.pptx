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81" r:id="rId24"/>
    <p:sldId id="278" r:id="rId25"/>
    <p:sldId id="279" r:id="rId26"/>
  </p:sldIdLst>
  <p:sldSz cx="9753600" cy="7315200"/>
  <p:notesSz cx="6858000" cy="9144000"/>
  <p:embeddedFontLst>
    <p:embeddedFont>
      <p:font typeface="Poppins" panose="00000500000000000000" pitchFamily="2" charset="0"/>
      <p:regular r:id="rId27"/>
    </p:embeddedFont>
    <p:embeddedFont>
      <p:font typeface="Poppins Bold" panose="020B0604020202020204" charset="0"/>
      <p:regular r:id="rId28"/>
    </p:embeddedFont>
    <p:embeddedFont>
      <p:font typeface="Public Sans" panose="020B0604020202020204" charset="0"/>
      <p:regular r:id="rId29"/>
    </p:embeddedFont>
    <p:embeddedFont>
      <p:font typeface="Public Sans Bold" panose="020B0604020202020204" charset="0"/>
      <p:regular r:id="rId3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3" d="100"/>
          <a:sy n="73" d="100"/>
        </p:scale>
        <p:origin x="1598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4.png"/><Relationship Id="rId7" Type="http://schemas.openxmlformats.org/officeDocument/2006/relationships/image" Target="../media/image9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jpeg"/><Relationship Id="rId5" Type="http://schemas.openxmlformats.org/officeDocument/2006/relationships/image" Target="../media/image7.jpeg"/><Relationship Id="rId10" Type="http://schemas.openxmlformats.org/officeDocument/2006/relationships/image" Target="../media/image12.jpeg"/><Relationship Id="rId4" Type="http://schemas.openxmlformats.org/officeDocument/2006/relationships/image" Target="../media/image5.svg"/><Relationship Id="rId9" Type="http://schemas.openxmlformats.org/officeDocument/2006/relationships/image" Target="../media/image11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jpeg"/><Relationship Id="rId4" Type="http://schemas.openxmlformats.org/officeDocument/2006/relationships/image" Target="../media/image5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jpeg"/><Relationship Id="rId4" Type="http://schemas.openxmlformats.org/officeDocument/2006/relationships/image" Target="../media/image5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linkedin.com/in/osama-hamza96?utm_source=share&amp;utm_campaign=share_via&amp;utm_content=profile&amp;utm_medium=android_app" TargetMode="External"/><Relationship Id="rId13" Type="http://schemas.openxmlformats.org/officeDocument/2006/relationships/hyperlink" Target="http://www.linkedin.com/in/esraa-ahmed-046b44175" TargetMode="External"/><Relationship Id="rId3" Type="http://schemas.openxmlformats.org/officeDocument/2006/relationships/image" Target="../media/image4.png"/><Relationship Id="rId7" Type="http://schemas.openxmlformats.org/officeDocument/2006/relationships/hyperlink" Target="https://www.linkedin.com/in/mohamed-samir-587224107?utm_source=share&amp;utm_campaign=share_via&amp;utm_content=profile&amp;utm_medium=android_app" TargetMode="External"/><Relationship Id="rId12" Type="http://schemas.openxmlformats.org/officeDocument/2006/relationships/hyperlink" Target="https://www.linkedin.com/in/marwa-hegazy?utm_source=share_via&amp;utm_content=profile&amp;utm_medium=member_android" TargetMode="External"/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svg"/><Relationship Id="rId11" Type="http://schemas.openxmlformats.org/officeDocument/2006/relationships/hyperlink" Target="https://www.linkedin.com/in/haytham-abubakr-5532b9b7?utm_source=share_via&amp;utm_content=profile&amp;utm_medium=member_android" TargetMode="External"/><Relationship Id="rId5" Type="http://schemas.openxmlformats.org/officeDocument/2006/relationships/image" Target="../media/image43.png"/><Relationship Id="rId10" Type="http://schemas.openxmlformats.org/officeDocument/2006/relationships/hyperlink" Target="https://www.linkedin.com/in/mostafa-waleed-269806230?utm_source=share&amp;utm_campaign=share_via&amp;utm_content=profile&amp;utm_medium=android_app" TargetMode="External"/><Relationship Id="rId4" Type="http://schemas.openxmlformats.org/officeDocument/2006/relationships/image" Target="../media/image5.svg"/><Relationship Id="rId9" Type="http://schemas.openxmlformats.org/officeDocument/2006/relationships/hyperlink" Target="https://www.linkedin.com/in/nermin-reda-97798524a?utm_source=share&amp;utm_campaign=share_via&amp;utm_content=profile&amp;utm_medium=android_app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9753600" cy="7315200"/>
          </a:xfrm>
          <a:custGeom>
            <a:avLst/>
            <a:gdLst/>
            <a:ahLst/>
            <a:cxnLst/>
            <a:rect l="l" t="t" r="r" b="b"/>
            <a:pathLst>
              <a:path w="9753600" h="7315200">
                <a:moveTo>
                  <a:pt x="0" y="0"/>
                </a:moveTo>
                <a:lnTo>
                  <a:pt x="9753600" y="0"/>
                </a:lnTo>
                <a:lnTo>
                  <a:pt x="9753600" y="7315200"/>
                </a:lnTo>
                <a:lnTo>
                  <a:pt x="0" y="73152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8965" r="-18965"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0" y="898982"/>
            <a:ext cx="5501818" cy="5501818"/>
          </a:xfrm>
          <a:custGeom>
            <a:avLst/>
            <a:gdLst/>
            <a:ahLst/>
            <a:cxnLst/>
            <a:rect l="l" t="t" r="r" b="b"/>
            <a:pathLst>
              <a:path w="5501818" h="5501818">
                <a:moveTo>
                  <a:pt x="0" y="0"/>
                </a:moveTo>
                <a:lnTo>
                  <a:pt x="5501818" y="0"/>
                </a:lnTo>
                <a:lnTo>
                  <a:pt x="5501818" y="5501818"/>
                </a:lnTo>
                <a:lnTo>
                  <a:pt x="0" y="55018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Freeform 4"/>
          <p:cNvSpPr/>
          <p:nvPr/>
        </p:nvSpPr>
        <p:spPr>
          <a:xfrm>
            <a:off x="548640" y="1463040"/>
            <a:ext cx="265134" cy="178845"/>
          </a:xfrm>
          <a:custGeom>
            <a:avLst/>
            <a:gdLst/>
            <a:ahLst/>
            <a:cxnLst/>
            <a:rect l="l" t="t" r="r" b="b"/>
            <a:pathLst>
              <a:path w="265134" h="178845">
                <a:moveTo>
                  <a:pt x="0" y="0"/>
                </a:moveTo>
                <a:lnTo>
                  <a:pt x="265134" y="0"/>
                </a:lnTo>
                <a:lnTo>
                  <a:pt x="265134" y="178845"/>
                </a:lnTo>
                <a:lnTo>
                  <a:pt x="0" y="1788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TextBox 5"/>
          <p:cNvSpPr txBox="1"/>
          <p:nvPr/>
        </p:nvSpPr>
        <p:spPr>
          <a:xfrm>
            <a:off x="115897" y="3682475"/>
            <a:ext cx="6680672" cy="13419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351"/>
              </a:lnSpc>
            </a:pPr>
            <a:r>
              <a:rPr lang="en-US" sz="7394" b="1">
                <a:solidFill>
                  <a:srgbClr val="5170FF"/>
                </a:solidFill>
                <a:latin typeface="Poppins Bold"/>
                <a:ea typeface="Poppins Bold"/>
                <a:cs typeface="Poppins Bold"/>
                <a:sym typeface="Poppins Bold"/>
              </a:rPr>
              <a:t>JUST IN TIME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52309" y="4570584"/>
            <a:ext cx="3891400" cy="1010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27"/>
              </a:lnSpc>
            </a:pPr>
            <a:r>
              <a:rPr lang="en-US" sz="5591" b="1">
                <a:solidFill>
                  <a:srgbClr val="B4B4B4"/>
                </a:solidFill>
                <a:latin typeface="Poppins Bold"/>
                <a:ea typeface="Poppins Bold"/>
                <a:cs typeface="Poppins Bold"/>
                <a:sym typeface="Poppins Bold"/>
              </a:rPr>
              <a:t>COMPANY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45109" y="5519039"/>
            <a:ext cx="5951912" cy="3331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2471"/>
              </a:lnSpc>
              <a:spcBef>
                <a:spcPct val="0"/>
              </a:spcBef>
            </a:pPr>
            <a:r>
              <a:rPr lang="en-US" sz="2399" spc="-83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L</a:t>
            </a:r>
            <a:r>
              <a:rPr lang="en-US" sz="2399" u="none" strike="noStrike" spc="-83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ogistics and Supply Chain Management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52309" y="1505750"/>
            <a:ext cx="656447" cy="102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761"/>
              </a:lnSpc>
              <a:spcBef>
                <a:spcPct val="0"/>
              </a:spcBef>
            </a:pPr>
            <a:r>
              <a:rPr lang="en-US" sz="738" b="1" spc="-25">
                <a:solidFill>
                  <a:srgbClr val="002649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Salford &amp; Co.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570592" y="1542938"/>
            <a:ext cx="451953" cy="122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999"/>
              </a:lnSpc>
              <a:spcBef>
                <a:spcPct val="0"/>
              </a:spcBef>
            </a:pPr>
            <a:r>
              <a:rPr lang="en-US" sz="775" u="none" strike="noStrike" spc="-42">
                <a:solidFill>
                  <a:srgbClr val="002649"/>
                </a:solidFill>
                <a:latin typeface="Public Sans"/>
                <a:ea typeface="Public Sans"/>
                <a:cs typeface="Public Sans"/>
                <a:sym typeface="Public Sans"/>
              </a:rPr>
              <a:t>HOME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159488" y="1542938"/>
            <a:ext cx="451953" cy="122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999"/>
              </a:lnSpc>
              <a:spcBef>
                <a:spcPct val="0"/>
              </a:spcBef>
            </a:pPr>
            <a:r>
              <a:rPr lang="en-US" sz="775" u="none" strike="noStrike" spc="-42">
                <a:solidFill>
                  <a:srgbClr val="002649"/>
                </a:solidFill>
                <a:latin typeface="Public Sans"/>
                <a:ea typeface="Public Sans"/>
                <a:cs typeface="Public Sans"/>
                <a:sym typeface="Public Sans"/>
              </a:rPr>
              <a:t>SERVICE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748601" y="1542938"/>
            <a:ext cx="589725" cy="122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999"/>
              </a:lnSpc>
              <a:spcBef>
                <a:spcPct val="0"/>
              </a:spcBef>
            </a:pPr>
            <a:r>
              <a:rPr lang="en-US" sz="775" u="none" strike="noStrike" spc="-42">
                <a:solidFill>
                  <a:srgbClr val="002649"/>
                </a:solidFill>
                <a:latin typeface="Public Sans"/>
                <a:ea typeface="Public Sans"/>
                <a:cs typeface="Public Sans"/>
                <a:sym typeface="Public Sans"/>
              </a:rPr>
              <a:t>ABOUT US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492771" y="1542938"/>
            <a:ext cx="712189" cy="122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999"/>
              </a:lnSpc>
              <a:spcBef>
                <a:spcPct val="0"/>
              </a:spcBef>
            </a:pPr>
            <a:r>
              <a:rPr lang="en-US" sz="775" u="none" strike="noStrike" spc="-42">
                <a:solidFill>
                  <a:srgbClr val="002649"/>
                </a:solidFill>
                <a:latin typeface="Public Sans"/>
                <a:ea typeface="Public Sans"/>
                <a:cs typeface="Public Sans"/>
                <a:sym typeface="Public Sans"/>
              </a:rPr>
              <a:t>CONTACT 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9753600" cy="7315200"/>
          </a:xfrm>
          <a:custGeom>
            <a:avLst/>
            <a:gdLst/>
            <a:ahLst/>
            <a:cxnLst/>
            <a:rect l="l" t="t" r="r" b="b"/>
            <a:pathLst>
              <a:path w="9753600" h="7315200">
                <a:moveTo>
                  <a:pt x="0" y="0"/>
                </a:moveTo>
                <a:lnTo>
                  <a:pt x="9753600" y="0"/>
                </a:lnTo>
                <a:lnTo>
                  <a:pt x="9753600" y="7315200"/>
                </a:lnTo>
                <a:lnTo>
                  <a:pt x="0" y="73152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6666" r="-16666"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548640" y="1463040"/>
            <a:ext cx="265134" cy="178845"/>
          </a:xfrm>
          <a:custGeom>
            <a:avLst/>
            <a:gdLst/>
            <a:ahLst/>
            <a:cxnLst/>
            <a:rect l="l" t="t" r="r" b="b"/>
            <a:pathLst>
              <a:path w="265134" h="178845">
                <a:moveTo>
                  <a:pt x="0" y="0"/>
                </a:moveTo>
                <a:lnTo>
                  <a:pt x="265134" y="0"/>
                </a:lnTo>
                <a:lnTo>
                  <a:pt x="265134" y="178845"/>
                </a:lnTo>
                <a:lnTo>
                  <a:pt x="0" y="17884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grpSp>
        <p:nvGrpSpPr>
          <p:cNvPr id="4" name="Group 4"/>
          <p:cNvGrpSpPr/>
          <p:nvPr/>
        </p:nvGrpSpPr>
        <p:grpSpPr>
          <a:xfrm>
            <a:off x="1386951" y="1981572"/>
            <a:ext cx="1504679" cy="1848995"/>
            <a:chOff x="0" y="0"/>
            <a:chExt cx="2878719" cy="353745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878719" cy="3537456"/>
            </a:xfrm>
            <a:custGeom>
              <a:avLst/>
              <a:gdLst/>
              <a:ahLst/>
              <a:cxnLst/>
              <a:rect l="l" t="t" r="r" b="b"/>
              <a:pathLst>
                <a:path w="2878719" h="3537456">
                  <a:moveTo>
                    <a:pt x="0" y="0"/>
                  </a:moveTo>
                  <a:lnTo>
                    <a:pt x="2878719" y="0"/>
                  </a:lnTo>
                  <a:lnTo>
                    <a:pt x="2878719" y="3537456"/>
                  </a:lnTo>
                  <a:lnTo>
                    <a:pt x="0" y="3537456"/>
                  </a:lnTo>
                  <a:close/>
                </a:path>
              </a:pathLst>
            </a:custGeom>
            <a:blipFill>
              <a:blip r:embed="rId5"/>
              <a:stretch>
                <a:fillRect l="-19410" r="-19410"/>
              </a:stretch>
            </a:blipFill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4286732" y="1925692"/>
            <a:ext cx="1449890" cy="1904875"/>
            <a:chOff x="0" y="0"/>
            <a:chExt cx="2773899" cy="364436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773899" cy="3644365"/>
            </a:xfrm>
            <a:custGeom>
              <a:avLst/>
              <a:gdLst/>
              <a:ahLst/>
              <a:cxnLst/>
              <a:rect l="l" t="t" r="r" b="b"/>
              <a:pathLst>
                <a:path w="2773899" h="3644365">
                  <a:moveTo>
                    <a:pt x="0" y="0"/>
                  </a:moveTo>
                  <a:lnTo>
                    <a:pt x="2773899" y="0"/>
                  </a:lnTo>
                  <a:lnTo>
                    <a:pt x="2773899" y="3644365"/>
                  </a:lnTo>
                  <a:lnTo>
                    <a:pt x="0" y="3644365"/>
                  </a:lnTo>
                  <a:close/>
                </a:path>
              </a:pathLst>
            </a:custGeom>
            <a:blipFill>
              <a:blip r:embed="rId6"/>
              <a:stretch>
                <a:fillRect l="-14137" r="-14137"/>
              </a:stretch>
            </a:blipFill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6872333" y="1981572"/>
            <a:ext cx="1385268" cy="1819973"/>
            <a:chOff x="0" y="0"/>
            <a:chExt cx="2773899" cy="364436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773899" cy="3644365"/>
            </a:xfrm>
            <a:custGeom>
              <a:avLst/>
              <a:gdLst/>
              <a:ahLst/>
              <a:cxnLst/>
              <a:rect l="l" t="t" r="r" b="b"/>
              <a:pathLst>
                <a:path w="2773899" h="3644365">
                  <a:moveTo>
                    <a:pt x="0" y="0"/>
                  </a:moveTo>
                  <a:lnTo>
                    <a:pt x="2773899" y="0"/>
                  </a:lnTo>
                  <a:lnTo>
                    <a:pt x="2773899" y="3644365"/>
                  </a:lnTo>
                  <a:lnTo>
                    <a:pt x="0" y="3644365"/>
                  </a:lnTo>
                  <a:close/>
                </a:path>
              </a:pathLst>
            </a:custGeom>
            <a:blipFill>
              <a:blip r:embed="rId7"/>
              <a:stretch>
                <a:fillRect l="-13920" r="-13920"/>
              </a:stretch>
            </a:blipFill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8163762" y="4106661"/>
            <a:ext cx="1428934" cy="1877341"/>
            <a:chOff x="0" y="0"/>
            <a:chExt cx="2773899" cy="364436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773899" cy="3644365"/>
            </a:xfrm>
            <a:custGeom>
              <a:avLst/>
              <a:gdLst/>
              <a:ahLst/>
              <a:cxnLst/>
              <a:rect l="l" t="t" r="r" b="b"/>
              <a:pathLst>
                <a:path w="2773899" h="3644365">
                  <a:moveTo>
                    <a:pt x="0" y="0"/>
                  </a:moveTo>
                  <a:lnTo>
                    <a:pt x="2773899" y="0"/>
                  </a:lnTo>
                  <a:lnTo>
                    <a:pt x="2773899" y="3644365"/>
                  </a:lnTo>
                  <a:lnTo>
                    <a:pt x="0" y="364436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4232847" y="3583616"/>
            <a:ext cx="1557662" cy="246950"/>
            <a:chOff x="0" y="0"/>
            <a:chExt cx="769216" cy="12195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769216" cy="121951"/>
            </a:xfrm>
            <a:custGeom>
              <a:avLst/>
              <a:gdLst/>
              <a:ahLst/>
              <a:cxnLst/>
              <a:rect l="l" t="t" r="r" b="b"/>
              <a:pathLst>
                <a:path w="769216" h="121951">
                  <a:moveTo>
                    <a:pt x="0" y="0"/>
                  </a:moveTo>
                  <a:lnTo>
                    <a:pt x="769216" y="0"/>
                  </a:lnTo>
                  <a:lnTo>
                    <a:pt x="769216" y="121951"/>
                  </a:lnTo>
                  <a:lnTo>
                    <a:pt x="0" y="121951"/>
                  </a:lnTo>
                  <a:close/>
                </a:path>
              </a:pathLst>
            </a:custGeom>
            <a:solidFill>
              <a:srgbClr val="E9E94C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769216" cy="131476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99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364545" y="3583616"/>
            <a:ext cx="1557662" cy="260169"/>
            <a:chOff x="0" y="0"/>
            <a:chExt cx="769216" cy="12847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769216" cy="128478"/>
            </a:xfrm>
            <a:custGeom>
              <a:avLst/>
              <a:gdLst/>
              <a:ahLst/>
              <a:cxnLst/>
              <a:rect l="l" t="t" r="r" b="b"/>
              <a:pathLst>
                <a:path w="769216" h="128478">
                  <a:moveTo>
                    <a:pt x="0" y="0"/>
                  </a:moveTo>
                  <a:lnTo>
                    <a:pt x="769216" y="0"/>
                  </a:lnTo>
                  <a:lnTo>
                    <a:pt x="769216" y="128478"/>
                  </a:lnTo>
                  <a:lnTo>
                    <a:pt x="0" y="128478"/>
                  </a:lnTo>
                  <a:close/>
                </a:path>
              </a:pathLst>
            </a:custGeom>
            <a:solidFill>
              <a:srgbClr val="E9E94C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9525"/>
              <a:ext cx="769216" cy="138003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999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6780665" y="3490228"/>
            <a:ext cx="1557662" cy="260169"/>
            <a:chOff x="0" y="0"/>
            <a:chExt cx="769216" cy="12847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769216" cy="128478"/>
            </a:xfrm>
            <a:custGeom>
              <a:avLst/>
              <a:gdLst/>
              <a:ahLst/>
              <a:cxnLst/>
              <a:rect l="l" t="t" r="r" b="b"/>
              <a:pathLst>
                <a:path w="769216" h="128478">
                  <a:moveTo>
                    <a:pt x="0" y="0"/>
                  </a:moveTo>
                  <a:lnTo>
                    <a:pt x="769216" y="0"/>
                  </a:lnTo>
                  <a:lnTo>
                    <a:pt x="769216" y="128478"/>
                  </a:lnTo>
                  <a:lnTo>
                    <a:pt x="0" y="128478"/>
                  </a:lnTo>
                  <a:close/>
                </a:path>
              </a:pathLst>
            </a:custGeom>
            <a:solidFill>
              <a:srgbClr val="E9E94C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9525"/>
              <a:ext cx="769216" cy="138003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999"/>
                </a:lnSpc>
              </a:pPr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8195938" y="5865650"/>
            <a:ext cx="1557662" cy="260169"/>
            <a:chOff x="0" y="0"/>
            <a:chExt cx="769216" cy="128478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769216" cy="128478"/>
            </a:xfrm>
            <a:custGeom>
              <a:avLst/>
              <a:gdLst/>
              <a:ahLst/>
              <a:cxnLst/>
              <a:rect l="l" t="t" r="r" b="b"/>
              <a:pathLst>
                <a:path w="769216" h="128478">
                  <a:moveTo>
                    <a:pt x="0" y="0"/>
                  </a:moveTo>
                  <a:lnTo>
                    <a:pt x="769216" y="0"/>
                  </a:lnTo>
                  <a:lnTo>
                    <a:pt x="769216" y="128478"/>
                  </a:lnTo>
                  <a:lnTo>
                    <a:pt x="0" y="128478"/>
                  </a:lnTo>
                  <a:close/>
                </a:path>
              </a:pathLst>
            </a:custGeom>
            <a:solidFill>
              <a:srgbClr val="E9E94C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9525"/>
              <a:ext cx="769216" cy="138003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999"/>
                </a:lnSpc>
              </a:pPr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204312" y="4090859"/>
            <a:ext cx="1449890" cy="1904875"/>
            <a:chOff x="0" y="0"/>
            <a:chExt cx="2773899" cy="3644365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773899" cy="3644365"/>
            </a:xfrm>
            <a:custGeom>
              <a:avLst/>
              <a:gdLst/>
              <a:ahLst/>
              <a:cxnLst/>
              <a:rect l="l" t="t" r="r" b="b"/>
              <a:pathLst>
                <a:path w="2773899" h="3644365">
                  <a:moveTo>
                    <a:pt x="0" y="0"/>
                  </a:moveTo>
                  <a:lnTo>
                    <a:pt x="2773899" y="0"/>
                  </a:lnTo>
                  <a:lnTo>
                    <a:pt x="2773899" y="3644365"/>
                  </a:lnTo>
                  <a:lnTo>
                    <a:pt x="0" y="3644365"/>
                  </a:lnTo>
                  <a:close/>
                </a:path>
              </a:pathLst>
            </a:custGeom>
            <a:blipFill>
              <a:blip r:embed="rId8"/>
              <a:stretch>
                <a:fillRect t="-804" b="-804"/>
              </a:stretch>
            </a:blipFill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2918122" y="4144744"/>
            <a:ext cx="1449890" cy="1904875"/>
            <a:chOff x="0" y="0"/>
            <a:chExt cx="2773899" cy="3644365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773899" cy="3644365"/>
            </a:xfrm>
            <a:custGeom>
              <a:avLst/>
              <a:gdLst/>
              <a:ahLst/>
              <a:cxnLst/>
              <a:rect l="l" t="t" r="r" b="b"/>
              <a:pathLst>
                <a:path w="2773899" h="3644365">
                  <a:moveTo>
                    <a:pt x="0" y="0"/>
                  </a:moveTo>
                  <a:lnTo>
                    <a:pt x="2773899" y="0"/>
                  </a:lnTo>
                  <a:lnTo>
                    <a:pt x="2773899" y="3644365"/>
                  </a:lnTo>
                  <a:lnTo>
                    <a:pt x="0" y="3644365"/>
                  </a:lnTo>
                  <a:close/>
                </a:path>
              </a:pathLst>
            </a:custGeom>
            <a:blipFill>
              <a:blip r:embed="rId9"/>
              <a:stretch>
                <a:fillRect l="-15482" r="-15482"/>
              </a:stretch>
            </a:blipFill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5712422" y="4144744"/>
            <a:ext cx="1449890" cy="1904875"/>
            <a:chOff x="0" y="0"/>
            <a:chExt cx="2773899" cy="3644365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773899" cy="3644365"/>
            </a:xfrm>
            <a:custGeom>
              <a:avLst/>
              <a:gdLst/>
              <a:ahLst/>
              <a:cxnLst/>
              <a:rect l="l" t="t" r="r" b="b"/>
              <a:pathLst>
                <a:path w="2773899" h="3644365">
                  <a:moveTo>
                    <a:pt x="0" y="0"/>
                  </a:moveTo>
                  <a:lnTo>
                    <a:pt x="2773899" y="0"/>
                  </a:lnTo>
                  <a:lnTo>
                    <a:pt x="2773899" y="3644365"/>
                  </a:lnTo>
                  <a:lnTo>
                    <a:pt x="0" y="3644365"/>
                  </a:lnTo>
                  <a:close/>
                </a:path>
              </a:pathLst>
            </a:custGeom>
            <a:blipFill>
              <a:blip r:embed="rId10"/>
              <a:stretch>
                <a:fillRect l="-13898" r="-13898"/>
              </a:stretch>
            </a:blipFill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1935977" y="1071105"/>
            <a:ext cx="5881645" cy="570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0"/>
              </a:lnSpc>
            </a:pPr>
            <a:r>
              <a:rPr lang="en-US" sz="4308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Meet Our Team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852309" y="1505750"/>
            <a:ext cx="656447" cy="102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761"/>
              </a:lnSpc>
              <a:spcBef>
                <a:spcPct val="0"/>
              </a:spcBef>
            </a:pPr>
            <a:r>
              <a:rPr lang="en-US" sz="738" b="1" spc="-25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Salford &amp; Co.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410327" y="3601262"/>
            <a:ext cx="1405200" cy="2031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1582"/>
              </a:lnSpc>
              <a:spcBef>
                <a:spcPct val="0"/>
              </a:spcBef>
            </a:pPr>
            <a:r>
              <a:rPr lang="en-US" sz="1226" b="1" spc="-67">
                <a:solidFill>
                  <a:srgbClr val="002649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M</a:t>
            </a:r>
            <a:r>
              <a:rPr lang="en-US" sz="1226" b="1" u="none" strike="noStrike" spc="-67">
                <a:solidFill>
                  <a:srgbClr val="002649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ostafa Walid 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4286732" y="3621479"/>
            <a:ext cx="1344410" cy="1632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16"/>
              </a:lnSpc>
            </a:pPr>
            <a:r>
              <a:rPr lang="en-US" sz="1226" b="1">
                <a:solidFill>
                  <a:srgbClr val="002649"/>
                </a:solidFill>
                <a:latin typeface="Poppins Bold"/>
                <a:ea typeface="Poppins Bold"/>
                <a:cs typeface="Poppins Bold"/>
                <a:sym typeface="Poppins Bold"/>
              </a:rPr>
              <a:t>Osama Hamza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6707262" y="3542131"/>
            <a:ext cx="1715409" cy="1632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16"/>
              </a:lnSpc>
            </a:pPr>
            <a:r>
              <a:rPr lang="en-US" sz="1226" b="1">
                <a:solidFill>
                  <a:srgbClr val="002649"/>
                </a:solidFill>
                <a:latin typeface="Poppins Bold"/>
                <a:ea typeface="Poppins Bold"/>
                <a:cs typeface="Poppins Bold"/>
                <a:sym typeface="Poppins Bold"/>
              </a:rPr>
              <a:t>Haytham Abubakr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8399838" y="5948678"/>
            <a:ext cx="1192857" cy="143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91"/>
              </a:lnSpc>
            </a:pPr>
            <a:r>
              <a:rPr lang="en-US" sz="1089" b="1">
                <a:solidFill>
                  <a:srgbClr val="002649"/>
                </a:solidFill>
                <a:latin typeface="Poppins Bold"/>
                <a:ea typeface="Poppins Bold"/>
                <a:cs typeface="Poppins Bold"/>
                <a:sym typeface="Poppins Bold"/>
              </a:rPr>
              <a:t>Esraa Ahmed 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5658537" y="5833642"/>
            <a:ext cx="1557662" cy="246950"/>
            <a:chOff x="0" y="0"/>
            <a:chExt cx="769216" cy="121951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769216" cy="121951"/>
            </a:xfrm>
            <a:custGeom>
              <a:avLst/>
              <a:gdLst/>
              <a:ahLst/>
              <a:cxnLst/>
              <a:rect l="l" t="t" r="r" b="b"/>
              <a:pathLst>
                <a:path w="769216" h="121951">
                  <a:moveTo>
                    <a:pt x="0" y="0"/>
                  </a:moveTo>
                  <a:lnTo>
                    <a:pt x="769216" y="0"/>
                  </a:lnTo>
                  <a:lnTo>
                    <a:pt x="769216" y="121951"/>
                  </a:lnTo>
                  <a:lnTo>
                    <a:pt x="0" y="121951"/>
                  </a:lnTo>
                  <a:close/>
                </a:path>
              </a:pathLst>
            </a:custGeom>
            <a:solidFill>
              <a:srgbClr val="E9E94C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9525"/>
              <a:ext cx="769216" cy="131476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999"/>
                </a:lnSpc>
              </a:pPr>
              <a:endParaRPr/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891631" y="5853918"/>
            <a:ext cx="1557662" cy="228627"/>
            <a:chOff x="0" y="0"/>
            <a:chExt cx="769216" cy="112902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769216" cy="112902"/>
            </a:xfrm>
            <a:custGeom>
              <a:avLst/>
              <a:gdLst/>
              <a:ahLst/>
              <a:cxnLst/>
              <a:rect l="l" t="t" r="r" b="b"/>
              <a:pathLst>
                <a:path w="769216" h="112902">
                  <a:moveTo>
                    <a:pt x="0" y="0"/>
                  </a:moveTo>
                  <a:lnTo>
                    <a:pt x="769216" y="0"/>
                  </a:lnTo>
                  <a:lnTo>
                    <a:pt x="769216" y="112902"/>
                  </a:lnTo>
                  <a:lnTo>
                    <a:pt x="0" y="112902"/>
                  </a:lnTo>
                  <a:close/>
                </a:path>
              </a:pathLst>
            </a:custGeom>
            <a:solidFill>
              <a:srgbClr val="E9E94C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9525"/>
              <a:ext cx="769216" cy="122427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999"/>
                </a:lnSpc>
              </a:pPr>
              <a:endParaRPr/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50329" y="5784345"/>
            <a:ext cx="1557662" cy="246950"/>
            <a:chOff x="0" y="0"/>
            <a:chExt cx="769216" cy="121951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769216" cy="121951"/>
            </a:xfrm>
            <a:custGeom>
              <a:avLst/>
              <a:gdLst/>
              <a:ahLst/>
              <a:cxnLst/>
              <a:rect l="l" t="t" r="r" b="b"/>
              <a:pathLst>
                <a:path w="769216" h="121951">
                  <a:moveTo>
                    <a:pt x="0" y="0"/>
                  </a:moveTo>
                  <a:lnTo>
                    <a:pt x="769216" y="0"/>
                  </a:lnTo>
                  <a:lnTo>
                    <a:pt x="769216" y="121951"/>
                  </a:lnTo>
                  <a:lnTo>
                    <a:pt x="0" y="121951"/>
                  </a:lnTo>
                  <a:close/>
                </a:path>
              </a:pathLst>
            </a:custGeom>
            <a:solidFill>
              <a:srgbClr val="E9E94C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0" y="-9525"/>
              <a:ext cx="769216" cy="131476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999"/>
                </a:lnSpc>
              </a:pPr>
              <a:endParaRPr/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2916977" y="5884700"/>
            <a:ext cx="1506970" cy="1632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16"/>
              </a:lnSpc>
            </a:pPr>
            <a:r>
              <a:rPr lang="en-US" sz="1226" b="1">
                <a:solidFill>
                  <a:srgbClr val="002649"/>
                </a:solidFill>
                <a:latin typeface="Poppins Bold"/>
                <a:ea typeface="Poppins Bold"/>
                <a:cs typeface="Poppins Bold"/>
                <a:sym typeface="Poppins Bold"/>
              </a:rPr>
              <a:t>Mohamed Samir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765162" y="5911708"/>
            <a:ext cx="1344410" cy="1658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64"/>
              </a:lnSpc>
            </a:pPr>
            <a:r>
              <a:rPr lang="en-US" sz="1279" b="1">
                <a:solidFill>
                  <a:srgbClr val="002649"/>
                </a:solidFill>
                <a:latin typeface="Poppins Bold"/>
                <a:ea typeface="Poppins Bold"/>
                <a:cs typeface="Poppins Bold"/>
                <a:sym typeface="Poppins Bold"/>
              </a:rPr>
              <a:t>Marwa Essa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256955" y="5852692"/>
            <a:ext cx="1344410" cy="1632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16"/>
              </a:lnSpc>
            </a:pPr>
            <a:r>
              <a:rPr lang="en-US" sz="1226" b="1">
                <a:solidFill>
                  <a:srgbClr val="002649"/>
                </a:solidFill>
                <a:latin typeface="Poppins Bold"/>
                <a:ea typeface="Poppins Bold"/>
                <a:cs typeface="Poppins Bold"/>
                <a:sym typeface="Poppins Bold"/>
              </a:rPr>
              <a:t>Nermin Reda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14400"/>
            <a:ext cx="2408334" cy="5486400"/>
            <a:chOff x="0" y="0"/>
            <a:chExt cx="1189301" cy="27093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189301" cy="2709333"/>
            </a:xfrm>
            <a:custGeom>
              <a:avLst/>
              <a:gdLst/>
              <a:ahLst/>
              <a:cxnLst/>
              <a:rect l="l" t="t" r="r" b="b"/>
              <a:pathLst>
                <a:path w="1189301" h="2709333">
                  <a:moveTo>
                    <a:pt x="0" y="0"/>
                  </a:moveTo>
                  <a:lnTo>
                    <a:pt x="1189301" y="0"/>
                  </a:lnTo>
                  <a:lnTo>
                    <a:pt x="118930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02649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189301" cy="2718858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99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2408334" y="914400"/>
            <a:ext cx="7345266" cy="5486400"/>
            <a:chOff x="0" y="0"/>
            <a:chExt cx="2133701" cy="1593725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33701" cy="1593725"/>
            </a:xfrm>
            <a:custGeom>
              <a:avLst/>
              <a:gdLst/>
              <a:ahLst/>
              <a:cxnLst/>
              <a:rect l="l" t="t" r="r" b="b"/>
              <a:pathLst>
                <a:path w="2133701" h="1593725">
                  <a:moveTo>
                    <a:pt x="0" y="0"/>
                  </a:moveTo>
                  <a:lnTo>
                    <a:pt x="2133701" y="0"/>
                  </a:lnTo>
                  <a:lnTo>
                    <a:pt x="2133701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2">
                <a:alphaModFix amt="73000"/>
              </a:blip>
              <a:stretch>
                <a:fillRect l="-10602" r="-10602"/>
              </a:stretch>
            </a:blipFill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81207" y="2525427"/>
            <a:ext cx="4417807" cy="3115427"/>
            <a:chOff x="0" y="0"/>
            <a:chExt cx="2181633" cy="153848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81633" cy="1538483"/>
            </a:xfrm>
            <a:custGeom>
              <a:avLst/>
              <a:gdLst/>
              <a:ahLst/>
              <a:cxnLst/>
              <a:rect l="l" t="t" r="r" b="b"/>
              <a:pathLst>
                <a:path w="2181633" h="1538483">
                  <a:moveTo>
                    <a:pt x="0" y="0"/>
                  </a:moveTo>
                  <a:lnTo>
                    <a:pt x="2181633" y="0"/>
                  </a:lnTo>
                  <a:lnTo>
                    <a:pt x="2181633" y="1538483"/>
                  </a:lnTo>
                  <a:lnTo>
                    <a:pt x="0" y="1538483"/>
                  </a:lnTo>
                  <a:close/>
                </a:path>
              </a:pathLst>
            </a:custGeom>
            <a:solidFill>
              <a:srgbClr val="002649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9525"/>
              <a:ext cx="2181633" cy="1548008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999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813774" y="2734626"/>
            <a:ext cx="2978773" cy="6225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78"/>
              </a:lnSpc>
            </a:pPr>
            <a:r>
              <a:rPr lang="en-US" sz="3413" b="1">
                <a:solidFill>
                  <a:srgbClr val="B4B4B4"/>
                </a:solidFill>
                <a:latin typeface="Poppins Bold"/>
                <a:ea typeface="Poppins Bold"/>
                <a:cs typeface="Poppins Bold"/>
                <a:sym typeface="Poppins Bold"/>
              </a:rPr>
              <a:t>About Our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13774" y="3242922"/>
            <a:ext cx="2748802" cy="7150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29"/>
              </a:lnSpc>
            </a:pPr>
            <a:r>
              <a:rPr lang="en-US" sz="3949">
                <a:solidFill>
                  <a:srgbClr val="B4B4B4"/>
                </a:solidFill>
                <a:latin typeface="Poppins"/>
                <a:ea typeface="Poppins"/>
                <a:cs typeface="Poppins"/>
                <a:sym typeface="Poppins"/>
              </a:rPr>
              <a:t>Company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52309" y="1505750"/>
            <a:ext cx="656447" cy="102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761"/>
              </a:lnSpc>
              <a:spcBef>
                <a:spcPct val="0"/>
              </a:spcBef>
            </a:pPr>
            <a:r>
              <a:rPr lang="en-US" sz="738" b="1" spc="-25">
                <a:solidFill>
                  <a:srgbClr val="002649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Salford &amp; Co.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52309" y="4200684"/>
            <a:ext cx="3910909" cy="11714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1538"/>
              </a:lnSpc>
              <a:spcBef>
                <a:spcPct val="0"/>
              </a:spcBef>
            </a:pPr>
            <a:r>
              <a:rPr lang="en-US" sz="1493" spc="-52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Ju</a:t>
            </a:r>
            <a:r>
              <a:rPr lang="en-US" sz="1493" u="none" strike="noStrike" spc="-52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st In Time Inventory System is a company specialized in supply chain and inventory management, aiming to optimize inventory flow, reduce storage costs, and ensure timely delivery to customers through multiple warehouses.</a:t>
            </a:r>
          </a:p>
        </p:txBody>
      </p:sp>
      <p:sp>
        <p:nvSpPr>
          <p:cNvPr id="14" name="Freeform 14"/>
          <p:cNvSpPr/>
          <p:nvPr/>
        </p:nvSpPr>
        <p:spPr>
          <a:xfrm>
            <a:off x="548640" y="1463040"/>
            <a:ext cx="265134" cy="178845"/>
          </a:xfrm>
          <a:custGeom>
            <a:avLst/>
            <a:gdLst/>
            <a:ahLst/>
            <a:cxnLst/>
            <a:rect l="l" t="t" r="r" b="b"/>
            <a:pathLst>
              <a:path w="265134" h="178845">
                <a:moveTo>
                  <a:pt x="0" y="0"/>
                </a:moveTo>
                <a:lnTo>
                  <a:pt x="265134" y="0"/>
                </a:lnTo>
                <a:lnTo>
                  <a:pt x="265134" y="178845"/>
                </a:lnTo>
                <a:lnTo>
                  <a:pt x="0" y="17884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6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48640" y="1463040"/>
            <a:ext cx="265134" cy="178845"/>
          </a:xfrm>
          <a:custGeom>
            <a:avLst/>
            <a:gdLst/>
            <a:ahLst/>
            <a:cxnLst/>
            <a:rect l="l" t="t" r="r" b="b"/>
            <a:pathLst>
              <a:path w="265134" h="178845">
                <a:moveTo>
                  <a:pt x="0" y="0"/>
                </a:moveTo>
                <a:lnTo>
                  <a:pt x="265134" y="0"/>
                </a:lnTo>
                <a:lnTo>
                  <a:pt x="265134" y="178845"/>
                </a:lnTo>
                <a:lnTo>
                  <a:pt x="0" y="17884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AutoShape 3"/>
          <p:cNvSpPr/>
          <p:nvPr/>
        </p:nvSpPr>
        <p:spPr>
          <a:xfrm>
            <a:off x="1234718" y="3864679"/>
            <a:ext cx="4332313" cy="10160"/>
          </a:xfrm>
          <a:prstGeom prst="line">
            <a:avLst/>
          </a:prstGeom>
          <a:ln w="19050" cap="flat">
            <a:solidFill>
              <a:srgbClr val="B4B4B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grpSp>
        <p:nvGrpSpPr>
          <p:cNvPr id="4" name="Group 4"/>
          <p:cNvGrpSpPr/>
          <p:nvPr/>
        </p:nvGrpSpPr>
        <p:grpSpPr>
          <a:xfrm>
            <a:off x="1090190" y="3743152"/>
            <a:ext cx="202414" cy="202414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B4B4B4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999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813774" y="2491090"/>
            <a:ext cx="5128410" cy="3791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11"/>
              </a:lnSpc>
            </a:pPr>
            <a:r>
              <a:rPr lang="en-US" sz="2560" b="1">
                <a:solidFill>
                  <a:srgbClr val="B4B4B4"/>
                </a:solidFill>
                <a:latin typeface="Poppins Bold"/>
                <a:ea typeface="Poppins Bold"/>
                <a:cs typeface="Poppins Bold"/>
                <a:sym typeface="Poppins Bold"/>
              </a:rPr>
              <a:t>Yearly Performance Summary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52309" y="1505750"/>
            <a:ext cx="656447" cy="102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761"/>
              </a:lnSpc>
              <a:spcBef>
                <a:spcPct val="0"/>
              </a:spcBef>
            </a:pPr>
            <a:r>
              <a:rPr lang="en-US" sz="738" b="1" spc="-25">
                <a:solidFill>
                  <a:srgbClr val="002649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Salford &amp; Co.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6563345" y="800505"/>
            <a:ext cx="4571041" cy="5600295"/>
            <a:chOff x="0" y="0"/>
            <a:chExt cx="2041599" cy="250130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041599" cy="2501304"/>
            </a:xfrm>
            <a:custGeom>
              <a:avLst/>
              <a:gdLst/>
              <a:ahLst/>
              <a:cxnLst/>
              <a:rect l="l" t="t" r="r" b="b"/>
              <a:pathLst>
                <a:path w="2041599" h="2501304">
                  <a:moveTo>
                    <a:pt x="0" y="0"/>
                  </a:moveTo>
                  <a:lnTo>
                    <a:pt x="2041599" y="0"/>
                  </a:lnTo>
                  <a:lnTo>
                    <a:pt x="2041599" y="2501304"/>
                  </a:lnTo>
                  <a:lnTo>
                    <a:pt x="0" y="2501304"/>
                  </a:lnTo>
                  <a:close/>
                </a:path>
              </a:pathLst>
            </a:custGeom>
            <a:blipFill>
              <a:blip r:embed="rId4"/>
              <a:stretch>
                <a:fillRect l="-43346" r="-43346"/>
              </a:stretch>
            </a:blipFill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40172" y="4368094"/>
            <a:ext cx="2102450" cy="10927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1208"/>
              </a:lnSpc>
              <a:spcBef>
                <a:spcPct val="0"/>
              </a:spcBef>
            </a:pPr>
            <a:r>
              <a:rPr lang="en-US" sz="1173" spc="-41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Sales</a:t>
            </a:r>
            <a:r>
              <a:rPr lang="en-US" sz="1173" u="none" strike="noStrike" spc="-41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 were stable, with strong order volumes and low late shipment rates.</a:t>
            </a:r>
          </a:p>
          <a:p>
            <a:pPr marL="0" lvl="0" indent="0" algn="just">
              <a:lnSpc>
                <a:spcPts val="1318"/>
              </a:lnSpc>
              <a:spcBef>
                <a:spcPct val="0"/>
              </a:spcBef>
            </a:pPr>
            <a:endParaRPr lang="en-US" sz="1173" u="none" strike="noStrike" spc="-41">
              <a:solidFill>
                <a:srgbClr val="B4B4B4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just">
              <a:lnSpc>
                <a:spcPts val="1208"/>
              </a:lnSpc>
              <a:spcBef>
                <a:spcPct val="0"/>
              </a:spcBef>
            </a:pPr>
            <a:r>
              <a:rPr lang="en-US" sz="1173" u="none" strike="noStrike" spc="-41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Top-selling  product categories led the company’s performance.</a:t>
            </a:r>
          </a:p>
          <a:p>
            <a:pPr marL="0" lvl="0" indent="0" algn="just">
              <a:lnSpc>
                <a:spcPts val="1208"/>
              </a:lnSpc>
              <a:spcBef>
                <a:spcPct val="0"/>
              </a:spcBef>
            </a:pPr>
            <a:endParaRPr lang="en-US" sz="1173" u="none" strike="noStrike" spc="-41">
              <a:solidFill>
                <a:srgbClr val="B4B4B4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2595603" y="4357934"/>
            <a:ext cx="1812956" cy="1282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1043"/>
              </a:lnSpc>
              <a:spcBef>
                <a:spcPct val="0"/>
              </a:spcBef>
            </a:pPr>
            <a:r>
              <a:rPr lang="en-US" sz="1013" spc="-35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Sal</a:t>
            </a:r>
            <a:r>
              <a:rPr lang="en-US" sz="1013" u="none" strike="noStrike" spc="-35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es showed a slight decline, and inventory management issues began to appear.</a:t>
            </a:r>
          </a:p>
          <a:p>
            <a:pPr marL="0" lvl="0" indent="0" algn="just">
              <a:lnSpc>
                <a:spcPts val="1043"/>
              </a:lnSpc>
              <a:spcBef>
                <a:spcPct val="0"/>
              </a:spcBef>
            </a:pPr>
            <a:endParaRPr lang="en-US" sz="1013" u="none" strike="noStrike" spc="-35">
              <a:solidFill>
                <a:srgbClr val="B4B4B4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just">
              <a:lnSpc>
                <a:spcPts val="1208"/>
              </a:lnSpc>
              <a:spcBef>
                <a:spcPct val="0"/>
              </a:spcBef>
            </a:pPr>
            <a:r>
              <a:rPr lang="en-US" sz="1173" u="none" strike="noStrike" spc="-41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Late shipment rates increased, and demand for key product categories started to drop.</a:t>
            </a:r>
          </a:p>
          <a:p>
            <a:pPr marL="0" lvl="0" indent="0" algn="just">
              <a:lnSpc>
                <a:spcPts val="1043"/>
              </a:lnSpc>
              <a:spcBef>
                <a:spcPct val="0"/>
              </a:spcBef>
            </a:pPr>
            <a:endParaRPr lang="en-US" sz="1173" u="none" strike="noStrike" spc="-41">
              <a:solidFill>
                <a:srgbClr val="B4B4B4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4686855" y="4368094"/>
            <a:ext cx="1800423" cy="1154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1220"/>
              </a:lnSpc>
              <a:spcBef>
                <a:spcPct val="0"/>
              </a:spcBef>
            </a:pPr>
            <a:r>
              <a:rPr lang="en-US" sz="1184" spc="-41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S</a:t>
            </a:r>
            <a:r>
              <a:rPr lang="en-US" sz="1184" u="none" strike="noStrike" spc="-41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ales and profits dropped significantly, with orders at their lowest level.</a:t>
            </a:r>
          </a:p>
          <a:p>
            <a:pPr marL="0" lvl="0" indent="0" algn="just">
              <a:lnSpc>
                <a:spcPts val="1220"/>
              </a:lnSpc>
              <a:spcBef>
                <a:spcPct val="0"/>
              </a:spcBef>
            </a:pPr>
            <a:endParaRPr lang="en-US" sz="1184" u="none" strike="noStrike" spc="-41">
              <a:solidFill>
                <a:srgbClr val="B4B4B4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just">
              <a:lnSpc>
                <a:spcPts val="1418"/>
              </a:lnSpc>
              <a:spcBef>
                <a:spcPct val="0"/>
              </a:spcBef>
            </a:pPr>
            <a:r>
              <a:rPr lang="en-US" sz="1376" u="none" strike="noStrike" spc="-48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Late shipments and inventory inefficiencies became more evident.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3299667" y="3753312"/>
            <a:ext cx="202414" cy="202414"/>
            <a:chOff x="0" y="0"/>
            <a:chExt cx="8128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B4B4B4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999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5422503" y="3753312"/>
            <a:ext cx="202414" cy="202414"/>
            <a:chOff x="0" y="0"/>
            <a:chExt cx="812800" cy="8128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B4B4B4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999"/>
                </a:lnSpc>
              </a:pPr>
              <a:endParaRPr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1102" y="4049119"/>
            <a:ext cx="880592" cy="2230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678"/>
              </a:lnSpc>
              <a:spcBef>
                <a:spcPct val="0"/>
              </a:spcBef>
            </a:pPr>
            <a:r>
              <a:rPr lang="en-US" sz="1629" b="1" spc="-57">
                <a:solidFill>
                  <a:srgbClr val="B4B4B4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2015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960578" y="4049119"/>
            <a:ext cx="880592" cy="2230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678"/>
              </a:lnSpc>
              <a:spcBef>
                <a:spcPct val="0"/>
              </a:spcBef>
            </a:pPr>
            <a:r>
              <a:rPr lang="en-US" sz="1629" b="1" spc="-57">
                <a:solidFill>
                  <a:srgbClr val="B4B4B4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2016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170055" y="4049119"/>
            <a:ext cx="880592" cy="2230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678"/>
              </a:lnSpc>
              <a:spcBef>
                <a:spcPct val="0"/>
              </a:spcBef>
            </a:pPr>
            <a:r>
              <a:rPr lang="en-US" sz="1629" b="1" spc="-57">
                <a:solidFill>
                  <a:srgbClr val="B4B4B4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2017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9753600" cy="7315200"/>
          </a:xfrm>
          <a:custGeom>
            <a:avLst/>
            <a:gdLst/>
            <a:ahLst/>
            <a:cxnLst/>
            <a:rect l="l" t="t" r="r" b="b"/>
            <a:pathLst>
              <a:path w="9753600" h="7315200">
                <a:moveTo>
                  <a:pt x="0" y="0"/>
                </a:moveTo>
                <a:lnTo>
                  <a:pt x="9753600" y="0"/>
                </a:lnTo>
                <a:lnTo>
                  <a:pt x="9753600" y="7315200"/>
                </a:lnTo>
                <a:lnTo>
                  <a:pt x="0" y="73152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6666" r="-16666"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548640" y="1463040"/>
            <a:ext cx="265134" cy="178845"/>
          </a:xfrm>
          <a:custGeom>
            <a:avLst/>
            <a:gdLst/>
            <a:ahLst/>
            <a:cxnLst/>
            <a:rect l="l" t="t" r="r" b="b"/>
            <a:pathLst>
              <a:path w="265134" h="178845">
                <a:moveTo>
                  <a:pt x="0" y="0"/>
                </a:moveTo>
                <a:lnTo>
                  <a:pt x="265134" y="0"/>
                </a:lnTo>
                <a:lnTo>
                  <a:pt x="265134" y="178845"/>
                </a:lnTo>
                <a:lnTo>
                  <a:pt x="0" y="17884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grpSp>
        <p:nvGrpSpPr>
          <p:cNvPr id="4" name="Group 4"/>
          <p:cNvGrpSpPr/>
          <p:nvPr/>
        </p:nvGrpSpPr>
        <p:grpSpPr>
          <a:xfrm>
            <a:off x="280282" y="2524374"/>
            <a:ext cx="5290348" cy="3052012"/>
            <a:chOff x="0" y="0"/>
            <a:chExt cx="2612517" cy="150716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612517" cy="1507167"/>
            </a:xfrm>
            <a:custGeom>
              <a:avLst/>
              <a:gdLst/>
              <a:ahLst/>
              <a:cxnLst/>
              <a:rect l="l" t="t" r="r" b="b"/>
              <a:pathLst>
                <a:path w="2612517" h="1507167">
                  <a:moveTo>
                    <a:pt x="0" y="0"/>
                  </a:moveTo>
                  <a:lnTo>
                    <a:pt x="2612517" y="0"/>
                  </a:lnTo>
                  <a:lnTo>
                    <a:pt x="2612517" y="1507167"/>
                  </a:lnTo>
                  <a:lnTo>
                    <a:pt x="0" y="1507167"/>
                  </a:lnTo>
                  <a:close/>
                </a:path>
              </a:pathLst>
            </a:custGeom>
            <a:solidFill>
              <a:srgbClr val="002649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9525"/>
              <a:ext cx="2612517" cy="1516692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999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4633919" y="2098974"/>
            <a:ext cx="4571041" cy="3753186"/>
            <a:chOff x="0" y="0"/>
            <a:chExt cx="2041599" cy="167631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041599" cy="1676315"/>
            </a:xfrm>
            <a:custGeom>
              <a:avLst/>
              <a:gdLst/>
              <a:ahLst/>
              <a:cxnLst/>
              <a:rect l="l" t="t" r="r" b="b"/>
              <a:pathLst>
                <a:path w="2041599" h="1676315">
                  <a:moveTo>
                    <a:pt x="0" y="0"/>
                  </a:moveTo>
                  <a:lnTo>
                    <a:pt x="2041599" y="0"/>
                  </a:lnTo>
                  <a:lnTo>
                    <a:pt x="2041599" y="1676315"/>
                  </a:lnTo>
                  <a:lnTo>
                    <a:pt x="0" y="1676315"/>
                  </a:lnTo>
                  <a:close/>
                </a:path>
              </a:pathLst>
            </a:custGeom>
            <a:blipFill>
              <a:blip r:embed="rId5"/>
              <a:stretch>
                <a:fillRect l="-11619" r="-11619"/>
              </a:stretch>
            </a:blipFill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548640" y="2549637"/>
            <a:ext cx="4156566" cy="14112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08"/>
              </a:lnSpc>
            </a:pPr>
            <a:r>
              <a:rPr lang="en-US" sz="3934" b="1">
                <a:solidFill>
                  <a:srgbClr val="B4B4B4"/>
                </a:solidFill>
                <a:latin typeface="Poppins Bold"/>
                <a:ea typeface="Poppins Bold"/>
                <a:cs typeface="Poppins Bold"/>
                <a:sym typeface="Poppins Bold"/>
              </a:rPr>
              <a:t>Data Structure:</a:t>
            </a:r>
          </a:p>
          <a:p>
            <a:pPr algn="l">
              <a:lnSpc>
                <a:spcPts val="5508"/>
              </a:lnSpc>
            </a:pPr>
            <a:endParaRPr lang="en-US" sz="3934" b="1">
              <a:solidFill>
                <a:srgbClr val="B4B4B4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852309" y="1505750"/>
            <a:ext cx="656447" cy="102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761"/>
              </a:lnSpc>
              <a:spcBef>
                <a:spcPct val="0"/>
              </a:spcBef>
            </a:pPr>
            <a:r>
              <a:rPr lang="en-US" sz="738" b="1" spc="-25">
                <a:solidFill>
                  <a:srgbClr val="002649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Salford &amp; Co.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570592" y="1542938"/>
            <a:ext cx="451953" cy="122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999"/>
              </a:lnSpc>
              <a:spcBef>
                <a:spcPct val="0"/>
              </a:spcBef>
            </a:pPr>
            <a:r>
              <a:rPr lang="en-US" sz="775" u="none" strike="noStrike" spc="-42">
                <a:solidFill>
                  <a:srgbClr val="002649"/>
                </a:solidFill>
                <a:latin typeface="Public Sans"/>
                <a:ea typeface="Public Sans"/>
                <a:cs typeface="Public Sans"/>
                <a:sym typeface="Public Sans"/>
              </a:rPr>
              <a:t>HOME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159488" y="1542938"/>
            <a:ext cx="451953" cy="122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999"/>
              </a:lnSpc>
              <a:spcBef>
                <a:spcPct val="0"/>
              </a:spcBef>
            </a:pPr>
            <a:r>
              <a:rPr lang="en-US" sz="775" u="none" strike="noStrike" spc="-42">
                <a:solidFill>
                  <a:srgbClr val="002649"/>
                </a:solidFill>
                <a:latin typeface="Public Sans"/>
                <a:ea typeface="Public Sans"/>
                <a:cs typeface="Public Sans"/>
                <a:sym typeface="Public Sans"/>
              </a:rPr>
              <a:t>SERVICE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748601" y="1542938"/>
            <a:ext cx="589725" cy="122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999"/>
              </a:lnSpc>
              <a:spcBef>
                <a:spcPct val="0"/>
              </a:spcBef>
            </a:pPr>
            <a:r>
              <a:rPr lang="en-US" sz="775" u="none" strike="noStrike" spc="-42">
                <a:solidFill>
                  <a:srgbClr val="002649"/>
                </a:solidFill>
                <a:latin typeface="Public Sans"/>
                <a:ea typeface="Public Sans"/>
                <a:cs typeface="Public Sans"/>
                <a:sym typeface="Public Sans"/>
              </a:rPr>
              <a:t>ABOUT US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492771" y="1542938"/>
            <a:ext cx="712189" cy="122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999"/>
              </a:lnSpc>
              <a:spcBef>
                <a:spcPct val="0"/>
              </a:spcBef>
            </a:pPr>
            <a:r>
              <a:rPr lang="en-US" sz="775" u="none" strike="noStrike" spc="-42">
                <a:solidFill>
                  <a:srgbClr val="002649"/>
                </a:solidFill>
                <a:latin typeface="Public Sans"/>
                <a:ea typeface="Public Sans"/>
                <a:cs typeface="Public Sans"/>
                <a:sym typeface="Public Sans"/>
              </a:rPr>
              <a:t>CONTACT US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48640" y="3462543"/>
            <a:ext cx="3636214" cy="15132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14742" lvl="1" indent="-207371" algn="just">
              <a:lnSpc>
                <a:spcPts val="1978"/>
              </a:lnSpc>
              <a:buFont typeface="Arial"/>
              <a:buChar char="•"/>
            </a:pPr>
            <a:r>
              <a:rPr lang="en-US" sz="1920" spc="-67" dirty="0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Da</a:t>
            </a:r>
            <a:r>
              <a:rPr lang="en-US" sz="1920" u="none" strike="noStrike" spc="-67" dirty="0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taset consist:.</a:t>
            </a:r>
          </a:p>
          <a:p>
            <a:pPr marL="414742" lvl="1" indent="-207371" algn="just">
              <a:lnSpc>
                <a:spcPts val="1978"/>
              </a:lnSpc>
              <a:buFont typeface="Arial"/>
              <a:buChar char="•"/>
            </a:pPr>
            <a:r>
              <a:rPr lang="en-US" sz="1920" u="none" strike="noStrike" spc="-67" dirty="0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28 columns</a:t>
            </a:r>
          </a:p>
          <a:p>
            <a:pPr marL="414742" lvl="1" indent="-207371" algn="just">
              <a:lnSpc>
                <a:spcPts val="1978"/>
              </a:lnSpc>
              <a:buFont typeface="Arial"/>
              <a:buChar char="•"/>
            </a:pPr>
            <a:r>
              <a:rPr lang="en-US" sz="1920" u="none" strike="noStrike" spc="-67" dirty="0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25861 rows</a:t>
            </a:r>
          </a:p>
          <a:p>
            <a:pPr marL="414742" lvl="1" indent="-207371" algn="just">
              <a:lnSpc>
                <a:spcPts val="1978"/>
              </a:lnSpc>
              <a:buFont typeface="Arial"/>
              <a:buChar char="•"/>
            </a:pPr>
            <a:r>
              <a:rPr lang="en-US" sz="1920" u="none" strike="noStrike" spc="-67" dirty="0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Presented in 4 dimension tables and 1 fact table</a:t>
            </a:r>
          </a:p>
          <a:p>
            <a:pPr algn="just">
              <a:lnSpc>
                <a:spcPts val="1978"/>
              </a:lnSpc>
            </a:pPr>
            <a:endParaRPr lang="en-US" sz="1920" u="none" strike="noStrike" spc="-67" dirty="0">
              <a:solidFill>
                <a:srgbClr val="B4B4B4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9753600" cy="7315200"/>
          </a:xfrm>
          <a:custGeom>
            <a:avLst/>
            <a:gdLst/>
            <a:ahLst/>
            <a:cxnLst/>
            <a:rect l="l" t="t" r="r" b="b"/>
            <a:pathLst>
              <a:path w="9753600" h="7315200">
                <a:moveTo>
                  <a:pt x="0" y="0"/>
                </a:moveTo>
                <a:lnTo>
                  <a:pt x="9753600" y="0"/>
                </a:lnTo>
                <a:lnTo>
                  <a:pt x="9753600" y="7315200"/>
                </a:lnTo>
                <a:lnTo>
                  <a:pt x="0" y="73152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6666" r="-16666"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548640" y="1463040"/>
            <a:ext cx="265134" cy="178845"/>
          </a:xfrm>
          <a:custGeom>
            <a:avLst/>
            <a:gdLst/>
            <a:ahLst/>
            <a:cxnLst/>
            <a:rect l="l" t="t" r="r" b="b"/>
            <a:pathLst>
              <a:path w="265134" h="178845">
                <a:moveTo>
                  <a:pt x="0" y="0"/>
                </a:moveTo>
                <a:lnTo>
                  <a:pt x="265134" y="0"/>
                </a:lnTo>
                <a:lnTo>
                  <a:pt x="265134" y="178845"/>
                </a:lnTo>
                <a:lnTo>
                  <a:pt x="0" y="17884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grpSp>
        <p:nvGrpSpPr>
          <p:cNvPr id="4" name="Group 4"/>
          <p:cNvGrpSpPr/>
          <p:nvPr/>
        </p:nvGrpSpPr>
        <p:grpSpPr>
          <a:xfrm>
            <a:off x="3056863" y="1350565"/>
            <a:ext cx="6581830" cy="4937760"/>
            <a:chOff x="0" y="0"/>
            <a:chExt cx="3250286" cy="24384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250286" cy="2438400"/>
            </a:xfrm>
            <a:custGeom>
              <a:avLst/>
              <a:gdLst/>
              <a:ahLst/>
              <a:cxnLst/>
              <a:rect l="l" t="t" r="r" b="b"/>
              <a:pathLst>
                <a:path w="3250286" h="2438400">
                  <a:moveTo>
                    <a:pt x="0" y="0"/>
                  </a:moveTo>
                  <a:lnTo>
                    <a:pt x="3250286" y="0"/>
                  </a:lnTo>
                  <a:lnTo>
                    <a:pt x="3250286" y="2438400"/>
                  </a:lnTo>
                  <a:lnTo>
                    <a:pt x="0" y="2438400"/>
                  </a:lnTo>
                  <a:close/>
                </a:path>
              </a:pathLst>
            </a:custGeom>
            <a:solidFill>
              <a:srgbClr val="002649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9525"/>
              <a:ext cx="3250286" cy="2447925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999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31194" y="2075983"/>
            <a:ext cx="3792821" cy="3486925"/>
            <a:chOff x="0" y="0"/>
            <a:chExt cx="2041599" cy="187694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041599" cy="1876942"/>
            </a:xfrm>
            <a:custGeom>
              <a:avLst/>
              <a:gdLst/>
              <a:ahLst/>
              <a:cxnLst/>
              <a:rect l="l" t="t" r="r" b="b"/>
              <a:pathLst>
                <a:path w="2041599" h="1876942">
                  <a:moveTo>
                    <a:pt x="0" y="0"/>
                  </a:moveTo>
                  <a:lnTo>
                    <a:pt x="2041599" y="0"/>
                  </a:lnTo>
                  <a:lnTo>
                    <a:pt x="2041599" y="1876942"/>
                  </a:lnTo>
                  <a:lnTo>
                    <a:pt x="0" y="1876942"/>
                  </a:lnTo>
                  <a:close/>
                </a:path>
              </a:pathLst>
            </a:custGeom>
            <a:blipFill>
              <a:blip r:embed="rId5"/>
              <a:stretch>
                <a:fillRect l="-18994" r="-18994"/>
              </a:stretch>
            </a:blipFill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852309" y="1505750"/>
            <a:ext cx="656447" cy="102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761"/>
              </a:lnSpc>
              <a:spcBef>
                <a:spcPct val="0"/>
              </a:spcBef>
            </a:pPr>
            <a:r>
              <a:rPr lang="en-US" sz="738" b="1" spc="-25">
                <a:solidFill>
                  <a:srgbClr val="002649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Salford &amp; Co.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023802" y="2387431"/>
            <a:ext cx="3976364" cy="37466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977"/>
              </a:lnSpc>
            </a:pPr>
            <a:r>
              <a:rPr lang="en-US" sz="1920" spc="-67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• R</a:t>
            </a:r>
            <a:r>
              <a:rPr lang="en-US" sz="1920" u="none" strike="noStrike" spc="-67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emoved unnecessary columns: Order Item ID and Order Time. </a:t>
            </a:r>
          </a:p>
          <a:p>
            <a:pPr algn="just">
              <a:lnSpc>
                <a:spcPts val="1977"/>
              </a:lnSpc>
            </a:pPr>
            <a:r>
              <a:rPr lang="en-US" sz="1920" u="none" strike="noStrike" spc="-67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• Fixed column data types. </a:t>
            </a:r>
          </a:p>
          <a:p>
            <a:pPr algn="just">
              <a:lnSpc>
                <a:spcPts val="1977"/>
              </a:lnSpc>
            </a:pPr>
            <a:r>
              <a:rPr lang="en-US" sz="1920" u="none" strike="noStrike" spc="-67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• Removed special characters from the Customer Country column. </a:t>
            </a:r>
          </a:p>
          <a:p>
            <a:pPr algn="just">
              <a:lnSpc>
                <a:spcPts val="1977"/>
              </a:lnSpc>
            </a:pPr>
            <a:r>
              <a:rPr lang="en-US" sz="1920" u="none" strike="noStrike" spc="-67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• Checked for missing and duplicate values. </a:t>
            </a:r>
          </a:p>
          <a:p>
            <a:pPr algn="just">
              <a:lnSpc>
                <a:spcPts val="1977"/>
              </a:lnSpc>
            </a:pPr>
            <a:r>
              <a:rPr lang="en-US" sz="1920" u="none" strike="noStrike" spc="-67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• Found 5 products in the inventory but not in the orders; kept them because they represent a significant storage cost.</a:t>
            </a:r>
          </a:p>
          <a:p>
            <a:pPr algn="just">
              <a:lnSpc>
                <a:spcPts val="1977"/>
              </a:lnSpc>
            </a:pPr>
            <a:r>
              <a:rPr lang="en-US" sz="1920" u="none" strike="noStrike" spc="-67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• Cleaned shipping time values: removed negative values and those greater than 28 days as they are unrealistic.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204136" y="1670460"/>
            <a:ext cx="3742994" cy="10773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13"/>
              </a:lnSpc>
            </a:pPr>
            <a:r>
              <a:rPr lang="en-US" sz="3934" b="1">
                <a:solidFill>
                  <a:srgbClr val="B4B4B4"/>
                </a:solidFill>
                <a:latin typeface="Poppins Bold"/>
                <a:ea typeface="Poppins Bold"/>
                <a:cs typeface="Poppins Bold"/>
                <a:sym typeface="Poppins Bold"/>
              </a:rPr>
              <a:t>Data Cleaning </a:t>
            </a:r>
          </a:p>
          <a:p>
            <a:pPr algn="l">
              <a:lnSpc>
                <a:spcPts val="4013"/>
              </a:lnSpc>
            </a:pPr>
            <a:endParaRPr lang="en-US" sz="3934" b="1">
              <a:solidFill>
                <a:srgbClr val="B4B4B4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6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03901" y="1135047"/>
            <a:ext cx="265134" cy="178845"/>
          </a:xfrm>
          <a:custGeom>
            <a:avLst/>
            <a:gdLst/>
            <a:ahLst/>
            <a:cxnLst/>
            <a:rect l="l" t="t" r="r" b="b"/>
            <a:pathLst>
              <a:path w="265134" h="178845">
                <a:moveTo>
                  <a:pt x="0" y="0"/>
                </a:moveTo>
                <a:lnTo>
                  <a:pt x="265134" y="0"/>
                </a:lnTo>
                <a:lnTo>
                  <a:pt x="265134" y="178845"/>
                </a:lnTo>
                <a:lnTo>
                  <a:pt x="0" y="17884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grpSp>
        <p:nvGrpSpPr>
          <p:cNvPr id="3" name="Group 3"/>
          <p:cNvGrpSpPr/>
          <p:nvPr/>
        </p:nvGrpSpPr>
        <p:grpSpPr>
          <a:xfrm>
            <a:off x="2405571" y="914400"/>
            <a:ext cx="7467300" cy="5486400"/>
            <a:chOff x="0" y="0"/>
            <a:chExt cx="10839194" cy="796381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0839193" cy="7963810"/>
            </a:xfrm>
            <a:custGeom>
              <a:avLst/>
              <a:gdLst/>
              <a:ahLst/>
              <a:cxnLst/>
              <a:rect l="l" t="t" r="r" b="b"/>
              <a:pathLst>
                <a:path w="10839193" h="7963810">
                  <a:moveTo>
                    <a:pt x="0" y="0"/>
                  </a:moveTo>
                  <a:lnTo>
                    <a:pt x="10839193" y="0"/>
                  </a:lnTo>
                  <a:lnTo>
                    <a:pt x="10839193" y="7963810"/>
                  </a:lnTo>
                  <a:lnTo>
                    <a:pt x="0" y="7963810"/>
                  </a:lnTo>
                  <a:close/>
                </a:path>
              </a:pathLst>
            </a:custGeom>
            <a:blipFill>
              <a:blip r:embed="rId4"/>
              <a:stretch>
                <a:fillRect l="-6370" r="-6370"/>
              </a:stretch>
            </a:blipFill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0" y="1618518"/>
            <a:ext cx="2554658" cy="1676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88"/>
              </a:lnSpc>
            </a:pPr>
            <a:r>
              <a:rPr lang="en-US" sz="3934" b="1">
                <a:solidFill>
                  <a:srgbClr val="B4B4B4"/>
                </a:solidFill>
                <a:latin typeface="Poppins Bold"/>
                <a:ea typeface="Poppins Bold"/>
                <a:cs typeface="Poppins Bold"/>
                <a:sym typeface="Poppins Bold"/>
              </a:rPr>
              <a:t>Data Modeling </a:t>
            </a:r>
          </a:p>
          <a:p>
            <a:pPr algn="l">
              <a:lnSpc>
                <a:spcPts val="4288"/>
              </a:lnSpc>
            </a:pPr>
            <a:endParaRPr lang="en-US" sz="3934" b="1">
              <a:solidFill>
                <a:srgbClr val="B4B4B4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0" y="3010459"/>
            <a:ext cx="2205290" cy="23540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03013" lvl="1" indent="-201506" algn="just">
              <a:lnSpc>
                <a:spcPts val="1922"/>
              </a:lnSpc>
              <a:spcBef>
                <a:spcPct val="0"/>
              </a:spcBef>
              <a:buFont typeface="Arial"/>
              <a:buChar char="•"/>
            </a:pPr>
            <a:r>
              <a:rPr lang="en-US" sz="1866" spc="-65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Wi</a:t>
            </a:r>
            <a:r>
              <a:rPr lang="en-US" sz="1866" u="none" strike="noStrike" spc="-65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th one PK in each dimension table &amp; 5 FK in fact table</a:t>
            </a:r>
          </a:p>
          <a:p>
            <a:pPr marL="403013" lvl="1" indent="-201506" algn="just">
              <a:lnSpc>
                <a:spcPts val="1922"/>
              </a:lnSpc>
              <a:spcBef>
                <a:spcPct val="0"/>
              </a:spcBef>
              <a:buFont typeface="Arial"/>
              <a:buChar char="•"/>
            </a:pPr>
            <a:r>
              <a:rPr lang="en-US" sz="1866" u="none" strike="noStrike" spc="-65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Connect tables on Star Scheme</a:t>
            </a:r>
          </a:p>
          <a:p>
            <a:pPr marL="403013" lvl="1" indent="-201506" algn="just">
              <a:lnSpc>
                <a:spcPts val="1922"/>
              </a:lnSpc>
              <a:spcBef>
                <a:spcPct val="0"/>
              </a:spcBef>
              <a:buFont typeface="Arial"/>
              <a:buChar char="•"/>
            </a:pPr>
            <a:r>
              <a:rPr lang="en-US" sz="1866" u="none" strike="noStrike" spc="-65">
                <a:solidFill>
                  <a:srgbClr val="B4B4B4"/>
                </a:solidFill>
                <a:latin typeface="Public Sans"/>
                <a:ea typeface="Public Sans"/>
                <a:cs typeface="Public Sans"/>
                <a:sym typeface="Public Sans"/>
              </a:rPr>
              <a:t>5 connections many to one</a:t>
            </a:r>
          </a:p>
          <a:p>
            <a:pPr marL="324138" lvl="1" indent="-162069" algn="just">
              <a:lnSpc>
                <a:spcPts val="1546"/>
              </a:lnSpc>
              <a:spcBef>
                <a:spcPct val="0"/>
              </a:spcBef>
              <a:buFont typeface="Arial"/>
              <a:buChar char="•"/>
            </a:pPr>
            <a:endParaRPr lang="en-US" sz="1866" u="none" strike="noStrike" spc="-65">
              <a:solidFill>
                <a:srgbClr val="B4B4B4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just">
              <a:lnSpc>
                <a:spcPts val="1538"/>
              </a:lnSpc>
              <a:spcBef>
                <a:spcPct val="0"/>
              </a:spcBef>
            </a:pPr>
            <a:endParaRPr lang="en-US" sz="1866" u="none" strike="noStrike" spc="-65">
              <a:solidFill>
                <a:srgbClr val="B4B4B4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6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42383" y="1722893"/>
            <a:ext cx="1428827" cy="575474"/>
            <a:chOff x="0" y="0"/>
            <a:chExt cx="1009038" cy="406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09038" cy="406400"/>
            </a:xfrm>
            <a:custGeom>
              <a:avLst/>
              <a:gdLst/>
              <a:ahLst/>
              <a:cxnLst/>
              <a:rect l="l" t="t" r="r" b="b"/>
              <a:pathLst>
                <a:path w="1009038" h="406400">
                  <a:moveTo>
                    <a:pt x="805838" y="0"/>
                  </a:moveTo>
                  <a:cubicBezTo>
                    <a:pt x="918062" y="0"/>
                    <a:pt x="1009038" y="90976"/>
                    <a:pt x="1009038" y="203200"/>
                  </a:cubicBezTo>
                  <a:cubicBezTo>
                    <a:pt x="1009038" y="315424"/>
                    <a:pt x="918062" y="406400"/>
                    <a:pt x="805838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1009038" cy="434975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2100"/>
                </a:lnSpc>
              </a:pPr>
              <a:r>
                <a:rPr lang="en-US" sz="1628" spc="-89">
                  <a:solidFill>
                    <a:srgbClr val="002649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(Sales &amp; Profit)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3845592" y="995087"/>
            <a:ext cx="2458801" cy="622217"/>
            <a:chOff x="0" y="0"/>
            <a:chExt cx="1351313" cy="34195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351313" cy="341959"/>
            </a:xfrm>
            <a:custGeom>
              <a:avLst/>
              <a:gdLst/>
              <a:ahLst/>
              <a:cxnLst/>
              <a:rect l="l" t="t" r="r" b="b"/>
              <a:pathLst>
                <a:path w="1351313" h="341959">
                  <a:moveTo>
                    <a:pt x="1148113" y="0"/>
                  </a:moveTo>
                  <a:cubicBezTo>
                    <a:pt x="1260338" y="0"/>
                    <a:pt x="1351313" y="76550"/>
                    <a:pt x="1351313" y="170980"/>
                  </a:cubicBezTo>
                  <a:cubicBezTo>
                    <a:pt x="1351313" y="265409"/>
                    <a:pt x="1260338" y="341959"/>
                    <a:pt x="1148113" y="341959"/>
                  </a:cubicBezTo>
                  <a:lnTo>
                    <a:pt x="203200" y="341959"/>
                  </a:lnTo>
                  <a:cubicBezTo>
                    <a:pt x="90976" y="341959"/>
                    <a:pt x="0" y="265409"/>
                    <a:pt x="0" y="170980"/>
                  </a:cubicBezTo>
                  <a:cubicBezTo>
                    <a:pt x="0" y="7655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453E7A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1351313" cy="370534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3683"/>
                </a:lnSpc>
              </a:pPr>
              <a:r>
                <a:rPr lang="en-US" sz="2855" spc="-157">
                  <a:solidFill>
                    <a:srgbClr val="FFFFFF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KPIS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333836" y="2506647"/>
            <a:ext cx="1645920" cy="2585166"/>
            <a:chOff x="0" y="0"/>
            <a:chExt cx="812800" cy="127662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1276625"/>
            </a:xfrm>
            <a:custGeom>
              <a:avLst/>
              <a:gdLst/>
              <a:ahLst/>
              <a:cxnLst/>
              <a:rect l="l" t="t" r="r" b="b"/>
              <a:pathLst>
                <a:path w="812800" h="1276625">
                  <a:moveTo>
                    <a:pt x="0" y="0"/>
                  </a:moveTo>
                  <a:lnTo>
                    <a:pt x="812800" y="0"/>
                  </a:lnTo>
                  <a:lnTo>
                    <a:pt x="812800" y="1276625"/>
                  </a:lnTo>
                  <a:lnTo>
                    <a:pt x="0" y="1276625"/>
                  </a:lnTo>
                  <a:close/>
                </a:path>
              </a:pathLst>
            </a:custGeom>
            <a:solidFill>
              <a:srgbClr val="B4B4B4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9050"/>
              <a:ext cx="812800" cy="1295675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1756"/>
                </a:lnSpc>
              </a:pPr>
              <a:r>
                <a:rPr lang="en-US" sz="1361" spc="-74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Total Net Sales: 5M$</a:t>
              </a:r>
            </a:p>
            <a:p>
              <a:pPr algn="ctr">
                <a:lnSpc>
                  <a:spcPts val="1756"/>
                </a:lnSpc>
              </a:pPr>
              <a:endParaRPr lang="en-US" sz="1361" spc="-74">
                <a:solidFill>
                  <a:srgbClr val="000000"/>
                </a:solidFill>
                <a:latin typeface="Public Sans"/>
                <a:ea typeface="Public Sans"/>
                <a:cs typeface="Public Sans"/>
                <a:sym typeface="Public Sans"/>
              </a:endParaRPr>
            </a:p>
            <a:p>
              <a:pPr algn="ctr">
                <a:lnSpc>
                  <a:spcPts val="1756"/>
                </a:lnSpc>
              </a:pPr>
              <a:r>
                <a:rPr lang="en-US" sz="1361" spc="-74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Net Sales (from analysis): 4.604k$</a:t>
              </a:r>
            </a:p>
            <a:p>
              <a:pPr algn="ctr">
                <a:lnSpc>
                  <a:spcPts val="1756"/>
                </a:lnSpc>
              </a:pPr>
              <a:endParaRPr lang="en-US" sz="1361" spc="-74">
                <a:solidFill>
                  <a:srgbClr val="000000"/>
                </a:solidFill>
                <a:latin typeface="Public Sans"/>
                <a:ea typeface="Public Sans"/>
                <a:cs typeface="Public Sans"/>
                <a:sym typeface="Public Sans"/>
              </a:endParaRPr>
            </a:p>
            <a:p>
              <a:pPr algn="ctr">
                <a:lnSpc>
                  <a:spcPts val="1756"/>
                </a:lnSpc>
              </a:pPr>
              <a:r>
                <a:rPr lang="en-US" sz="1361" spc="-74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Total Profit: 4M$</a:t>
              </a:r>
            </a:p>
            <a:p>
              <a:pPr algn="ctr">
                <a:lnSpc>
                  <a:spcPts val="1756"/>
                </a:lnSpc>
              </a:pPr>
              <a:endParaRPr lang="en-US" sz="1361" spc="-74">
                <a:solidFill>
                  <a:srgbClr val="000000"/>
                </a:solidFill>
                <a:latin typeface="Public Sans"/>
                <a:ea typeface="Public Sans"/>
                <a:cs typeface="Public Sans"/>
                <a:sym typeface="Public Sans"/>
              </a:endParaRPr>
            </a:p>
            <a:p>
              <a:pPr algn="ctr">
                <a:lnSpc>
                  <a:spcPts val="1756"/>
                </a:lnSpc>
              </a:pPr>
              <a:r>
                <a:rPr lang="en-US" sz="1361" spc="-74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Profit Margin: 71%</a:t>
              </a:r>
            </a:p>
            <a:p>
              <a:pPr algn="ctr">
                <a:lnSpc>
                  <a:spcPts val="1756"/>
                </a:lnSpc>
              </a:pPr>
              <a:endParaRPr lang="en-US" sz="1361" spc="-74">
                <a:solidFill>
                  <a:srgbClr val="000000"/>
                </a:solidFill>
                <a:latin typeface="Public Sans"/>
                <a:ea typeface="Public Sans"/>
                <a:cs typeface="Public Sans"/>
                <a:sym typeface="Public Sans"/>
              </a:endParaRPr>
            </a:p>
            <a:p>
              <a:pPr algn="ctr">
                <a:lnSpc>
                  <a:spcPts val="1756"/>
                </a:lnSpc>
              </a:pPr>
              <a:r>
                <a:rPr lang="en-US" sz="1361" spc="-74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Average Order Value: 449$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2347208" y="1710951"/>
            <a:ext cx="1428827" cy="599358"/>
            <a:chOff x="0" y="0"/>
            <a:chExt cx="1009038" cy="42326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09038" cy="423267"/>
            </a:xfrm>
            <a:custGeom>
              <a:avLst/>
              <a:gdLst/>
              <a:ahLst/>
              <a:cxnLst/>
              <a:rect l="l" t="t" r="r" b="b"/>
              <a:pathLst>
                <a:path w="1009038" h="423267">
                  <a:moveTo>
                    <a:pt x="805838" y="0"/>
                  </a:moveTo>
                  <a:cubicBezTo>
                    <a:pt x="918062" y="0"/>
                    <a:pt x="1009038" y="94751"/>
                    <a:pt x="1009038" y="211633"/>
                  </a:cubicBezTo>
                  <a:cubicBezTo>
                    <a:pt x="1009038" y="328515"/>
                    <a:pt x="918062" y="423267"/>
                    <a:pt x="805838" y="423267"/>
                  </a:cubicBezTo>
                  <a:lnTo>
                    <a:pt x="203200" y="423267"/>
                  </a:lnTo>
                  <a:cubicBezTo>
                    <a:pt x="90976" y="423267"/>
                    <a:pt x="0" y="328515"/>
                    <a:pt x="0" y="211633"/>
                  </a:cubicBezTo>
                  <a:cubicBezTo>
                    <a:pt x="0" y="9475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19050"/>
              <a:ext cx="1009038" cy="442317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1963"/>
                </a:lnSpc>
              </a:pPr>
              <a:r>
                <a:rPr lang="en-US" sz="1521" spc="-83">
                  <a:solidFill>
                    <a:srgbClr val="002649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(Orders &amp; Customers)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8120932" y="1722893"/>
            <a:ext cx="1428827" cy="575474"/>
            <a:chOff x="0" y="0"/>
            <a:chExt cx="1009038" cy="4064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09038" cy="406400"/>
            </a:xfrm>
            <a:custGeom>
              <a:avLst/>
              <a:gdLst/>
              <a:ahLst/>
              <a:cxnLst/>
              <a:rect l="l" t="t" r="r" b="b"/>
              <a:pathLst>
                <a:path w="1009038" h="406400">
                  <a:moveTo>
                    <a:pt x="805838" y="0"/>
                  </a:moveTo>
                  <a:cubicBezTo>
                    <a:pt x="918062" y="0"/>
                    <a:pt x="1009038" y="90976"/>
                    <a:pt x="1009038" y="203200"/>
                  </a:cubicBezTo>
                  <a:cubicBezTo>
                    <a:pt x="1009038" y="315424"/>
                    <a:pt x="918062" y="406400"/>
                    <a:pt x="805838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19050"/>
              <a:ext cx="1009038" cy="425450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1825"/>
                </a:lnSpc>
              </a:pPr>
              <a:r>
                <a:rPr lang="en-US" sz="1415" spc="-77">
                  <a:solidFill>
                    <a:srgbClr val="002649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(Top Products &amp; Categories)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302522" y="1699009"/>
            <a:ext cx="1428827" cy="599358"/>
            <a:chOff x="0" y="0"/>
            <a:chExt cx="1009038" cy="423267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009038" cy="423267"/>
            </a:xfrm>
            <a:custGeom>
              <a:avLst/>
              <a:gdLst/>
              <a:ahLst/>
              <a:cxnLst/>
              <a:rect l="l" t="t" r="r" b="b"/>
              <a:pathLst>
                <a:path w="1009038" h="423267">
                  <a:moveTo>
                    <a:pt x="805838" y="0"/>
                  </a:moveTo>
                  <a:cubicBezTo>
                    <a:pt x="918062" y="0"/>
                    <a:pt x="1009038" y="94751"/>
                    <a:pt x="1009038" y="211633"/>
                  </a:cubicBezTo>
                  <a:cubicBezTo>
                    <a:pt x="1009038" y="328515"/>
                    <a:pt x="918062" y="423267"/>
                    <a:pt x="805838" y="423267"/>
                  </a:cubicBezTo>
                  <a:lnTo>
                    <a:pt x="203200" y="423267"/>
                  </a:lnTo>
                  <a:cubicBezTo>
                    <a:pt x="90976" y="423267"/>
                    <a:pt x="0" y="328515"/>
                    <a:pt x="0" y="211633"/>
                  </a:cubicBezTo>
                  <a:cubicBezTo>
                    <a:pt x="0" y="9475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19050"/>
              <a:ext cx="1009038" cy="442317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1963"/>
                </a:lnSpc>
              </a:pPr>
              <a:r>
                <a:rPr lang="en-US" sz="1521" spc="-83">
                  <a:solidFill>
                    <a:srgbClr val="002649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(Inventory &amp; Warehouse)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4360579" y="1722893"/>
            <a:ext cx="1428827" cy="575474"/>
            <a:chOff x="0" y="0"/>
            <a:chExt cx="1009038" cy="4064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009038" cy="406400"/>
            </a:xfrm>
            <a:custGeom>
              <a:avLst/>
              <a:gdLst/>
              <a:ahLst/>
              <a:cxnLst/>
              <a:rect l="l" t="t" r="r" b="b"/>
              <a:pathLst>
                <a:path w="1009038" h="406400">
                  <a:moveTo>
                    <a:pt x="805838" y="0"/>
                  </a:moveTo>
                  <a:cubicBezTo>
                    <a:pt x="918062" y="0"/>
                    <a:pt x="1009038" y="90976"/>
                    <a:pt x="1009038" y="203200"/>
                  </a:cubicBezTo>
                  <a:cubicBezTo>
                    <a:pt x="1009038" y="315424"/>
                    <a:pt x="918062" y="406400"/>
                    <a:pt x="805838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1009038" cy="434975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2513"/>
                </a:lnSpc>
              </a:pPr>
              <a:r>
                <a:rPr lang="en-US" sz="1948" spc="-107">
                  <a:solidFill>
                    <a:srgbClr val="002649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(Shipment)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6193975" y="2506647"/>
            <a:ext cx="1645920" cy="2585166"/>
            <a:chOff x="0" y="0"/>
            <a:chExt cx="812800" cy="1276625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12800" cy="1276625"/>
            </a:xfrm>
            <a:custGeom>
              <a:avLst/>
              <a:gdLst/>
              <a:ahLst/>
              <a:cxnLst/>
              <a:rect l="l" t="t" r="r" b="b"/>
              <a:pathLst>
                <a:path w="812800" h="1276625">
                  <a:moveTo>
                    <a:pt x="0" y="0"/>
                  </a:moveTo>
                  <a:lnTo>
                    <a:pt x="812800" y="0"/>
                  </a:lnTo>
                  <a:lnTo>
                    <a:pt x="812800" y="1276625"/>
                  </a:lnTo>
                  <a:lnTo>
                    <a:pt x="0" y="1276625"/>
                  </a:lnTo>
                  <a:close/>
                </a:path>
              </a:pathLst>
            </a:custGeom>
            <a:solidFill>
              <a:srgbClr val="B4B4B4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19050"/>
              <a:ext cx="812800" cy="1295675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1857"/>
                </a:lnSpc>
              </a:pPr>
              <a:r>
                <a:rPr lang="en-US" sz="1439" spc="-79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Warehouse Inventory: 71,014</a:t>
              </a:r>
            </a:p>
            <a:p>
              <a:pPr algn="ctr">
                <a:lnSpc>
                  <a:spcPts val="1857"/>
                </a:lnSpc>
              </a:pPr>
              <a:endParaRPr lang="en-US" sz="1439" spc="-79">
                <a:solidFill>
                  <a:srgbClr val="000000"/>
                </a:solidFill>
                <a:latin typeface="Public Sans"/>
                <a:ea typeface="Public Sans"/>
                <a:cs typeface="Public Sans"/>
                <a:sym typeface="Public Sans"/>
              </a:endParaRPr>
            </a:p>
            <a:p>
              <a:pPr algn="ctr">
                <a:lnSpc>
                  <a:spcPts val="1857"/>
                </a:lnSpc>
              </a:pPr>
              <a:r>
                <a:rPr lang="en-US" sz="1439" spc="-79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Storage Cost: 86K$</a:t>
              </a:r>
            </a:p>
            <a:p>
              <a:pPr algn="ctr">
                <a:lnSpc>
                  <a:spcPts val="1857"/>
                </a:lnSpc>
              </a:pPr>
              <a:endParaRPr lang="en-US" sz="1439" spc="-79">
                <a:solidFill>
                  <a:srgbClr val="000000"/>
                </a:solidFill>
                <a:latin typeface="Public Sans"/>
                <a:ea typeface="Public Sans"/>
                <a:cs typeface="Public Sans"/>
                <a:sym typeface="Public Sans"/>
              </a:endParaRPr>
            </a:p>
            <a:p>
              <a:pPr algn="ctr">
                <a:lnSpc>
                  <a:spcPts val="1857"/>
                </a:lnSpc>
              </a:pPr>
              <a:r>
                <a:rPr lang="en-US" sz="1439" spc="-79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Average Warehouse: 5</a:t>
              </a:r>
            </a:p>
            <a:p>
              <a:pPr algn="ctr">
                <a:lnSpc>
                  <a:spcPts val="1857"/>
                </a:lnSpc>
              </a:pPr>
              <a:endParaRPr lang="en-US" sz="1439" spc="-79">
                <a:solidFill>
                  <a:srgbClr val="000000"/>
                </a:solidFill>
                <a:latin typeface="Public Sans"/>
                <a:ea typeface="Public Sans"/>
                <a:cs typeface="Public Sans"/>
                <a:sym typeface="Public Sans"/>
              </a:endParaRPr>
            </a:p>
            <a:p>
              <a:pPr algn="ctr">
                <a:lnSpc>
                  <a:spcPts val="1857"/>
                </a:lnSpc>
              </a:pPr>
              <a:r>
                <a:rPr lang="en-US" sz="1439" spc="-79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Inventory Cost per Unit: 5K$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225250" y="2506647"/>
            <a:ext cx="1699485" cy="2585166"/>
            <a:chOff x="0" y="0"/>
            <a:chExt cx="839252" cy="1276625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39252" cy="1276625"/>
            </a:xfrm>
            <a:custGeom>
              <a:avLst/>
              <a:gdLst/>
              <a:ahLst/>
              <a:cxnLst/>
              <a:rect l="l" t="t" r="r" b="b"/>
              <a:pathLst>
                <a:path w="839252" h="1276625">
                  <a:moveTo>
                    <a:pt x="0" y="0"/>
                  </a:moveTo>
                  <a:lnTo>
                    <a:pt x="839252" y="0"/>
                  </a:lnTo>
                  <a:lnTo>
                    <a:pt x="839252" y="1276625"/>
                  </a:lnTo>
                  <a:lnTo>
                    <a:pt x="0" y="1276625"/>
                  </a:lnTo>
                  <a:close/>
                </a:path>
              </a:pathLst>
            </a:custGeom>
            <a:solidFill>
              <a:srgbClr val="B4B4B4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19050"/>
              <a:ext cx="839252" cy="1295675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1894"/>
                </a:lnSpc>
              </a:pPr>
              <a:r>
                <a:rPr lang="en-US" sz="1468" spc="-80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Late Shipment Rate: 56%</a:t>
              </a:r>
            </a:p>
            <a:p>
              <a:pPr algn="ctr">
                <a:lnSpc>
                  <a:spcPts val="1825"/>
                </a:lnSpc>
              </a:pPr>
              <a:endParaRPr lang="en-US" sz="1468" spc="-80">
                <a:solidFill>
                  <a:srgbClr val="000000"/>
                </a:solidFill>
                <a:latin typeface="Public Sans"/>
                <a:ea typeface="Public Sans"/>
                <a:cs typeface="Public Sans"/>
                <a:sym typeface="Public Sans"/>
              </a:endParaRPr>
            </a:p>
            <a:p>
              <a:pPr algn="ctr">
                <a:lnSpc>
                  <a:spcPts val="1825"/>
                </a:lnSpc>
              </a:pPr>
              <a:r>
                <a:rPr lang="en-US" sz="1415" spc="-77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Shipment Mode: First Class</a:t>
              </a:r>
            </a:p>
            <a:p>
              <a:pPr algn="ctr">
                <a:lnSpc>
                  <a:spcPts val="1825"/>
                </a:lnSpc>
              </a:pPr>
              <a:endParaRPr lang="en-US" sz="1415" spc="-77">
                <a:solidFill>
                  <a:srgbClr val="000000"/>
                </a:solidFill>
                <a:latin typeface="Public Sans"/>
                <a:ea typeface="Public Sans"/>
                <a:cs typeface="Public Sans"/>
                <a:sym typeface="Public Sans"/>
              </a:endParaRPr>
            </a:p>
            <a:p>
              <a:pPr algn="ctr">
                <a:lnSpc>
                  <a:spcPts val="1825"/>
                </a:lnSpc>
              </a:pPr>
              <a:r>
                <a:rPr lang="en-US" sz="1415" spc="-77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Shipment Schedule (days): 79K</a:t>
              </a:r>
            </a:p>
            <a:p>
              <a:pPr algn="ctr">
                <a:lnSpc>
                  <a:spcPts val="1825"/>
                </a:lnSpc>
              </a:pPr>
              <a:endParaRPr lang="en-US" sz="1415" spc="-77">
                <a:solidFill>
                  <a:srgbClr val="000000"/>
                </a:solidFill>
                <a:latin typeface="Public Sans"/>
                <a:ea typeface="Public Sans"/>
                <a:cs typeface="Public Sans"/>
                <a:sym typeface="Public Sans"/>
              </a:endParaRPr>
            </a:p>
            <a:p>
              <a:pPr algn="ctr">
                <a:lnSpc>
                  <a:spcPts val="1825"/>
                </a:lnSpc>
              </a:pPr>
              <a:r>
                <a:rPr lang="en-US" sz="1415" spc="-77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Status: Late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2249960" y="2506647"/>
            <a:ext cx="1645920" cy="2585166"/>
            <a:chOff x="0" y="0"/>
            <a:chExt cx="812800" cy="1276625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812800" cy="1276625"/>
            </a:xfrm>
            <a:custGeom>
              <a:avLst/>
              <a:gdLst/>
              <a:ahLst/>
              <a:cxnLst/>
              <a:rect l="l" t="t" r="r" b="b"/>
              <a:pathLst>
                <a:path w="812800" h="1276625">
                  <a:moveTo>
                    <a:pt x="0" y="0"/>
                  </a:moveTo>
                  <a:lnTo>
                    <a:pt x="812800" y="0"/>
                  </a:lnTo>
                  <a:lnTo>
                    <a:pt x="812800" y="1276625"/>
                  </a:lnTo>
                  <a:lnTo>
                    <a:pt x="0" y="1276625"/>
                  </a:lnTo>
                  <a:close/>
                </a:path>
              </a:pathLst>
            </a:custGeom>
            <a:solidFill>
              <a:srgbClr val="B4B4B4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19050"/>
              <a:ext cx="812800" cy="1295675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1825"/>
                </a:lnSpc>
              </a:pPr>
              <a:r>
                <a:rPr lang="en-US" sz="1415" spc="-77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Number of Orders: 10,265</a:t>
              </a:r>
            </a:p>
            <a:p>
              <a:pPr algn="ctr">
                <a:lnSpc>
                  <a:spcPts val="1825"/>
                </a:lnSpc>
              </a:pPr>
              <a:endParaRPr lang="en-US" sz="1415" spc="-77">
                <a:solidFill>
                  <a:srgbClr val="000000"/>
                </a:solidFill>
                <a:latin typeface="Public Sans"/>
                <a:ea typeface="Public Sans"/>
                <a:cs typeface="Public Sans"/>
                <a:sym typeface="Public Sans"/>
              </a:endParaRPr>
            </a:p>
            <a:p>
              <a:pPr algn="ctr">
                <a:lnSpc>
                  <a:spcPts val="1825"/>
                </a:lnSpc>
              </a:pPr>
              <a:r>
                <a:rPr lang="en-US" sz="1415" spc="-77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Order Quantity: 54K</a:t>
              </a:r>
            </a:p>
            <a:p>
              <a:pPr algn="ctr">
                <a:lnSpc>
                  <a:spcPts val="1825"/>
                </a:lnSpc>
              </a:pPr>
              <a:endParaRPr lang="en-US" sz="1415" spc="-77">
                <a:solidFill>
                  <a:srgbClr val="000000"/>
                </a:solidFill>
                <a:latin typeface="Public Sans"/>
                <a:ea typeface="Public Sans"/>
                <a:cs typeface="Public Sans"/>
                <a:sym typeface="Public Sans"/>
              </a:endParaRPr>
            </a:p>
            <a:p>
              <a:pPr algn="ctr">
                <a:lnSpc>
                  <a:spcPts val="1825"/>
                </a:lnSpc>
              </a:pPr>
              <a:r>
                <a:rPr lang="en-US" sz="1415" spc="-77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Number of Customers: 7,414</a:t>
              </a:r>
            </a:p>
            <a:p>
              <a:pPr algn="ctr">
                <a:lnSpc>
                  <a:spcPts val="1825"/>
                </a:lnSpc>
              </a:pPr>
              <a:endParaRPr lang="en-US" sz="1415" spc="-77">
                <a:solidFill>
                  <a:srgbClr val="000000"/>
                </a:solidFill>
                <a:latin typeface="Public Sans"/>
                <a:ea typeface="Public Sans"/>
                <a:cs typeface="Public Sans"/>
                <a:sym typeface="Public Sans"/>
              </a:endParaRPr>
            </a:p>
            <a:p>
              <a:pPr algn="ctr">
                <a:lnSpc>
                  <a:spcPts val="1825"/>
                </a:lnSpc>
              </a:pPr>
              <a:r>
                <a:rPr lang="en-US" sz="1415" spc="-77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Discounts Given: 520K$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8012386" y="2506647"/>
            <a:ext cx="1645920" cy="2585166"/>
            <a:chOff x="0" y="0"/>
            <a:chExt cx="812800" cy="1276625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812800" cy="1276625"/>
            </a:xfrm>
            <a:custGeom>
              <a:avLst/>
              <a:gdLst/>
              <a:ahLst/>
              <a:cxnLst/>
              <a:rect l="l" t="t" r="r" b="b"/>
              <a:pathLst>
                <a:path w="812800" h="1276625">
                  <a:moveTo>
                    <a:pt x="0" y="0"/>
                  </a:moveTo>
                  <a:lnTo>
                    <a:pt x="812800" y="0"/>
                  </a:lnTo>
                  <a:lnTo>
                    <a:pt x="812800" y="1276625"/>
                  </a:lnTo>
                  <a:lnTo>
                    <a:pt x="0" y="1276625"/>
                  </a:lnTo>
                  <a:close/>
                </a:path>
              </a:pathLst>
            </a:custGeom>
            <a:solidFill>
              <a:srgbClr val="B4B4B4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19050"/>
              <a:ext cx="812800" cy="1295675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1857"/>
                </a:lnSpc>
              </a:pPr>
              <a:r>
                <a:rPr lang="en-US" sz="1439" spc="-79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Top Category: Fishing</a:t>
              </a:r>
            </a:p>
            <a:p>
              <a:pPr algn="ctr">
                <a:lnSpc>
                  <a:spcPts val="1857"/>
                </a:lnSpc>
              </a:pPr>
              <a:endParaRPr lang="en-US" sz="1439" spc="-79">
                <a:solidFill>
                  <a:srgbClr val="000000"/>
                </a:solidFill>
                <a:latin typeface="Public Sans"/>
                <a:ea typeface="Public Sans"/>
                <a:cs typeface="Public Sans"/>
                <a:sym typeface="Public Sans"/>
              </a:endParaRPr>
            </a:p>
            <a:p>
              <a:pPr algn="ctr">
                <a:lnSpc>
                  <a:spcPts val="1857"/>
                </a:lnSpc>
              </a:pPr>
              <a:r>
                <a:rPr lang="en-US" sz="1439" spc="-79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Top Product: Field &amp; Sports Man 16 Gun Fire Safe</a:t>
              </a:r>
            </a:p>
            <a:p>
              <a:pPr algn="ctr">
                <a:lnSpc>
                  <a:spcPts val="1857"/>
                </a:lnSpc>
              </a:pPr>
              <a:endParaRPr lang="en-US" sz="1439" spc="-79">
                <a:solidFill>
                  <a:srgbClr val="000000"/>
                </a:solidFill>
                <a:latin typeface="Public Sans"/>
                <a:ea typeface="Public Sans"/>
                <a:cs typeface="Public Sans"/>
                <a:sym typeface="Public Sans"/>
              </a:endParaRPr>
            </a:p>
            <a:p>
              <a:pPr algn="ctr">
                <a:lnSpc>
                  <a:spcPts val="1857"/>
                </a:lnSpc>
              </a:pPr>
              <a:r>
                <a:rPr lang="en-US" sz="1439" spc="-79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Warehouse Country: Puerto Rico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1523624" y="5281042"/>
            <a:ext cx="7102737" cy="2977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5"/>
              </a:lnSpc>
              <a:spcBef>
                <a:spcPct val="0"/>
              </a:spcBef>
            </a:pPr>
            <a:r>
              <a:rPr lang="en-US" sz="1841" spc="-101">
                <a:gradFill>
                  <a:gsLst>
                    <a:gs pos="0">
                      <a:srgbClr val="FFF7AD">
                        <a:alpha val="100000"/>
                      </a:srgbClr>
                    </a:gs>
                    <a:gs pos="100000">
                      <a:srgbClr val="FFA9F9">
                        <a:alpha val="100000"/>
                      </a:srgbClr>
                    </a:gs>
                  </a:gsLst>
                  <a:lin ang="0"/>
                </a:gradFill>
                <a:latin typeface="Public Sans"/>
                <a:ea typeface="Public Sans"/>
                <a:cs typeface="Public Sans"/>
                <a:sym typeface="Public Sans"/>
              </a:rPr>
              <a:t>Late Shipment Rate (56%) → Indicates a significant delivery delay issue.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629125" y="5631974"/>
            <a:ext cx="6891734" cy="2976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7"/>
              </a:lnSpc>
              <a:spcBef>
                <a:spcPct val="0"/>
              </a:spcBef>
            </a:pPr>
            <a:r>
              <a:rPr lang="en-US" sz="1788" spc="-98">
                <a:gradFill>
                  <a:gsLst>
                    <a:gs pos="0">
                      <a:srgbClr val="FFF7AD">
                        <a:alpha val="100000"/>
                      </a:srgbClr>
                    </a:gs>
                    <a:gs pos="100000">
                      <a:srgbClr val="FFA9F9">
                        <a:alpha val="100000"/>
                      </a:srgbClr>
                    </a:gs>
                  </a:gsLst>
                  <a:lin ang="0"/>
                </a:gradFill>
                <a:latin typeface="Public Sans"/>
                <a:ea typeface="Public Sans"/>
                <a:cs typeface="Public Sans"/>
                <a:sym typeface="Public Sans"/>
              </a:rPr>
              <a:t>Top Product / Top Category → Highlights the main contributors to revenue.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2357781" y="5982373"/>
            <a:ext cx="5482114" cy="2976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7"/>
              </a:lnSpc>
              <a:spcBef>
                <a:spcPct val="0"/>
              </a:spcBef>
            </a:pPr>
            <a:r>
              <a:rPr lang="en-US" sz="1788" spc="-98">
                <a:gradFill>
                  <a:gsLst>
                    <a:gs pos="0">
                      <a:srgbClr val="FFF7AD">
                        <a:alpha val="100000"/>
                      </a:srgbClr>
                    </a:gs>
                    <a:gs pos="100000">
                      <a:srgbClr val="FFA9F9">
                        <a:alpha val="100000"/>
                      </a:srgbClr>
                    </a:gs>
                  </a:gsLst>
                  <a:lin ang="0"/>
                </a:gradFill>
                <a:latin typeface="Public Sans"/>
                <a:ea typeface="Public Sans"/>
                <a:cs typeface="Public Sans"/>
                <a:sym typeface="Public Sans"/>
              </a:rPr>
              <a:t>Profit Margin (71%) → Shows efficient profitability per sale.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6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4243951" y="5544722"/>
            <a:ext cx="988070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Box 4"/>
          <p:cNvSpPr txBox="1"/>
          <p:nvPr/>
        </p:nvSpPr>
        <p:spPr>
          <a:xfrm>
            <a:off x="975332" y="5832522"/>
            <a:ext cx="3270811" cy="9626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2486"/>
              </a:lnSpc>
              <a:spcBef>
                <a:spcPct val="0"/>
              </a:spcBef>
            </a:pPr>
            <a:r>
              <a:rPr lang="en-US" sz="2414" spc="-84">
                <a:gradFill>
                  <a:gsLst>
                    <a:gs pos="0">
                      <a:srgbClr val="FF5757">
                        <a:alpha val="100000"/>
                      </a:srgbClr>
                    </a:gs>
                    <a:gs pos="100000">
                      <a:srgbClr val="8C52FF">
                        <a:alpha val="100000"/>
                      </a:srgbClr>
                    </a:gs>
                  </a:gsLst>
                  <a:lin ang="0"/>
                </a:gradFill>
                <a:latin typeface="Public Sans"/>
                <a:ea typeface="Public Sans"/>
                <a:cs typeface="Public Sans"/>
                <a:sym typeface="Public Sans"/>
              </a:rPr>
              <a:t>Sh</a:t>
            </a:r>
            <a:r>
              <a:rPr lang="en-US" sz="2414" u="none" strike="noStrike" spc="-84">
                <a:gradFill>
                  <a:gsLst>
                    <a:gs pos="0">
                      <a:srgbClr val="FF5757">
                        <a:alpha val="100000"/>
                      </a:srgbClr>
                    </a:gs>
                    <a:gs pos="100000">
                      <a:srgbClr val="8C52FF">
                        <a:alpha val="100000"/>
                      </a:srgbClr>
                    </a:gs>
                  </a:gsLst>
                  <a:lin ang="0"/>
                </a:gradFill>
                <a:latin typeface="Public Sans"/>
                <a:ea typeface="Public Sans"/>
                <a:cs typeface="Public Sans"/>
                <a:sym typeface="Public Sans"/>
              </a:rPr>
              <a:t>ows net sales and profit for each shipment by month.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946808" y="5822997"/>
            <a:ext cx="3767749" cy="12291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1915"/>
              </a:lnSpc>
              <a:spcBef>
                <a:spcPct val="0"/>
              </a:spcBef>
            </a:pPr>
            <a:r>
              <a:rPr lang="en-US" sz="1860" spc="-65">
                <a:gradFill>
                  <a:gsLst>
                    <a:gs pos="0">
                      <a:srgbClr val="FF5757">
                        <a:alpha val="100000"/>
                      </a:srgbClr>
                    </a:gs>
                    <a:gs pos="100000">
                      <a:srgbClr val="8C52FF">
                        <a:alpha val="100000"/>
                      </a:srgbClr>
                    </a:gs>
                  </a:gsLst>
                  <a:lin ang="0"/>
                </a:gradFill>
                <a:latin typeface="Public Sans"/>
                <a:ea typeface="Public Sans"/>
                <a:cs typeface="Public Sans"/>
                <a:sym typeface="Public Sans"/>
              </a:rPr>
              <a:t>September had</a:t>
            </a:r>
            <a:r>
              <a:rPr lang="en-US" sz="1860" u="none" strike="noStrike" spc="-65">
                <a:gradFill>
                  <a:gsLst>
                    <a:gs pos="0">
                      <a:srgbClr val="FF5757">
                        <a:alpha val="100000"/>
                      </a:srgbClr>
                    </a:gs>
                    <a:gs pos="100000">
                      <a:srgbClr val="8C52FF">
                        <a:alpha val="100000"/>
                      </a:srgbClr>
                    </a:gs>
                  </a:gsLst>
                  <a:lin ang="0"/>
                </a:gradFill>
                <a:latin typeface="Public Sans"/>
                <a:ea typeface="Public Sans"/>
                <a:cs typeface="Public Sans"/>
                <a:sym typeface="Public Sans"/>
              </a:rPr>
              <a:t> the highest sales and profit, highlighting the peak performance period for shipments and helping plan for upcoming months.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625958" y="272682"/>
            <a:ext cx="2628285" cy="5527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4058"/>
              </a:lnSpc>
              <a:spcBef>
                <a:spcPct val="0"/>
              </a:spcBef>
            </a:pPr>
            <a:r>
              <a:rPr lang="en-US" sz="3939" spc="-137">
                <a:gradFill>
                  <a:gsLst>
                    <a:gs pos="0">
                      <a:srgbClr val="FFF7AD">
                        <a:alpha val="100000"/>
                      </a:srgbClr>
                    </a:gs>
                    <a:gs pos="100000">
                      <a:srgbClr val="FFA9F9">
                        <a:alpha val="100000"/>
                      </a:srgbClr>
                    </a:gs>
                  </a:gsLst>
                  <a:lin ang="0"/>
                </a:gradFill>
                <a:latin typeface="Public Sans"/>
                <a:ea typeface="Public Sans"/>
                <a:cs typeface="Public Sans"/>
                <a:sym typeface="Public Sans"/>
              </a:rPr>
              <a:t>I</a:t>
            </a:r>
            <a:r>
              <a:rPr lang="en-US" sz="3939" u="none" strike="noStrike" spc="-137">
                <a:gradFill>
                  <a:gsLst>
                    <a:gs pos="0">
                      <a:srgbClr val="FFF7AD">
                        <a:alpha val="100000"/>
                      </a:srgbClr>
                    </a:gs>
                    <a:gs pos="100000">
                      <a:srgbClr val="FFA9F9">
                        <a:alpha val="100000"/>
                      </a:srgbClr>
                    </a:gs>
                  </a:gsLst>
                  <a:lin ang="0"/>
                </a:gradFill>
                <a:latin typeface="Public Sans"/>
                <a:ea typeface="Public Sans"/>
                <a:cs typeface="Public Sans"/>
                <a:sym typeface="Public Sans"/>
              </a:rPr>
              <a:t>nsights</a:t>
            </a:r>
          </a:p>
        </p:txBody>
      </p:sp>
      <p:pic>
        <p:nvPicPr>
          <p:cNvPr id="8" name="Picture 7" descr="A graph of the month">
            <a:extLst>
              <a:ext uri="{FF2B5EF4-FFF2-40B4-BE49-F238E27FC236}">
                <a16:creationId xmlns:a16="http://schemas.microsoft.com/office/drawing/2014/main" id="{DCA468D2-25E0-AF0F-FAC5-0CC0D084F5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8091" y="1541551"/>
            <a:ext cx="8297433" cy="275310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6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4146516" y="1697341"/>
            <a:ext cx="1132821" cy="466956"/>
            <a:chOff x="0" y="0"/>
            <a:chExt cx="1168091" cy="48149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68091" cy="481494"/>
            </a:xfrm>
            <a:custGeom>
              <a:avLst/>
              <a:gdLst/>
              <a:ahLst/>
              <a:cxnLst/>
              <a:rect l="l" t="t" r="r" b="b"/>
              <a:pathLst>
                <a:path w="1168091" h="481494">
                  <a:moveTo>
                    <a:pt x="1168091" y="240747"/>
                  </a:moveTo>
                  <a:lnTo>
                    <a:pt x="761691" y="0"/>
                  </a:lnTo>
                  <a:lnTo>
                    <a:pt x="761691" y="203200"/>
                  </a:lnTo>
                  <a:lnTo>
                    <a:pt x="0" y="203200"/>
                  </a:lnTo>
                  <a:lnTo>
                    <a:pt x="0" y="278294"/>
                  </a:lnTo>
                  <a:lnTo>
                    <a:pt x="761691" y="278294"/>
                  </a:lnTo>
                  <a:lnTo>
                    <a:pt x="761691" y="481494"/>
                  </a:lnTo>
                  <a:lnTo>
                    <a:pt x="1168091" y="240747"/>
                  </a:lnTo>
                  <a:close/>
                </a:path>
              </a:pathLst>
            </a:custGeom>
            <a:solidFill>
              <a:srgbClr val="B4B4B4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193675"/>
              <a:ext cx="1066491" cy="84619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999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70748" y="1503745"/>
            <a:ext cx="3818288" cy="2000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53"/>
              </a:lnSpc>
            </a:pPr>
            <a:endParaRPr/>
          </a:p>
          <a:p>
            <a:pPr algn="l">
              <a:lnSpc>
                <a:spcPts val="1553"/>
              </a:lnSpc>
            </a:pPr>
            <a:endParaRPr/>
          </a:p>
          <a:p>
            <a:pPr algn="l">
              <a:lnSpc>
                <a:spcPts val="1553"/>
              </a:lnSpc>
            </a:pPr>
            <a:r>
              <a:rPr lang="en-US" sz="1706" b="1">
                <a:solidFill>
                  <a:srgbClr val="B4B4B4"/>
                </a:solidFill>
                <a:latin typeface="Poppins Bold"/>
                <a:ea typeface="Poppins Bold"/>
                <a:cs typeface="Poppins Bold"/>
                <a:sym typeface="Poppins Bold"/>
              </a:rPr>
              <a:t>Shows how orders are shipped by method.</a:t>
            </a:r>
          </a:p>
          <a:p>
            <a:pPr algn="l">
              <a:lnSpc>
                <a:spcPts val="1358"/>
              </a:lnSpc>
            </a:pPr>
            <a:endParaRPr lang="en-US" sz="1706" b="1">
              <a:solidFill>
                <a:srgbClr val="B4B4B4"/>
              </a:solidFill>
              <a:latin typeface="Poppins Bold"/>
              <a:ea typeface="Poppins Bold"/>
              <a:cs typeface="Poppins Bold"/>
              <a:sym typeface="Poppins Bold"/>
            </a:endParaRPr>
          </a:p>
          <a:p>
            <a:pPr marL="403010" lvl="1" indent="-201505" algn="l">
              <a:lnSpc>
                <a:spcPts val="1698"/>
              </a:lnSpc>
              <a:buFont typeface="Arial"/>
              <a:buChar char="•"/>
            </a:pPr>
            <a:r>
              <a:rPr lang="en-US" sz="1866" b="1">
                <a:gradFill>
                  <a:gsLst>
                    <a:gs pos="0">
                      <a:srgbClr val="FF5757">
                        <a:alpha val="100000"/>
                      </a:srgbClr>
                    </a:gs>
                    <a:gs pos="100000">
                      <a:srgbClr val="8C52FF">
                        <a:alpha val="100000"/>
                      </a:srgbClr>
                    </a:gs>
                  </a:gsLst>
                  <a:lin ang="0"/>
                </a:gradFill>
                <a:latin typeface="Poppins Bold"/>
                <a:ea typeface="Poppins Bold"/>
                <a:cs typeface="Poppins Bold"/>
                <a:sym typeface="Poppins Bold"/>
              </a:rPr>
              <a:t>Most orders use Standard Class. This helps improve shipping strategies and offer faster options</a:t>
            </a:r>
          </a:p>
          <a:p>
            <a:pPr algn="l">
              <a:lnSpc>
                <a:spcPts val="1358"/>
              </a:lnSpc>
            </a:pPr>
            <a:endParaRPr lang="en-US" sz="1866" b="1">
              <a:gradFill>
                <a:gsLst>
                  <a:gs pos="0">
                    <a:srgbClr val="FF5757">
                      <a:alpha val="100000"/>
                    </a:srgbClr>
                  </a:gs>
                  <a:gs pos="100000">
                    <a:srgbClr val="8C52FF">
                      <a:alpha val="100000"/>
                    </a:srgbClr>
                  </a:gs>
                </a:gsLst>
                <a:lin ang="0"/>
              </a:gra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grpSp>
        <p:nvGrpSpPr>
          <p:cNvPr id="8" name="Group 8"/>
          <p:cNvGrpSpPr/>
          <p:nvPr/>
        </p:nvGrpSpPr>
        <p:grpSpPr>
          <a:xfrm>
            <a:off x="4789479" y="4698022"/>
            <a:ext cx="979715" cy="568576"/>
            <a:chOff x="0" y="0"/>
            <a:chExt cx="915752" cy="53145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15752" cy="531455"/>
            </a:xfrm>
            <a:custGeom>
              <a:avLst/>
              <a:gdLst/>
              <a:ahLst/>
              <a:cxnLst/>
              <a:rect l="l" t="t" r="r" b="b"/>
              <a:pathLst>
                <a:path w="915752" h="531455">
                  <a:moveTo>
                    <a:pt x="0" y="265728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915752" y="203200"/>
                  </a:lnTo>
                  <a:lnTo>
                    <a:pt x="915752" y="328255"/>
                  </a:lnTo>
                  <a:lnTo>
                    <a:pt x="406400" y="328255"/>
                  </a:lnTo>
                  <a:lnTo>
                    <a:pt x="406400" y="531455"/>
                  </a:lnTo>
                  <a:lnTo>
                    <a:pt x="0" y="265728"/>
                  </a:lnTo>
                  <a:close/>
                </a:path>
              </a:pathLst>
            </a:custGeom>
            <a:solidFill>
              <a:srgbClr val="B4B4B4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1600" y="193675"/>
              <a:ext cx="814152" cy="134580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999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5845394" y="3670483"/>
            <a:ext cx="3803396" cy="23153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10"/>
              </a:lnSpc>
            </a:pPr>
            <a:endParaRPr/>
          </a:p>
          <a:p>
            <a:pPr algn="l">
              <a:lnSpc>
                <a:spcPts val="1601"/>
              </a:lnSpc>
            </a:pPr>
            <a:endParaRPr/>
          </a:p>
          <a:p>
            <a:pPr algn="l">
              <a:lnSpc>
                <a:spcPts val="1601"/>
              </a:lnSpc>
            </a:pPr>
            <a:r>
              <a:rPr lang="en-US" sz="1759" b="1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FF914D">
                        <a:alpha val="100000"/>
                      </a:srgbClr>
                    </a:gs>
                  </a:gsLst>
                  <a:lin ang="0"/>
                </a:gradFill>
                <a:latin typeface="Poppins Bold"/>
                <a:ea typeface="Poppins Bold"/>
                <a:cs typeface="Poppins Bold"/>
                <a:sym typeface="Poppins Bold"/>
              </a:rPr>
              <a:t>Shows the change in net profit margin over the years</a:t>
            </a:r>
          </a:p>
          <a:p>
            <a:pPr algn="l">
              <a:lnSpc>
                <a:spcPts val="1310"/>
              </a:lnSpc>
            </a:pPr>
            <a:endParaRPr lang="en-US" sz="1759" b="1">
              <a:gradFill>
                <a:gsLst>
                  <a:gs pos="0">
                    <a:srgbClr val="8C52FF">
                      <a:alpha val="100000"/>
                    </a:srgbClr>
                  </a:gs>
                  <a:gs pos="100000">
                    <a:srgbClr val="FF914D">
                      <a:alpha val="100000"/>
                    </a:srgbClr>
                  </a:gs>
                </a:gsLst>
                <a:lin ang="0"/>
              </a:gradFill>
              <a:latin typeface="Poppins Bold"/>
              <a:ea typeface="Poppins Bold"/>
              <a:cs typeface="Poppins Bold"/>
              <a:sym typeface="Poppins Bold"/>
            </a:endParaRPr>
          </a:p>
          <a:p>
            <a:pPr algn="l">
              <a:lnSpc>
                <a:spcPts val="1553"/>
              </a:lnSpc>
            </a:pPr>
            <a:r>
              <a:rPr lang="en-US" sz="1706" b="1">
                <a:gradFill>
                  <a:gsLst>
                    <a:gs pos="0">
                      <a:srgbClr val="FFF7AD">
                        <a:alpha val="100000"/>
                      </a:srgbClr>
                    </a:gs>
                    <a:gs pos="100000">
                      <a:srgbClr val="FFA9F9">
                        <a:alpha val="100000"/>
                      </a:srgbClr>
                    </a:gs>
                  </a:gsLst>
                  <a:lin ang="0"/>
                </a:gradFill>
                <a:latin typeface="Poppins Bold"/>
                <a:ea typeface="Poppins Bold"/>
                <a:cs typeface="Poppins Bold"/>
                <a:sym typeface="Poppins Bold"/>
              </a:rPr>
              <a:t>The profit margin has been decreasing since 2015, indicating higher costs or lower prices. The company should review strategies to improve efficiency and reduce costs.</a:t>
            </a:r>
          </a:p>
          <a:p>
            <a:pPr algn="l">
              <a:lnSpc>
                <a:spcPts val="1553"/>
              </a:lnSpc>
            </a:pPr>
            <a:endParaRPr lang="en-US" sz="1706" b="1">
              <a:gradFill>
                <a:gsLst>
                  <a:gs pos="0">
                    <a:srgbClr val="FFF7AD">
                      <a:alpha val="100000"/>
                    </a:srgbClr>
                  </a:gs>
                  <a:gs pos="100000">
                    <a:srgbClr val="FFA9F9">
                      <a:alpha val="100000"/>
                    </a:srgbClr>
                  </a:gs>
                </a:gsLst>
                <a:lin ang="0"/>
              </a:gra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pic>
        <p:nvPicPr>
          <p:cNvPr id="13" name="Picture 12" descr="A bar graph with text&#10;&#10;AI-generated content may be incorrect.">
            <a:extLst>
              <a:ext uri="{FF2B5EF4-FFF2-40B4-BE49-F238E27FC236}">
                <a16:creationId xmlns:a16="http://schemas.microsoft.com/office/drawing/2014/main" id="{0E0F0284-9F53-AC11-5B66-8B67F93825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6817" y="1178322"/>
            <a:ext cx="3791479" cy="1971950"/>
          </a:xfrm>
          <a:prstGeom prst="rect">
            <a:avLst/>
          </a:prstGeom>
        </p:spPr>
      </p:pic>
      <p:pic>
        <p:nvPicPr>
          <p:cNvPr id="15" name="Picture 14" descr="A graph with a line going up&#10;&#10;AI-generated content may be incorrect.">
            <a:extLst>
              <a:ext uri="{FF2B5EF4-FFF2-40B4-BE49-F238E27FC236}">
                <a16:creationId xmlns:a16="http://schemas.microsoft.com/office/drawing/2014/main" id="{EC85E3CC-40F0-042A-74A1-4A2B4C335E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261" y="4042483"/>
            <a:ext cx="4363059" cy="194337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6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7072150" y="524795"/>
            <a:ext cx="2578435" cy="2220215"/>
            <a:chOff x="0" y="0"/>
            <a:chExt cx="969625" cy="83491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969625" cy="834915"/>
            </a:xfrm>
            <a:custGeom>
              <a:avLst/>
              <a:gdLst/>
              <a:ahLst/>
              <a:cxnLst/>
              <a:rect l="l" t="t" r="r" b="b"/>
              <a:pathLst>
                <a:path w="969625" h="834915">
                  <a:moveTo>
                    <a:pt x="969625" y="0"/>
                  </a:moveTo>
                  <a:lnTo>
                    <a:pt x="0" y="0"/>
                  </a:lnTo>
                  <a:lnTo>
                    <a:pt x="0" y="646955"/>
                  </a:lnTo>
                  <a:lnTo>
                    <a:pt x="157480" y="646955"/>
                  </a:lnTo>
                  <a:lnTo>
                    <a:pt x="157480" y="834915"/>
                  </a:lnTo>
                  <a:lnTo>
                    <a:pt x="463550" y="646955"/>
                  </a:lnTo>
                  <a:lnTo>
                    <a:pt x="969625" y="646955"/>
                  </a:lnTo>
                  <a:lnTo>
                    <a:pt x="969625" y="0"/>
                  </a:lnTo>
                  <a:close/>
                </a:path>
              </a:pathLst>
            </a:custGeom>
            <a:solidFill>
              <a:srgbClr val="B4B4B4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28575"/>
              <a:ext cx="969625" cy="672990"/>
            </a:xfrm>
            <a:prstGeom prst="rect">
              <a:avLst/>
            </a:prstGeom>
          </p:spPr>
          <p:txBody>
            <a:bodyPr lIns="31608" tIns="31608" rIns="31608" bIns="31608" rtlCol="0" anchor="ctr"/>
            <a:lstStyle/>
            <a:p>
              <a:pPr algn="ctr">
                <a:lnSpc>
                  <a:spcPts val="2129"/>
                </a:lnSpc>
              </a:pPr>
              <a:r>
                <a:rPr lang="en-US" sz="1650" spc="-90">
                  <a:solidFill>
                    <a:srgbClr val="000000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Shows the hierarchy of net sales from product departments down to sub-departments and individual orders.</a:t>
              </a:r>
            </a:p>
            <a:p>
              <a:pPr algn="ctr">
                <a:lnSpc>
                  <a:spcPts val="2129"/>
                </a:lnSpc>
              </a:pPr>
              <a:endParaRPr lang="en-US" sz="1650" spc="-90">
                <a:solidFill>
                  <a:srgbClr val="000000"/>
                </a:solidFill>
                <a:latin typeface="Public Sans"/>
                <a:ea typeface="Public Sans"/>
                <a:cs typeface="Public Sans"/>
                <a:sym typeface="Public Sans"/>
              </a:endParaRPr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423858" y="859364"/>
            <a:ext cx="6335395" cy="14434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3"/>
              </a:lnSpc>
              <a:spcBef>
                <a:spcPct val="0"/>
              </a:spcBef>
            </a:pPr>
            <a:r>
              <a:rPr lang="en-US" sz="2741" spc="-95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FF914D">
                        <a:alpha val="100000"/>
                      </a:srgbClr>
                    </a:gs>
                  </a:gsLst>
                  <a:lin ang="0"/>
                </a:gradFill>
                <a:latin typeface="Public Sans"/>
                <a:ea typeface="Public Sans"/>
                <a:cs typeface="Public Sans"/>
                <a:sym typeface="Public Sans"/>
              </a:rPr>
              <a:t>Fan Shop is the top contributor to net sales, led by Field &amp; Stream Sports and order 27536, highlighting the key revenue drivers.</a:t>
            </a:r>
          </a:p>
        </p:txBody>
      </p:sp>
      <p:sp>
        <p:nvSpPr>
          <p:cNvPr id="7" name="AutoShape 7"/>
          <p:cNvSpPr/>
          <p:nvPr/>
        </p:nvSpPr>
        <p:spPr>
          <a:xfrm>
            <a:off x="4497128" y="2041231"/>
            <a:ext cx="1466703" cy="709934"/>
          </a:xfrm>
          <a:prstGeom prst="line">
            <a:avLst/>
          </a:prstGeom>
          <a:ln w="19050" cap="flat">
            <a:gradFill>
              <a:gsLst>
                <a:gs pos="0">
                  <a:srgbClr val="FFF7AD">
                    <a:alpha val="100000"/>
                  </a:srgbClr>
                </a:gs>
                <a:gs pos="100000">
                  <a:srgbClr val="FFA9F9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7BB6C9B-2883-0E94-2432-C5ABD39BF2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276600"/>
            <a:ext cx="8354591" cy="287695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6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7315072" y="3264771"/>
            <a:ext cx="608799" cy="532699"/>
            <a:chOff x="0" y="0"/>
            <a:chExt cx="812800" cy="7112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711200"/>
                  </a:moveTo>
                  <a:lnTo>
                    <a:pt x="812800" y="0"/>
                  </a:lnTo>
                  <a:lnTo>
                    <a:pt x="0" y="0"/>
                  </a:lnTo>
                  <a:lnTo>
                    <a:pt x="406400" y="711200"/>
                  </a:lnTo>
                  <a:close/>
                </a:path>
              </a:pathLst>
            </a:custGeom>
            <a:solidFill>
              <a:srgbClr val="B4B4B4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127000" y="31750"/>
              <a:ext cx="558800" cy="349250"/>
            </a:xfrm>
            <a:prstGeom prst="rect">
              <a:avLst/>
            </a:prstGeom>
          </p:spPr>
          <p:txBody>
            <a:bodyPr lIns="30921" tIns="30921" rIns="30921" bIns="30921" rtlCol="0" anchor="ctr"/>
            <a:lstStyle/>
            <a:p>
              <a:pPr algn="ctr">
                <a:lnSpc>
                  <a:spcPts val="1141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892411" y="937365"/>
            <a:ext cx="622289" cy="483731"/>
            <a:chOff x="0" y="0"/>
            <a:chExt cx="416399" cy="32368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16399" cy="323684"/>
            </a:xfrm>
            <a:custGeom>
              <a:avLst/>
              <a:gdLst/>
              <a:ahLst/>
              <a:cxnLst/>
              <a:rect l="l" t="t" r="r" b="b"/>
              <a:pathLst>
                <a:path w="416399" h="323684">
                  <a:moveTo>
                    <a:pt x="208199" y="0"/>
                  </a:moveTo>
                  <a:lnTo>
                    <a:pt x="416399" y="323684"/>
                  </a:lnTo>
                  <a:lnTo>
                    <a:pt x="0" y="323684"/>
                  </a:lnTo>
                  <a:lnTo>
                    <a:pt x="208199" y="0"/>
                  </a:lnTo>
                  <a:close/>
                </a:path>
              </a:pathLst>
            </a:custGeom>
            <a:solidFill>
              <a:srgbClr val="B4B4B4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65062" y="131232"/>
              <a:ext cx="286274" cy="169332"/>
            </a:xfrm>
            <a:prstGeom prst="rect">
              <a:avLst/>
            </a:prstGeom>
          </p:spPr>
          <p:txBody>
            <a:bodyPr lIns="30921" tIns="30921" rIns="30921" bIns="30921" rtlCol="0" anchor="ctr"/>
            <a:lstStyle/>
            <a:p>
              <a:pPr algn="ctr">
                <a:lnSpc>
                  <a:spcPts val="1141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482568" y="353971"/>
            <a:ext cx="4254608" cy="554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1"/>
              </a:lnSpc>
              <a:spcBef>
                <a:spcPct val="0"/>
              </a:spcBef>
            </a:pPr>
            <a:r>
              <a:rPr lang="en-US" sz="1675" spc="-92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Apparel has the highest storage cost (~$23,400).</a:t>
            </a:r>
          </a:p>
          <a:p>
            <a:pPr algn="ctr">
              <a:lnSpc>
                <a:spcPts val="2161"/>
              </a:lnSpc>
              <a:spcBef>
                <a:spcPct val="0"/>
              </a:spcBef>
            </a:pPr>
            <a:r>
              <a:rPr lang="en-US" sz="1675" spc="-92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Health &amp; Beauty has the lowest cost (~$3.4).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1794741" y="4992662"/>
            <a:ext cx="622289" cy="544503"/>
            <a:chOff x="0" y="0"/>
            <a:chExt cx="812800" cy="711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711200"/>
                  </a:moveTo>
                  <a:lnTo>
                    <a:pt x="812800" y="0"/>
                  </a:lnTo>
                  <a:lnTo>
                    <a:pt x="0" y="0"/>
                  </a:lnTo>
                  <a:lnTo>
                    <a:pt x="406400" y="711200"/>
                  </a:lnTo>
                  <a:close/>
                </a:path>
              </a:pathLst>
            </a:custGeom>
            <a:solidFill>
              <a:srgbClr val="B4B4B4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27000" y="31750"/>
              <a:ext cx="558800" cy="349250"/>
            </a:xfrm>
            <a:prstGeom prst="rect">
              <a:avLst/>
            </a:prstGeom>
          </p:spPr>
          <p:txBody>
            <a:bodyPr lIns="30921" tIns="30921" rIns="30921" bIns="30921" rtlCol="0" anchor="ctr"/>
            <a:lstStyle/>
            <a:p>
              <a:pPr algn="ctr">
                <a:lnSpc>
                  <a:spcPts val="1141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398021" y="5518116"/>
            <a:ext cx="3291803" cy="15348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3"/>
              </a:lnSpc>
              <a:spcBef>
                <a:spcPct val="0"/>
              </a:spcBef>
            </a:pPr>
            <a:r>
              <a:rPr lang="en-US" sz="1615" spc="-88">
                <a:gradFill>
                  <a:gsLst>
                    <a:gs pos="0">
                      <a:srgbClr val="FFF7AD">
                        <a:alpha val="100000"/>
                      </a:srgbClr>
                    </a:gs>
                    <a:gs pos="100000">
                      <a:srgbClr val="FFA9F9">
                        <a:alpha val="100000"/>
                      </a:srgbClr>
                    </a:gs>
                  </a:gsLst>
                  <a:lin ang="0"/>
                </a:gradFill>
                <a:latin typeface="Public Sans"/>
                <a:ea typeface="Public Sans"/>
                <a:cs typeface="Public Sans"/>
                <a:sym typeface="Public Sans"/>
              </a:rPr>
              <a:t>Conclusion</a:t>
            </a:r>
          </a:p>
          <a:p>
            <a:pPr algn="ctr">
              <a:lnSpc>
                <a:spcPts val="2554"/>
              </a:lnSpc>
              <a:spcBef>
                <a:spcPct val="0"/>
              </a:spcBef>
            </a:pPr>
            <a:r>
              <a:rPr lang="en-US" sz="1980" spc="-108">
                <a:gradFill>
                  <a:gsLst>
                    <a:gs pos="0">
                      <a:srgbClr val="FFF7AD">
                        <a:alpha val="100000"/>
                      </a:srgbClr>
                    </a:gs>
                    <a:gs pos="100000">
                      <a:srgbClr val="FFA9F9">
                        <a:alpha val="100000"/>
                      </a:srgbClr>
                    </a:gs>
                  </a:gsLst>
                  <a:lin ang="0"/>
                </a:gradFill>
                <a:latin typeface="Public Sans"/>
                <a:ea typeface="Public Sans"/>
                <a:cs typeface="Public Sans"/>
                <a:sym typeface="Public Sans"/>
              </a:rPr>
              <a:t>The chart shows that storage cost is much higher in Apparel and very low in Health &amp; Beauty.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345072" y="3905399"/>
            <a:ext cx="4267765" cy="21599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1"/>
              </a:lnSpc>
              <a:spcBef>
                <a:spcPct val="0"/>
              </a:spcBef>
            </a:pPr>
            <a:r>
              <a:rPr lang="en-US" sz="2218" spc="-122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Fan Shop has the highest inventory cost per unit (183.54), while Footwear is the lowest (41.689). This helps identify departments with higher unit costs for better inventory management.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56C2683-8D92-D9EB-FA55-33AC751717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289" y="1848331"/>
            <a:ext cx="4334480" cy="243874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95740C1-0F42-DF27-1123-679E7552AA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3095" y="609908"/>
            <a:ext cx="4143953" cy="247684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6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/>
          <p:cNvSpPr/>
          <p:nvPr/>
        </p:nvSpPr>
        <p:spPr>
          <a:xfrm flipV="1">
            <a:off x="4881665" y="1923212"/>
            <a:ext cx="1307426" cy="713162"/>
          </a:xfrm>
          <a:prstGeom prst="line">
            <a:avLst/>
          </a:prstGeom>
          <a:ln w="19050" cap="flat">
            <a:solidFill>
              <a:srgbClr val="B4B4B4"/>
            </a:solidFill>
            <a:prstDash val="solid"/>
            <a:headEnd type="triangle" w="lg" len="med"/>
            <a:tailEnd type="triangle" w="lg" len="me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Box 5"/>
          <p:cNvSpPr txBox="1"/>
          <p:nvPr/>
        </p:nvSpPr>
        <p:spPr>
          <a:xfrm>
            <a:off x="822731" y="4349104"/>
            <a:ext cx="3654555" cy="4797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94"/>
              </a:lnSpc>
              <a:spcBef>
                <a:spcPct val="0"/>
              </a:spcBef>
            </a:pPr>
            <a:r>
              <a:rPr lang="en-US" sz="1468" spc="-80">
                <a:gradFill>
                  <a:gsLst>
                    <a:gs pos="0">
                      <a:srgbClr val="FFF7AD">
                        <a:alpha val="100000"/>
                      </a:srgbClr>
                    </a:gs>
                    <a:gs pos="100000">
                      <a:srgbClr val="FFA9F9">
                        <a:alpha val="100000"/>
                      </a:srgbClr>
                    </a:gs>
                  </a:gsLst>
                  <a:lin ang="0"/>
                </a:gradFill>
                <a:latin typeface="Public Sans"/>
                <a:ea typeface="Public Sans"/>
                <a:cs typeface="Public Sans"/>
                <a:sym typeface="Public Sans"/>
              </a:rPr>
              <a:t>Shows the number of orders for each product department over time.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10433" y="5140991"/>
            <a:ext cx="3766853" cy="809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9"/>
              </a:lnSpc>
              <a:spcBef>
                <a:spcPct val="0"/>
              </a:spcBef>
            </a:pPr>
            <a:r>
              <a:rPr lang="en-US" sz="1650" spc="-90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Some product departments receive more orders than others, highlighting the busiest categories.</a:t>
            </a:r>
          </a:p>
        </p:txBody>
      </p:sp>
      <p:sp>
        <p:nvSpPr>
          <p:cNvPr id="7" name="AutoShape 7"/>
          <p:cNvSpPr/>
          <p:nvPr/>
        </p:nvSpPr>
        <p:spPr>
          <a:xfrm flipV="1">
            <a:off x="4577922" y="4503358"/>
            <a:ext cx="41101" cy="952468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Box 8"/>
          <p:cNvSpPr txBox="1"/>
          <p:nvPr/>
        </p:nvSpPr>
        <p:spPr>
          <a:xfrm>
            <a:off x="6321321" y="1097842"/>
            <a:ext cx="3044651" cy="23869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19"/>
              </a:lnSpc>
              <a:spcBef>
                <a:spcPct val="0"/>
              </a:spcBef>
            </a:pPr>
            <a:r>
              <a:rPr lang="en-US" sz="2108" spc="-115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Warehouse inventory levels directly impact storage costs. Highlighting key product departments helps manage stock efficiently and reduce unnecessary expenses.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1EB3409-05A0-8161-D81C-0FBF1C6BD7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045" y="1097842"/>
            <a:ext cx="4315427" cy="255305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CDD0B33-9BBE-3D8B-E43D-6619E152E9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4579" y="3877493"/>
            <a:ext cx="4143953" cy="235300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6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297347" y="1164982"/>
            <a:ext cx="1957405" cy="2287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00"/>
              </a:lnSpc>
              <a:spcBef>
                <a:spcPct val="0"/>
              </a:spcBef>
            </a:pPr>
            <a:r>
              <a:rPr lang="en-US" sz="1395" spc="-76">
                <a:gradFill>
                  <a:gsLst>
                    <a:gs pos="0">
                      <a:srgbClr val="FFF7AD">
                        <a:alpha val="100000"/>
                      </a:srgbClr>
                    </a:gs>
                    <a:gs pos="100000">
                      <a:srgbClr val="FFA9F9">
                        <a:alpha val="100000"/>
                      </a:srgbClr>
                    </a:gs>
                  </a:gsLst>
                  <a:lin ang="0"/>
                </a:gradFill>
                <a:latin typeface="Public Sans"/>
                <a:ea typeface="Public Sans"/>
                <a:cs typeface="Public Sans"/>
                <a:sym typeface="Public Sans"/>
              </a:rPr>
              <a:t>Fan Shop: 3,037 orders were late, 3,991 orders were on time → most orders delivered on time, but significant delays exist.</a:t>
            </a:r>
          </a:p>
          <a:p>
            <a:pPr algn="ctr">
              <a:lnSpc>
                <a:spcPts val="1800"/>
              </a:lnSpc>
              <a:spcBef>
                <a:spcPct val="0"/>
              </a:spcBef>
            </a:pPr>
            <a:r>
              <a:rPr lang="en-US" sz="1395" spc="-76">
                <a:gradFill>
                  <a:gsLst>
                    <a:gs pos="0">
                      <a:srgbClr val="FFF7AD">
                        <a:alpha val="100000"/>
                      </a:srgbClr>
                    </a:gs>
                    <a:gs pos="100000">
                      <a:srgbClr val="FFA9F9">
                        <a:alpha val="100000"/>
                      </a:srgbClr>
                    </a:gs>
                  </a:gsLst>
                  <a:lin ang="0"/>
                </a:gradFill>
                <a:latin typeface="Public Sans"/>
                <a:ea typeface="Public Sans"/>
                <a:cs typeface="Public Sans"/>
                <a:sym typeface="Public Sans"/>
              </a:rPr>
              <a:t>Health &amp; Beauty: 6 orders were late, 12 orders were on time → very few orders overall, delays minimal.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724768" y="1267941"/>
            <a:ext cx="3107218" cy="20559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7"/>
              </a:lnSpc>
              <a:spcBef>
                <a:spcPct val="0"/>
              </a:spcBef>
            </a:pPr>
            <a:r>
              <a:rPr lang="en-US" sz="1789" spc="-98">
                <a:solidFill>
                  <a:srgbClr val="FFF7AD"/>
                </a:solidFill>
                <a:latin typeface="Public Sans"/>
                <a:ea typeface="Public Sans"/>
                <a:cs typeface="Public Sans"/>
                <a:sym typeface="Public Sans"/>
              </a:rPr>
              <a:t>Most departments deliver the majority of orders on time, but high-volume departments like Fan Shop still have a notable number of late shipments, highlighting areas for improvement in logistics.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4475957" y="5016552"/>
            <a:ext cx="801686" cy="598953"/>
            <a:chOff x="0" y="0"/>
            <a:chExt cx="395894" cy="29577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95894" cy="295779"/>
            </a:xfrm>
            <a:custGeom>
              <a:avLst/>
              <a:gdLst/>
              <a:ahLst/>
              <a:cxnLst/>
              <a:rect l="l" t="t" r="r" b="b"/>
              <a:pathLst>
                <a:path w="395894" h="295779">
                  <a:moveTo>
                    <a:pt x="197947" y="0"/>
                  </a:moveTo>
                  <a:lnTo>
                    <a:pt x="395894" y="147890"/>
                  </a:lnTo>
                  <a:lnTo>
                    <a:pt x="197947" y="295779"/>
                  </a:lnTo>
                  <a:lnTo>
                    <a:pt x="0" y="147890"/>
                  </a:lnTo>
                  <a:lnTo>
                    <a:pt x="197947" y="0"/>
                  </a:lnTo>
                  <a:close/>
                </a:path>
              </a:pathLst>
            </a:custGeom>
            <a:solidFill>
              <a:srgbClr val="B4B4B4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68044" y="41312"/>
              <a:ext cx="259806" cy="203630"/>
            </a:xfrm>
            <a:prstGeom prst="rect">
              <a:avLst/>
            </a:prstGeom>
          </p:spPr>
          <p:txBody>
            <a:bodyPr lIns="27093" tIns="27093" rIns="27093" bIns="27093" rtlCol="0" anchor="ctr"/>
            <a:lstStyle/>
            <a:p>
              <a:pPr algn="ctr">
                <a:lnSpc>
                  <a:spcPts val="99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4876800" y="4612382"/>
            <a:ext cx="3034525" cy="7036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55"/>
              </a:lnSpc>
              <a:spcBef>
                <a:spcPct val="0"/>
              </a:spcBef>
            </a:pPr>
            <a:r>
              <a:rPr lang="en-US" sz="1438" spc="-79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Late shipment rate decreased from 53% in January 2015 (Q1) to 39% in December 2017 (Q4)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910357" y="5340699"/>
            <a:ext cx="2739993" cy="876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7"/>
              </a:lnSpc>
              <a:spcBef>
                <a:spcPct val="0"/>
              </a:spcBef>
            </a:pPr>
            <a:r>
              <a:rPr lang="en-US" sz="1788" spc="-98">
                <a:gradFill>
                  <a:gsLst>
                    <a:gs pos="0">
                      <a:srgbClr val="FFF7AD">
                        <a:alpha val="100000"/>
                      </a:srgbClr>
                    </a:gs>
                    <a:gs pos="100000">
                      <a:srgbClr val="FFA9F9">
                        <a:alpha val="100000"/>
                      </a:srgbClr>
                    </a:gs>
                  </a:gsLst>
                  <a:lin ang="0"/>
                </a:gradFill>
                <a:latin typeface="Public Sans"/>
                <a:ea typeface="Public Sans"/>
                <a:cs typeface="Public Sans"/>
                <a:sym typeface="Public Sans"/>
              </a:rPr>
              <a:t>indicating improvement in delivery performance over time.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8798817-EE40-D575-61F9-385C0E3473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3644" y="485332"/>
            <a:ext cx="3829584" cy="317226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2083AB9-498C-BB0B-C0A6-FBAB2A6BAE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951" y="3883464"/>
            <a:ext cx="4648849" cy="279121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6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7475485" y="4486342"/>
            <a:ext cx="371874" cy="784896"/>
            <a:chOff x="0" y="0"/>
            <a:chExt cx="365911" cy="77230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65911" cy="772308"/>
            </a:xfrm>
            <a:custGeom>
              <a:avLst/>
              <a:gdLst/>
              <a:ahLst/>
              <a:cxnLst/>
              <a:rect l="l" t="t" r="r" b="b"/>
              <a:pathLst>
                <a:path w="365911" h="772308">
                  <a:moveTo>
                    <a:pt x="0" y="499258"/>
                  </a:moveTo>
                  <a:lnTo>
                    <a:pt x="182955" y="772308"/>
                  </a:lnTo>
                  <a:lnTo>
                    <a:pt x="365911" y="499258"/>
                  </a:lnTo>
                  <a:lnTo>
                    <a:pt x="232561" y="499258"/>
                  </a:lnTo>
                  <a:lnTo>
                    <a:pt x="232561" y="273050"/>
                  </a:lnTo>
                  <a:lnTo>
                    <a:pt x="365911" y="273050"/>
                  </a:lnTo>
                  <a:lnTo>
                    <a:pt x="182955" y="0"/>
                  </a:lnTo>
                  <a:lnTo>
                    <a:pt x="0" y="273050"/>
                  </a:lnTo>
                  <a:lnTo>
                    <a:pt x="133350" y="273050"/>
                  </a:lnTo>
                  <a:lnTo>
                    <a:pt x="133350" y="499258"/>
                  </a:lnTo>
                  <a:lnTo>
                    <a:pt x="0" y="499258"/>
                  </a:lnTo>
                  <a:close/>
                </a:path>
              </a:pathLst>
            </a:custGeom>
            <a:solidFill>
              <a:srgbClr val="B4B4B4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139700" y="92075"/>
              <a:ext cx="86511" cy="578633"/>
            </a:xfrm>
            <a:prstGeom prst="rect">
              <a:avLst/>
            </a:prstGeom>
          </p:spPr>
          <p:txBody>
            <a:bodyPr lIns="31955" tIns="31955" rIns="31955" bIns="31955" rtlCol="0" anchor="ctr"/>
            <a:lstStyle/>
            <a:p>
              <a:pPr algn="ctr">
                <a:lnSpc>
                  <a:spcPts val="1179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5136895" y="5339376"/>
            <a:ext cx="4399874" cy="16236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spcBef>
                <a:spcPct val="0"/>
              </a:spcBef>
            </a:pPr>
            <a:r>
              <a:rPr lang="en-US" sz="1983" spc="-109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Technology has the highest late shipment rate (51%), while Health &amp; Beauty has the lowest (33%)</a:t>
            </a:r>
          </a:p>
          <a:p>
            <a:pPr algn="ctr">
              <a:lnSpc>
                <a:spcPts val="2558"/>
              </a:lnSpc>
              <a:spcBef>
                <a:spcPct val="0"/>
              </a:spcBef>
            </a:pPr>
            <a:r>
              <a:rPr lang="en-US" sz="1983" spc="-109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 showing which departments face more delivery delays.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2390408" y="3829697"/>
            <a:ext cx="318560" cy="805691"/>
            <a:chOff x="0" y="0"/>
            <a:chExt cx="321371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21371" cy="812800"/>
            </a:xfrm>
            <a:custGeom>
              <a:avLst/>
              <a:gdLst/>
              <a:ahLst/>
              <a:cxnLst/>
              <a:rect l="l" t="t" r="r" b="b"/>
              <a:pathLst>
                <a:path w="321371" h="812800">
                  <a:moveTo>
                    <a:pt x="0" y="539750"/>
                  </a:moveTo>
                  <a:lnTo>
                    <a:pt x="160686" y="812800"/>
                  </a:lnTo>
                  <a:lnTo>
                    <a:pt x="321371" y="539750"/>
                  </a:lnTo>
                  <a:lnTo>
                    <a:pt x="188021" y="539750"/>
                  </a:lnTo>
                  <a:lnTo>
                    <a:pt x="188021" y="273050"/>
                  </a:lnTo>
                  <a:lnTo>
                    <a:pt x="321371" y="273050"/>
                  </a:lnTo>
                  <a:lnTo>
                    <a:pt x="160686" y="0"/>
                  </a:lnTo>
                  <a:lnTo>
                    <a:pt x="0" y="273050"/>
                  </a:lnTo>
                  <a:lnTo>
                    <a:pt x="133350" y="273050"/>
                  </a:lnTo>
                  <a:lnTo>
                    <a:pt x="133350" y="539750"/>
                  </a:lnTo>
                  <a:lnTo>
                    <a:pt x="0" y="539750"/>
                  </a:lnTo>
                  <a:close/>
                </a:path>
              </a:pathLst>
            </a:custGeom>
            <a:solidFill>
              <a:srgbClr val="B4B4B4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9700" y="92075"/>
              <a:ext cx="41971" cy="619125"/>
            </a:xfrm>
            <a:prstGeom prst="rect">
              <a:avLst/>
            </a:prstGeom>
          </p:spPr>
          <p:txBody>
            <a:bodyPr lIns="31955" tIns="31955" rIns="31955" bIns="31955" rtlCol="0" anchor="ctr"/>
            <a:lstStyle/>
            <a:p>
              <a:pPr algn="ctr">
                <a:lnSpc>
                  <a:spcPts val="1179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437672" y="4748153"/>
            <a:ext cx="4733972" cy="1455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83"/>
              </a:lnSpc>
              <a:spcBef>
                <a:spcPct val="0"/>
              </a:spcBef>
            </a:pPr>
            <a:r>
              <a:rPr lang="en-US" sz="2235" spc="-122" dirty="0">
                <a:solidFill>
                  <a:srgbClr val="AA92AE"/>
                </a:solidFill>
                <a:latin typeface="Public Sans"/>
                <a:ea typeface="Public Sans"/>
                <a:cs typeface="Public Sans"/>
                <a:sym typeface="Public Sans"/>
              </a:rPr>
              <a:t>One country has the highest number of late shipments (29) indicating it faces the most delivery delays and may need focus to improve logistics.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17C5B6F-67EE-F170-2EA6-E477EE0727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8118" y="675551"/>
            <a:ext cx="4677428" cy="302937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A875BED-1EEB-6823-4E14-4A75AB75CB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594" y="970480"/>
            <a:ext cx="3648584" cy="262926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6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 rot="562796">
            <a:off x="6480435" y="1389955"/>
            <a:ext cx="3130277" cy="2214073"/>
            <a:chOff x="0" y="0"/>
            <a:chExt cx="1204079" cy="85165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204079" cy="851656"/>
            </a:xfrm>
            <a:custGeom>
              <a:avLst/>
              <a:gdLst/>
              <a:ahLst/>
              <a:cxnLst/>
              <a:rect l="l" t="t" r="r" b="b"/>
              <a:pathLst>
                <a:path w="1204079" h="851656">
                  <a:moveTo>
                    <a:pt x="785690" y="0"/>
                  </a:moveTo>
                  <a:lnTo>
                    <a:pt x="418357" y="0"/>
                  </a:lnTo>
                  <a:cubicBezTo>
                    <a:pt x="187287" y="0"/>
                    <a:pt x="0" y="147905"/>
                    <a:pt x="0" y="330353"/>
                  </a:cubicBezTo>
                  <a:cubicBezTo>
                    <a:pt x="0" y="462434"/>
                    <a:pt x="98185" y="576364"/>
                    <a:pt x="240041" y="629223"/>
                  </a:cubicBezTo>
                  <a:lnTo>
                    <a:pt x="240041" y="851656"/>
                  </a:lnTo>
                  <a:lnTo>
                    <a:pt x="524183" y="660695"/>
                  </a:lnTo>
                  <a:lnTo>
                    <a:pt x="785690" y="660695"/>
                  </a:lnTo>
                  <a:cubicBezTo>
                    <a:pt x="1016775" y="660695"/>
                    <a:pt x="1204079" y="512790"/>
                    <a:pt x="1204079" y="330341"/>
                  </a:cubicBezTo>
                  <a:cubicBezTo>
                    <a:pt x="1204090" y="147905"/>
                    <a:pt x="1016775" y="0"/>
                    <a:pt x="785690" y="0"/>
                  </a:cubicBezTo>
                  <a:close/>
                </a:path>
              </a:pathLst>
            </a:custGeom>
            <a:solidFill>
              <a:srgbClr val="BEC0C5"/>
            </a:solidFill>
          </p:spPr>
          <p:txBody>
            <a:bodyPr/>
            <a:lstStyle/>
            <a:p>
              <a:endParaRPr lang="en-GB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17049"/>
              <a:ext cx="1204079" cy="606484"/>
            </a:xfrm>
            <a:prstGeom prst="rect">
              <a:avLst/>
            </a:prstGeom>
          </p:spPr>
          <p:txBody>
            <a:bodyPr lIns="30243" tIns="30243" rIns="30243" bIns="30243" rtlCol="0" anchor="ctr"/>
            <a:lstStyle/>
            <a:p>
              <a:pPr algn="ctr">
                <a:lnSpc>
                  <a:spcPts val="2037"/>
                </a:lnSpc>
              </a:pPr>
              <a:r>
                <a:rPr lang="en-US" sz="1579" spc="-86">
                  <a:solidFill>
                    <a:srgbClr val="002649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Fan Shop has the highest order volume and revenue, while Outdoor shows fewer orders but a higher profit margin.</a:t>
              </a:r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861687" y="534081"/>
            <a:ext cx="2922618" cy="2008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87"/>
              </a:lnSpc>
              <a:spcBef>
                <a:spcPct val="0"/>
              </a:spcBef>
            </a:pPr>
            <a:r>
              <a:rPr lang="en-US" sz="1773" spc="-97">
                <a:solidFill>
                  <a:srgbClr val="D9D9D9"/>
                </a:solidFill>
                <a:latin typeface="Public Sans"/>
                <a:ea typeface="Public Sans"/>
                <a:cs typeface="Public Sans"/>
                <a:sym typeface="Public Sans"/>
              </a:rPr>
              <a:t>Number of orders and order quantity fluctuated over time, with the highest activity in January 2015 and lower activity in December 2017, indicating seasonal or temporal trends in orders.</a:t>
            </a:r>
          </a:p>
        </p:txBody>
      </p:sp>
      <p:sp>
        <p:nvSpPr>
          <p:cNvPr id="8" name="AutoShape 8"/>
          <p:cNvSpPr/>
          <p:nvPr/>
        </p:nvSpPr>
        <p:spPr>
          <a:xfrm>
            <a:off x="1172777" y="2630759"/>
            <a:ext cx="736361" cy="1122481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A745D68-8F9A-ABE1-0B4C-1C681887E2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876" y="3841905"/>
            <a:ext cx="3772426" cy="266737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B84537F-D021-EE6C-6D3D-68F57972A2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0" y="4008615"/>
            <a:ext cx="3753374" cy="233395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6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5801684" y="1572379"/>
            <a:ext cx="3811876" cy="1307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61"/>
              </a:lnSpc>
              <a:spcBef>
                <a:spcPct val="0"/>
              </a:spcBef>
            </a:pPr>
            <a:r>
              <a:rPr lang="en-US" sz="1597" spc="-87">
                <a:solidFill>
                  <a:srgbClr val="D9D9D9"/>
                </a:solidFill>
                <a:latin typeface="Public Sans"/>
                <a:ea typeface="Public Sans"/>
                <a:cs typeface="Public Sans"/>
                <a:sym typeface="Public Sans"/>
              </a:rPr>
              <a:t>Fan Shop has the highest number of orders and strong profitability, while Health &amp; Beauty has very few orders with a lower profit margin, highlighting the contrast in performance across product categories.</a:t>
            </a:r>
          </a:p>
        </p:txBody>
      </p:sp>
      <p:sp>
        <p:nvSpPr>
          <p:cNvPr id="5" name="AutoShape 5"/>
          <p:cNvSpPr/>
          <p:nvPr/>
        </p:nvSpPr>
        <p:spPr>
          <a:xfrm>
            <a:off x="4813864" y="2674704"/>
            <a:ext cx="1696014" cy="204944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Box 6"/>
          <p:cNvSpPr txBox="1"/>
          <p:nvPr/>
        </p:nvSpPr>
        <p:spPr>
          <a:xfrm>
            <a:off x="5675235" y="4755313"/>
            <a:ext cx="4064776" cy="10968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spcBef>
                <a:spcPct val="0"/>
              </a:spcBef>
            </a:pPr>
            <a:r>
              <a:rPr lang="en-US" sz="1704" spc="-93">
                <a:solidFill>
                  <a:srgbClr val="E0BFD8"/>
                </a:solidFill>
                <a:latin typeface="Public Sans"/>
                <a:ea typeface="Public Sans"/>
                <a:cs typeface="Public Sans"/>
                <a:sym typeface="Public Sans"/>
              </a:rPr>
              <a:t>One country has the highest number of orders (32), highlighting the region with the most customer activity and potential focus for logistics or marketing efforts.</a:t>
            </a:r>
          </a:p>
        </p:txBody>
      </p:sp>
      <p:sp>
        <p:nvSpPr>
          <p:cNvPr id="7" name="AutoShape 7"/>
          <p:cNvSpPr/>
          <p:nvPr/>
        </p:nvSpPr>
        <p:spPr>
          <a:xfrm flipV="1">
            <a:off x="5024689" y="4679755"/>
            <a:ext cx="1233182" cy="308092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82A1D65-A9FA-92AD-20E8-8A53C478DB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918" y="925670"/>
            <a:ext cx="4591691" cy="260068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84CB6CE-A03C-C56B-0D41-62BAB9DDE7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953" y="3854214"/>
            <a:ext cx="4525006" cy="226726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6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ADF940C-674C-27A2-BC4A-1A127B8712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61012"/>
            <a:ext cx="9753600" cy="599317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6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A4E4CE3-E8A8-6F0D-9B83-694681C964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4882"/>
            <a:ext cx="9753600" cy="610543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6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F02D6D6-1186-8C36-B8F6-84C21BC480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1984"/>
            <a:ext cx="9753600" cy="601123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6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E16D13F-A918-EAC3-B3D8-A9DB0B2D14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0074"/>
            <a:ext cx="9753600" cy="607505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6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8061B93-054F-BF58-C022-A94BD65FFB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5284"/>
            <a:ext cx="9753600" cy="6064631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5E979-090B-E08D-D9E8-097572D1C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D6B2F586-01D8-C19D-CB67-FF472C571BB1}"/>
              </a:ext>
            </a:extLst>
          </p:cNvPr>
          <p:cNvSpPr/>
          <p:nvPr/>
        </p:nvSpPr>
        <p:spPr>
          <a:xfrm>
            <a:off x="0" y="0"/>
            <a:ext cx="9753600" cy="7315200"/>
          </a:xfrm>
          <a:custGeom>
            <a:avLst/>
            <a:gdLst/>
            <a:ahLst/>
            <a:cxnLst/>
            <a:rect l="l" t="t" r="r" b="b"/>
            <a:pathLst>
              <a:path w="9753600" h="7315200">
                <a:moveTo>
                  <a:pt x="0" y="0"/>
                </a:moveTo>
                <a:lnTo>
                  <a:pt x="9753600" y="0"/>
                </a:lnTo>
                <a:lnTo>
                  <a:pt x="9753600" y="7315200"/>
                </a:lnTo>
                <a:lnTo>
                  <a:pt x="0" y="73152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851" r="-10851"/>
            </a:stretch>
          </a:blipFill>
        </p:spPr>
        <p:txBody>
          <a:bodyPr/>
          <a:lstStyle/>
          <a:p>
            <a:pPr marL="0" marR="0" lvl="0" indent="0" defTabSz="914400" rtl="0" eaLnBrk="1" fontAlgn="auto" latinLnBrk="0" hangingPunct="1">
              <a:lnSpc>
                <a:spcPts val="1040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200" b="1" dirty="0">
                <a:gradFill>
                  <a:gsLst>
                    <a:gs pos="0">
                      <a:srgbClr val="5170FF">
                        <a:alpha val="100000"/>
                      </a:srgbClr>
                    </a:gs>
                    <a:gs pos="100000">
                      <a:srgbClr val="FF66C4">
                        <a:alpha val="100000"/>
                      </a:srgbClr>
                    </a:gs>
                  </a:gsLst>
                  <a:lin ang="0"/>
                </a:gradFill>
                <a:latin typeface="Poppins Bold"/>
                <a:ea typeface="Poppins Bold"/>
                <a:cs typeface="Poppins Bold"/>
                <a:sym typeface="Poppins Bold"/>
              </a:rPr>
              <a:t>Conclusion</a:t>
            </a:r>
          </a:p>
          <a:p>
            <a:pPr marL="0" marR="0" lvl="0" indent="0" defTabSz="914400" rtl="0" eaLnBrk="1" fontAlgn="auto" latinLnBrk="0" hangingPunct="1">
              <a:lnSpc>
                <a:spcPts val="1040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1" i="0" u="none" strike="noStrike" kern="1200" cap="none" spc="0" normalizeH="0" baseline="0" noProof="0" dirty="0">
              <a:ln>
                <a:noFill/>
              </a:ln>
              <a:gradFill>
                <a:gsLst>
                  <a:gs pos="0">
                    <a:srgbClr val="5170FF">
                      <a:alpha val="100000"/>
                    </a:srgbClr>
                  </a:gs>
                  <a:gs pos="100000">
                    <a:srgbClr val="FF66C4">
                      <a:alpha val="100000"/>
                    </a:srgbClr>
                  </a:gs>
                </a:gsLst>
                <a:lin ang="0"/>
              </a:gradFill>
              <a:effectLst/>
              <a:uLnTx/>
              <a:uFillTx/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DDD4E7-BFB6-C33F-BE7F-045B49E154FF}"/>
              </a:ext>
            </a:extLst>
          </p:cNvPr>
          <p:cNvSpPr txBox="1"/>
          <p:nvPr/>
        </p:nvSpPr>
        <p:spPr>
          <a:xfrm>
            <a:off x="228600" y="1371600"/>
            <a:ext cx="8458200" cy="5584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Strong past performance with high profit margin (71%), but recent sales and profit dropped sharply due to fewer orders.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Decline is revenue-driven, not cost-related.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Loss of best-selling products (Apparel, Fan shop, Footwear, Golf) is the main driver of the downturn.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Customer demand stayed stable, so the issue likely comes from supply disruptions or a product strategy shift.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Best-selling items also had the longest replenishment times, worsening stock availability.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Shipping delays are widespread, even for fast-ship orders.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High late-shipment rate (~56%) across products and regions signals major supply chain inefficiencies.</a:t>
            </a:r>
            <a:endParaRPr lang="en-GB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77045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6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459004" y="914400"/>
            <a:ext cx="4294596" cy="5486400"/>
            <a:chOff x="0" y="0"/>
            <a:chExt cx="9707887" cy="1240194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707887" cy="12401948"/>
            </a:xfrm>
            <a:custGeom>
              <a:avLst/>
              <a:gdLst/>
              <a:ahLst/>
              <a:cxnLst/>
              <a:rect l="l" t="t" r="r" b="b"/>
              <a:pathLst>
                <a:path w="9707887" h="12401948">
                  <a:moveTo>
                    <a:pt x="0" y="0"/>
                  </a:moveTo>
                  <a:lnTo>
                    <a:pt x="9707887" y="0"/>
                  </a:lnTo>
                  <a:lnTo>
                    <a:pt x="9707887" y="12401948"/>
                  </a:lnTo>
                  <a:lnTo>
                    <a:pt x="0" y="12401948"/>
                  </a:lnTo>
                  <a:close/>
                </a:path>
              </a:pathLst>
            </a:custGeom>
            <a:blipFill>
              <a:blip r:embed="rId2"/>
              <a:stretch>
                <a:fillRect l="-32135" r="-59851"/>
              </a:stretch>
            </a:blipFill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4" name="Freeform 4"/>
          <p:cNvSpPr/>
          <p:nvPr/>
        </p:nvSpPr>
        <p:spPr>
          <a:xfrm>
            <a:off x="283506" y="1149956"/>
            <a:ext cx="265134" cy="178845"/>
          </a:xfrm>
          <a:custGeom>
            <a:avLst/>
            <a:gdLst/>
            <a:ahLst/>
            <a:cxnLst/>
            <a:rect l="l" t="t" r="r" b="b"/>
            <a:pathLst>
              <a:path w="265134" h="178845">
                <a:moveTo>
                  <a:pt x="0" y="0"/>
                </a:moveTo>
                <a:lnTo>
                  <a:pt x="265134" y="0"/>
                </a:lnTo>
                <a:lnTo>
                  <a:pt x="265134" y="178845"/>
                </a:lnTo>
                <a:lnTo>
                  <a:pt x="0" y="17884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5" name="Freeform 5"/>
          <p:cNvSpPr/>
          <p:nvPr/>
        </p:nvSpPr>
        <p:spPr>
          <a:xfrm>
            <a:off x="548640" y="2892722"/>
            <a:ext cx="246479" cy="246479"/>
          </a:xfrm>
          <a:custGeom>
            <a:avLst/>
            <a:gdLst/>
            <a:ahLst/>
            <a:cxnLst/>
            <a:rect l="l" t="t" r="r" b="b"/>
            <a:pathLst>
              <a:path w="246479" h="246479">
                <a:moveTo>
                  <a:pt x="0" y="0"/>
                </a:moveTo>
                <a:lnTo>
                  <a:pt x="246479" y="0"/>
                </a:lnTo>
                <a:lnTo>
                  <a:pt x="246479" y="246479"/>
                </a:lnTo>
                <a:lnTo>
                  <a:pt x="0" y="24647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Box 6"/>
          <p:cNvSpPr txBox="1"/>
          <p:nvPr/>
        </p:nvSpPr>
        <p:spPr>
          <a:xfrm>
            <a:off x="283506" y="1776340"/>
            <a:ext cx="4453586" cy="6152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05"/>
              </a:lnSpc>
            </a:pPr>
            <a:r>
              <a:rPr lang="en-US" sz="4041" b="1">
                <a:gradFill>
                  <a:gsLst>
                    <a:gs pos="0">
                      <a:srgbClr val="5170FF">
                        <a:alpha val="100000"/>
                      </a:srgbClr>
                    </a:gs>
                    <a:gs pos="100000">
                      <a:srgbClr val="FF66C4">
                        <a:alpha val="100000"/>
                      </a:srgbClr>
                    </a:gs>
                  </a:gsLst>
                  <a:lin ang="0"/>
                </a:gradFill>
                <a:latin typeface="Poppins Bold"/>
                <a:ea typeface="Poppins Bold"/>
                <a:cs typeface="Poppins Bold"/>
                <a:sym typeface="Poppins Bold"/>
              </a:rPr>
              <a:t>Reach Out To Us!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52309" y="1505750"/>
            <a:ext cx="656447" cy="102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761"/>
              </a:lnSpc>
              <a:spcBef>
                <a:spcPct val="0"/>
              </a:spcBef>
            </a:pPr>
            <a:r>
              <a:rPr lang="en-US" sz="738" b="1" spc="-25">
                <a:solidFill>
                  <a:srgbClr val="002649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Salford &amp; Co.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570592" y="1542938"/>
            <a:ext cx="451953" cy="122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999"/>
              </a:lnSpc>
              <a:spcBef>
                <a:spcPct val="0"/>
              </a:spcBef>
            </a:pPr>
            <a:r>
              <a:rPr lang="en-US" sz="775" u="none" strike="noStrike" spc="-42" dirty="0">
                <a:solidFill>
                  <a:srgbClr val="002649"/>
                </a:solidFill>
                <a:latin typeface="Public Sans"/>
                <a:ea typeface="Public Sans"/>
                <a:cs typeface="Public Sans"/>
                <a:sym typeface="Public Sans"/>
              </a:rPr>
              <a:t>HOME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159488" y="1542938"/>
            <a:ext cx="451953" cy="122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999"/>
              </a:lnSpc>
              <a:spcBef>
                <a:spcPct val="0"/>
              </a:spcBef>
            </a:pPr>
            <a:r>
              <a:rPr lang="en-US" sz="775" u="none" strike="noStrike" spc="-42">
                <a:solidFill>
                  <a:srgbClr val="002649"/>
                </a:solidFill>
                <a:latin typeface="Public Sans"/>
                <a:ea typeface="Public Sans"/>
                <a:cs typeface="Public Sans"/>
                <a:sym typeface="Public Sans"/>
              </a:rPr>
              <a:t>SERVICE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748601" y="1542938"/>
            <a:ext cx="589725" cy="122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999"/>
              </a:lnSpc>
              <a:spcBef>
                <a:spcPct val="0"/>
              </a:spcBef>
            </a:pPr>
            <a:r>
              <a:rPr lang="en-US" sz="775" u="none" strike="noStrike" spc="-42">
                <a:solidFill>
                  <a:srgbClr val="002649"/>
                </a:solidFill>
                <a:latin typeface="Public Sans"/>
                <a:ea typeface="Public Sans"/>
                <a:cs typeface="Public Sans"/>
                <a:sym typeface="Public Sans"/>
              </a:rPr>
              <a:t>ABOUT US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492771" y="1542938"/>
            <a:ext cx="712189" cy="122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999"/>
              </a:lnSpc>
              <a:spcBef>
                <a:spcPct val="0"/>
              </a:spcBef>
            </a:pPr>
            <a:r>
              <a:rPr lang="en-US" sz="775" u="none" strike="noStrike" spc="-42">
                <a:solidFill>
                  <a:srgbClr val="002649"/>
                </a:solidFill>
                <a:latin typeface="Public Sans"/>
                <a:ea typeface="Public Sans"/>
                <a:cs typeface="Public Sans"/>
                <a:sym typeface="Public Sans"/>
              </a:rPr>
              <a:t>CONTACT US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36811" y="3897131"/>
            <a:ext cx="1322794" cy="3104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45"/>
              </a:lnSpc>
              <a:spcBef>
                <a:spcPct val="0"/>
              </a:spcBef>
            </a:pPr>
            <a:r>
              <a:rPr lang="en-US" sz="2180" u="sng" spc="-76">
                <a:solidFill>
                  <a:srgbClr val="D9D9D9"/>
                </a:solidFill>
                <a:latin typeface="Public Sans"/>
                <a:ea typeface="Public Sans"/>
                <a:cs typeface="Public Sans"/>
                <a:sym typeface="Public Sans"/>
                <a:hlinkClick r:id="rId7" tooltip="https://www.linkedin.com/in/mohamed-samir-587224107?utm_source=share&amp;utm_campaign=share_via&amp;utm_content=profile&amp;utm_medium=android_app"/>
              </a:rPr>
              <a:t>Mohamed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79879" y="3399945"/>
            <a:ext cx="911111" cy="3104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45"/>
              </a:lnSpc>
              <a:spcBef>
                <a:spcPct val="0"/>
              </a:spcBef>
            </a:pPr>
            <a:r>
              <a:rPr lang="en-US" sz="2180" u="sng" spc="-76">
                <a:solidFill>
                  <a:srgbClr val="D9D9D9"/>
                </a:solidFill>
                <a:latin typeface="Public Sans"/>
                <a:ea typeface="Public Sans"/>
                <a:cs typeface="Public Sans"/>
                <a:sym typeface="Public Sans"/>
                <a:hlinkClick r:id="rId8" tooltip="https://www.linkedin.com/in/osama-hamza96?utm_source=share&amp;utm_campaign=share_via&amp;utm_content=profile&amp;utm_medium=android_app"/>
              </a:rPr>
              <a:t>Osama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08217" y="2870239"/>
            <a:ext cx="1166252" cy="3104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45"/>
              </a:lnSpc>
              <a:spcBef>
                <a:spcPct val="0"/>
              </a:spcBef>
            </a:pPr>
            <a:r>
              <a:rPr lang="en-US" sz="2180" u="sng" spc="-76">
                <a:solidFill>
                  <a:srgbClr val="D9D9D9"/>
                </a:solidFill>
                <a:latin typeface="Public Sans"/>
                <a:ea typeface="Public Sans"/>
                <a:cs typeface="Public Sans"/>
                <a:sym typeface="Public Sans"/>
                <a:hlinkClick r:id="rId9" tooltip="https://www.linkedin.com/in/nermin-reda-97798524a?utm_source=share&amp;utm_campaign=share_via&amp;utm_content=profile&amp;utm_medium=android_app"/>
              </a:rPr>
              <a:t>Nermin</a:t>
            </a:r>
            <a:r>
              <a:rPr lang="en-US" sz="2180" u="sng" strike="noStrike" spc="-76">
                <a:solidFill>
                  <a:srgbClr val="D9D9D9"/>
                </a:solidFill>
                <a:latin typeface="Public Sans"/>
                <a:ea typeface="Public Sans"/>
                <a:cs typeface="Public Sans"/>
                <a:sym typeface="Public Sans"/>
                <a:hlinkClick r:id="rId9" tooltip="https://www.linkedin.com/in/nermin-reda-97798524a?utm_source=share&amp;utm_campaign=share_via&amp;utm_content=profile&amp;utm_medium=android_app"/>
              </a:rPr>
              <a:t> 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77176" y="5307408"/>
            <a:ext cx="1263159" cy="3104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45"/>
              </a:lnSpc>
              <a:spcBef>
                <a:spcPct val="0"/>
              </a:spcBef>
            </a:pPr>
            <a:r>
              <a:rPr lang="en-US" sz="2180" u="sng" spc="-76">
                <a:solidFill>
                  <a:srgbClr val="D9D9D9"/>
                </a:solidFill>
                <a:latin typeface="Public Sans"/>
                <a:ea typeface="Public Sans"/>
                <a:cs typeface="Public Sans"/>
                <a:sym typeface="Public Sans"/>
                <a:hlinkClick r:id="rId10" tooltip="https://www.linkedin.com/in/mostafa-waleed-269806230?utm_source=share&amp;utm_campaign=share_via&amp;utm_content=profile&amp;utm_medium=android_app"/>
              </a:rPr>
              <a:t>Mostafa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36811" y="4353676"/>
            <a:ext cx="1263159" cy="3104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45"/>
              </a:lnSpc>
              <a:spcBef>
                <a:spcPct val="0"/>
              </a:spcBef>
            </a:pPr>
            <a:r>
              <a:rPr lang="en-US" sz="2180" u="sng" spc="-76">
                <a:solidFill>
                  <a:srgbClr val="D9D9D9"/>
                </a:solidFill>
                <a:latin typeface="Public Sans"/>
                <a:ea typeface="Public Sans"/>
                <a:cs typeface="Public Sans"/>
                <a:sym typeface="Public Sans"/>
                <a:hlinkClick r:id="rId11" tooltip="https://www.linkedin.com/in/haytham-abubakr-5532b9b7?utm_source=share_via&amp;utm_content=profile&amp;utm_medium=member_android"/>
              </a:rPr>
              <a:t>Haytham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08217" y="4830542"/>
            <a:ext cx="1054437" cy="3104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45"/>
              </a:lnSpc>
              <a:spcBef>
                <a:spcPct val="0"/>
              </a:spcBef>
            </a:pPr>
            <a:r>
              <a:rPr lang="en-US" sz="2180" u="sng" spc="-76">
                <a:solidFill>
                  <a:srgbClr val="D9D9D9"/>
                </a:solidFill>
                <a:latin typeface="Public Sans"/>
                <a:ea typeface="Public Sans"/>
                <a:cs typeface="Public Sans"/>
                <a:sym typeface="Public Sans"/>
                <a:hlinkClick r:id="rId12" tooltip="https://www.linkedin.com/in/marwa-hegazy?utm_source=share_via&amp;utm_content=profile&amp;utm_medium=member_android"/>
              </a:rPr>
              <a:t>Marwa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28651" y="5773479"/>
            <a:ext cx="925384" cy="3505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2574"/>
              </a:lnSpc>
              <a:spcBef>
                <a:spcPct val="0"/>
              </a:spcBef>
            </a:pPr>
            <a:r>
              <a:rPr lang="en-US" sz="2499" u="sng" spc="-87">
                <a:solidFill>
                  <a:srgbClr val="D9D9D9"/>
                </a:solidFill>
                <a:latin typeface="Public Sans"/>
                <a:ea typeface="Public Sans"/>
                <a:cs typeface="Public Sans"/>
                <a:sym typeface="Public Sans"/>
                <a:hlinkClick r:id="rId13" tooltip="http://www.linkedin.com/in/esraa-ahmed-046b44175"/>
              </a:rPr>
              <a:t>Esraa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9753600" cy="7315200"/>
          </a:xfrm>
          <a:custGeom>
            <a:avLst/>
            <a:gdLst/>
            <a:ahLst/>
            <a:cxnLst/>
            <a:rect l="l" t="t" r="r" b="b"/>
            <a:pathLst>
              <a:path w="9753600" h="7315200">
                <a:moveTo>
                  <a:pt x="0" y="0"/>
                </a:moveTo>
                <a:lnTo>
                  <a:pt x="9753600" y="0"/>
                </a:lnTo>
                <a:lnTo>
                  <a:pt x="9753600" y="7315200"/>
                </a:lnTo>
                <a:lnTo>
                  <a:pt x="0" y="73152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851" r="-10851"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3" name="Freeform 3"/>
          <p:cNvSpPr/>
          <p:nvPr/>
        </p:nvSpPr>
        <p:spPr>
          <a:xfrm>
            <a:off x="548640" y="462915"/>
            <a:ext cx="297118" cy="200420"/>
          </a:xfrm>
          <a:custGeom>
            <a:avLst/>
            <a:gdLst/>
            <a:ahLst/>
            <a:cxnLst/>
            <a:rect l="l" t="t" r="r" b="b"/>
            <a:pathLst>
              <a:path w="297118" h="200420">
                <a:moveTo>
                  <a:pt x="0" y="0"/>
                </a:moveTo>
                <a:lnTo>
                  <a:pt x="297118" y="0"/>
                </a:lnTo>
                <a:lnTo>
                  <a:pt x="297118" y="200420"/>
                </a:lnTo>
                <a:lnTo>
                  <a:pt x="0" y="20042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GB"/>
          </a:p>
        </p:txBody>
      </p:sp>
      <p:sp>
        <p:nvSpPr>
          <p:cNvPr id="4" name="TextBox 4"/>
          <p:cNvSpPr txBox="1"/>
          <p:nvPr/>
        </p:nvSpPr>
        <p:spPr>
          <a:xfrm>
            <a:off x="607146" y="2030027"/>
            <a:ext cx="7141982" cy="1444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405"/>
              </a:lnSpc>
            </a:pPr>
            <a:r>
              <a:rPr lang="en-US" sz="9546" b="1" dirty="0">
                <a:gradFill>
                  <a:gsLst>
                    <a:gs pos="0">
                      <a:srgbClr val="5170FF">
                        <a:alpha val="100000"/>
                      </a:srgbClr>
                    </a:gs>
                    <a:gs pos="100000">
                      <a:srgbClr val="FF66C4">
                        <a:alpha val="100000"/>
                      </a:srgbClr>
                    </a:gs>
                  </a:gsLst>
                  <a:lin ang="0"/>
                </a:gradFill>
                <a:latin typeface="Poppins Bold"/>
                <a:ea typeface="Poppins Bold"/>
                <a:cs typeface="Poppins Bold"/>
                <a:sym typeface="Poppins Bold"/>
              </a:rPr>
              <a:t>Thank You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88941" y="500103"/>
            <a:ext cx="735636" cy="126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852"/>
              </a:lnSpc>
              <a:spcBef>
                <a:spcPct val="0"/>
              </a:spcBef>
            </a:pPr>
            <a:r>
              <a:rPr lang="en-US" sz="828" b="1" spc="-28">
                <a:solidFill>
                  <a:srgbClr val="002649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Salford &amp; Co.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912737" y="1174979"/>
            <a:ext cx="506473" cy="1457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1120"/>
              </a:lnSpc>
              <a:spcBef>
                <a:spcPct val="0"/>
              </a:spcBef>
            </a:pPr>
            <a:r>
              <a:rPr lang="en-US" sz="868" u="none" strike="noStrike" spc="-47">
                <a:solidFill>
                  <a:srgbClr val="002649"/>
                </a:solidFill>
                <a:latin typeface="Public Sans"/>
                <a:ea typeface="Public Sans"/>
                <a:cs typeface="Public Sans"/>
                <a:sym typeface="Public Sans"/>
              </a:rPr>
              <a:t>SERVICE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572916" y="1174979"/>
            <a:ext cx="660866" cy="1457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1120"/>
              </a:lnSpc>
              <a:spcBef>
                <a:spcPct val="0"/>
              </a:spcBef>
            </a:pPr>
            <a:r>
              <a:rPr lang="en-US" sz="868" u="none" strike="noStrike" spc="-47">
                <a:solidFill>
                  <a:srgbClr val="002649"/>
                </a:solidFill>
                <a:latin typeface="Public Sans"/>
                <a:ea typeface="Public Sans"/>
                <a:cs typeface="Public Sans"/>
                <a:sym typeface="Public Sans"/>
              </a:rPr>
              <a:t>ABOUT US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406857" y="1174979"/>
            <a:ext cx="798103" cy="1457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1120"/>
              </a:lnSpc>
              <a:spcBef>
                <a:spcPct val="0"/>
              </a:spcBef>
            </a:pPr>
            <a:r>
              <a:rPr lang="en-US" sz="868" u="none" strike="noStrike" spc="-47">
                <a:solidFill>
                  <a:srgbClr val="002649"/>
                </a:solidFill>
                <a:latin typeface="Public Sans"/>
                <a:ea typeface="Public Sans"/>
                <a:cs typeface="Public Sans"/>
                <a:sym typeface="Public Sans"/>
              </a:rPr>
              <a:t>CONTACT US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15974" y="3619791"/>
            <a:ext cx="5324326" cy="11914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616"/>
              </a:lnSpc>
              <a:spcBef>
                <a:spcPct val="0"/>
              </a:spcBef>
            </a:pPr>
            <a:r>
              <a:rPr lang="en-US" sz="4482" spc="-156">
                <a:solidFill>
                  <a:srgbClr val="D9D9D9"/>
                </a:solidFill>
                <a:latin typeface="Public Sans"/>
                <a:ea typeface="Public Sans"/>
                <a:cs typeface="Public Sans"/>
                <a:sym typeface="Public Sans"/>
              </a:rPr>
              <a:t>Grateful for your kind</a:t>
            </a:r>
            <a:r>
              <a:rPr lang="en-US" sz="4482" u="none" strike="noStrike" spc="-156">
                <a:solidFill>
                  <a:srgbClr val="D9D9D9"/>
                </a:solidFill>
                <a:latin typeface="Public Sans"/>
                <a:ea typeface="Public Sans"/>
                <a:cs typeface="Public Sans"/>
                <a:sym typeface="Public Sans"/>
              </a:rPr>
              <a:t> attention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1164</Words>
  <Application>Microsoft Office PowerPoint</Application>
  <PresentationFormat>Custom</PresentationFormat>
  <Paragraphs>163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2" baseType="lpstr">
      <vt:lpstr>Calibri</vt:lpstr>
      <vt:lpstr>Arial</vt:lpstr>
      <vt:lpstr>Public Sans Bold</vt:lpstr>
      <vt:lpstr>Poppins Bold</vt:lpstr>
      <vt:lpstr>Poppins</vt:lpstr>
      <vt:lpstr>Public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and Green Modern Logistic Company Presentation (عرض تقديمي (4:3))</dc:title>
  <cp:lastModifiedBy>Mohamed Samir Ahmed Bakheet</cp:lastModifiedBy>
  <cp:revision>3</cp:revision>
  <dcterms:created xsi:type="dcterms:W3CDTF">2006-08-16T00:00:00Z</dcterms:created>
  <dcterms:modified xsi:type="dcterms:W3CDTF">2025-12-05T23:31:55Z</dcterms:modified>
  <dc:identifier>DAG6cAcXH0Y</dc:identifier>
</cp:coreProperties>
</file>